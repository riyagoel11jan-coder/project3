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3"/>
    <p:sldId id="271" r:id="rId4"/>
    <p:sldId id="270" r:id="rId5"/>
    <p:sldId id="264" r:id="rId6"/>
    <p:sldId id="265" r:id="rId7"/>
    <p:sldId id="262" r:id="rId8"/>
    <p:sldId id="263" r:id="rId9"/>
    <p:sldId id="273" r:id="rId10"/>
    <p:sldId id="260" r:id="rId11"/>
    <p:sldId id="267" r:id="rId12"/>
    <p:sldId id="266"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58" d="100"/>
          <a:sy n="58" d="100"/>
        </p:scale>
        <p:origin x="1520" y="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tmp"/><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tmp"/><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5.tmp"/><Relationship Id="rId2" Type="http://schemas.openxmlformats.org/officeDocument/2006/relationships/image" Target="../media/image4.tmp"/><Relationship Id="rId1" Type="http://schemas.openxmlformats.org/officeDocument/2006/relationships/slideLayout" Target="../slideLayouts/slideLayout7.xml"/><Relationship Id="rId5" Type="http://schemas.openxmlformats.org/officeDocument/2006/relationships/image" Target="../media/image7.tmp"/><Relationship Id="rId4" Type="http://schemas.openxmlformats.org/officeDocument/2006/relationships/image" Target="../media/image6.tmp"/></Relationships>
</file>

<file path=ppt/slides/_rels/slide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Pipes over the sea">
            <a:extLst>
              <a:ext uri="{FF2B5EF4-FFF2-40B4-BE49-F238E27FC236}">
                <a16:creationId xmlns:a16="http://schemas.microsoft.com/office/drawing/2014/main" id="{C3EBB306-9C6A-5AFA-81D3-62C4F4DEDC6F}"/>
              </a:ext>
            </a:extLst>
          </p:cNvPr>
          <p:cNvPicPr>
            <a:picLocks noChangeAspect="1"/>
          </p:cNvPicPr>
          <p:nvPr/>
        </p:nvPicPr>
        <p:blipFill>
          <a:blip r:embed="rId2">
            <a:alphaModFix/>
          </a:blip>
          <a:srcRect/>
          <a:stretch>
            <a:fillRect/>
          </a:stretch>
        </p:blipFill>
        <p:spPr>
          <a:xfrm>
            <a:off x="14404" y="6057"/>
            <a:ext cx="9143979" cy="6857990"/>
          </a:xfrm>
          <a:prstGeom prst="rect">
            <a:avLst/>
          </a:prstGeom>
        </p:spPr>
      </p:pic>
      <p:sp>
        <p:nvSpPr>
          <p:cNvPr id="9" name="Rectangle 8">
            <a:extLst>
              <a:ext uri="{FF2B5EF4-FFF2-40B4-BE49-F238E27FC236}">
                <a16:creationId xmlns:a16="http://schemas.microsoft.com/office/drawing/2014/main" id="{EB0222B5-B739-82A9-5CCC-C5585AE12A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819465" y="-2819458"/>
            <a:ext cx="3512260" cy="9151192"/>
          </a:xfrm>
          <a:prstGeom prst="rect">
            <a:avLst/>
          </a:prstGeom>
          <a:gradFill flip="none" rotWithShape="1">
            <a:gsLst>
              <a:gs pos="10000">
                <a:srgbClr val="000000">
                  <a:alpha val="0"/>
                </a:srgbClr>
              </a:gs>
              <a:gs pos="66000">
                <a:srgbClr val="000000">
                  <a:alpha val="46000"/>
                </a:srgbClr>
              </a:gs>
              <a:gs pos="100000">
                <a:srgbClr val="000000">
                  <a:alpha val="60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0829" y="374267"/>
            <a:ext cx="9143958" cy="2122424"/>
          </a:xfrm>
        </p:spPr>
        <p:txBody>
          <a:bodyPr anchor="ctr">
            <a:normAutofit/>
          </a:bodyPr>
          <a:lstStyle/>
          <a:p>
            <a:pPr>
              <a:lnSpc>
                <a:spcPct val="150000"/>
              </a:lnSpc>
            </a:pPr>
            <a:r>
              <a:rPr lang="en-US" sz="4800" dirty="0">
                <a:solidFill>
                  <a:srgbClr val="FFFFFF"/>
                </a:solidFill>
              </a:rPr>
              <a:t>Industry Analytics &amp; Forecasting</a:t>
            </a:r>
            <a:br>
              <a:rPr lang="en-US" sz="4800" dirty="0">
                <a:solidFill>
                  <a:srgbClr val="FFFFFF"/>
                </a:solidFill>
              </a:rPr>
            </a:br>
            <a:r>
              <a:rPr lang="en-US" sz="2400" dirty="0">
                <a:solidFill>
                  <a:srgbClr val="FFFFFF"/>
                </a:solidFill>
              </a:rPr>
              <a:t>-By Riya Goel</a:t>
            </a:r>
            <a:endParaRPr lang="en-US" sz="4800" dirty="0">
              <a:solidFill>
                <a:srgbClr val="FFFFFF"/>
              </a:solidFill>
            </a:endParaRPr>
          </a:p>
        </p:txBody>
      </p:sp>
      <p:sp>
        <p:nvSpPr>
          <p:cNvPr id="11" name="Rectangle 10">
            <a:extLst>
              <a:ext uri="{FF2B5EF4-FFF2-40B4-BE49-F238E27FC236}">
                <a16:creationId xmlns:a16="http://schemas.microsoft.com/office/drawing/2014/main" id="{5BE23E75-E7E9-4D9F-6D25-5512363F8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355769" y="1075816"/>
            <a:ext cx="2425271" cy="9151191"/>
          </a:xfrm>
          <a:prstGeom prst="rect">
            <a:avLst/>
          </a:prstGeom>
          <a:gradFill flip="none" rotWithShape="1">
            <a:gsLst>
              <a:gs pos="10000">
                <a:srgbClr val="000000">
                  <a:alpha val="0"/>
                </a:srgbClr>
              </a:gs>
              <a:gs pos="66000">
                <a:srgbClr val="000000">
                  <a:alpha val="35000"/>
                </a:srgbClr>
              </a:gs>
              <a:gs pos="100000">
                <a:srgbClr val="000000">
                  <a:alpha val="4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p:cNvSpPr>
            <a:spLocks noGrp="1"/>
          </p:cNvSpPr>
          <p:nvPr>
            <p:ph type="subTitle" idx="1"/>
          </p:nvPr>
        </p:nvSpPr>
        <p:spPr>
          <a:xfrm>
            <a:off x="0" y="4021156"/>
            <a:ext cx="9143978" cy="2721167"/>
          </a:xfrm>
        </p:spPr>
        <p:txBody>
          <a:bodyPr anchor="ctr">
            <a:normAutofit fontScale="92500" lnSpcReduction="20000"/>
          </a:bodyPr>
          <a:lstStyle/>
          <a:p>
            <a:pPr algn="just"/>
            <a:r>
              <a:rPr lang="en-US" sz="2400" dirty="0">
                <a:solidFill>
                  <a:srgbClr val="FFFFFF"/>
                </a:solidFill>
                <a:latin typeface="Times New Roman" panose="02020603050405020304" pitchFamily="18" charset="0"/>
                <a:cs typeface="Times New Roman" panose="02020603050405020304" pitchFamily="18" charset="0"/>
              </a:rPr>
              <a:t>EDA, ML modeling, forecasting, clustering, and executive insights.</a:t>
            </a:r>
          </a:p>
          <a:p>
            <a:pPr algn="just"/>
            <a:r>
              <a:rPr lang="en-US" sz="2400" dirty="0">
                <a:solidFill>
                  <a:srgbClr val="FFFFFF"/>
                </a:solidFill>
                <a:latin typeface="Times New Roman" panose="02020603050405020304" pitchFamily="18" charset="0"/>
                <a:cs typeface="Times New Roman" panose="02020603050405020304" pitchFamily="18" charset="0"/>
              </a:rPr>
              <a:t>This project analyzes over 15,000 industrial business records across multiple sectors, countries, and operational regions to uncover actionable insights using data analytics, machine learning, forecasting, and clustering techniques. The project demonstrates how analytics can support strategic planning, operational optimization, and business forecasting. The system evaluates critical business metrics, including: Revenue performance, Profit margins, Employee productivity, Customer growth, Industry distribution, and Regional performance trends</a:t>
            </a:r>
          </a:p>
        </p:txBody>
      </p:sp>
      <p:cxnSp>
        <p:nvCxnSpPr>
          <p:cNvPr id="13" name="Straight Connector 12">
            <a:extLst>
              <a:ext uri="{FF2B5EF4-FFF2-40B4-BE49-F238E27FC236}">
                <a16:creationId xmlns:a16="http://schemas.microsoft.com/office/drawing/2014/main" id="{61B115DB-65EB-3FC3-7284-CFDF4ADC60B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8855" y="871146"/>
            <a:ext cx="552704"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E3596DD-156A-473E-9BB3-C6A29F7574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C46C4D6-C474-4E92-B52E-944C1118F7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4472088" cy="6858000"/>
          </a:xfrm>
          <a:custGeom>
            <a:avLst/>
            <a:gdLst>
              <a:gd name="connsiteX0" fmla="*/ 1044839 w 5962785"/>
              <a:gd name="connsiteY0" fmla="*/ 0 h 6858000"/>
              <a:gd name="connsiteX1" fmla="*/ 5962785 w 5962785"/>
              <a:gd name="connsiteY1" fmla="*/ 0 h 6858000"/>
              <a:gd name="connsiteX2" fmla="*/ 5962785 w 5962785"/>
              <a:gd name="connsiteY2" fmla="*/ 6858000 h 6858000"/>
              <a:gd name="connsiteX3" fmla="*/ 1469886 w 5962785"/>
              <a:gd name="connsiteY3" fmla="*/ 6858000 h 6858000"/>
              <a:gd name="connsiteX4" fmla="*/ 1416006 w 5962785"/>
              <a:gd name="connsiteY4" fmla="*/ 6823984 h 6858000"/>
              <a:gd name="connsiteX5" fmla="*/ 1232473 w 5962785"/>
              <a:gd name="connsiteY5" fmla="*/ 6733873 h 6858000"/>
              <a:gd name="connsiteX6" fmla="*/ 1075471 w 5962785"/>
              <a:gd name="connsiteY6" fmla="*/ 6503186 h 6858000"/>
              <a:gd name="connsiteX7" fmla="*/ 1020229 w 5962785"/>
              <a:gd name="connsiteY7" fmla="*/ 6438306 h 6858000"/>
              <a:gd name="connsiteX8" fmla="*/ 883579 w 5962785"/>
              <a:gd name="connsiteY8" fmla="*/ 6351798 h 6858000"/>
              <a:gd name="connsiteX9" fmla="*/ 645167 w 5962785"/>
              <a:gd name="connsiteY9" fmla="*/ 6167969 h 6858000"/>
              <a:gd name="connsiteX10" fmla="*/ 732391 w 5962785"/>
              <a:gd name="connsiteY10" fmla="*/ 6124716 h 6858000"/>
              <a:gd name="connsiteX11" fmla="*/ 985339 w 5962785"/>
              <a:gd name="connsiteY11" fmla="*/ 6236455 h 6858000"/>
              <a:gd name="connsiteX12" fmla="*/ 1168509 w 5962785"/>
              <a:gd name="connsiteY12" fmla="*/ 6265291 h 6858000"/>
              <a:gd name="connsiteX13" fmla="*/ 909746 w 5962785"/>
              <a:gd name="connsiteY13" fmla="*/ 6070649 h 6858000"/>
              <a:gd name="connsiteX14" fmla="*/ 659704 w 5962785"/>
              <a:gd name="connsiteY14" fmla="*/ 5818335 h 6858000"/>
              <a:gd name="connsiteX15" fmla="*/ 851597 w 5962785"/>
              <a:gd name="connsiteY15" fmla="*/ 5865193 h 6858000"/>
              <a:gd name="connsiteX16" fmla="*/ 860319 w 5962785"/>
              <a:gd name="connsiteY16" fmla="*/ 5832753 h 6858000"/>
              <a:gd name="connsiteX17" fmla="*/ 691686 w 5962785"/>
              <a:gd name="connsiteY17" fmla="*/ 5533581 h 6858000"/>
              <a:gd name="connsiteX18" fmla="*/ 610278 w 5962785"/>
              <a:gd name="connsiteY18" fmla="*/ 5411029 h 6858000"/>
              <a:gd name="connsiteX19" fmla="*/ 238123 w 5962785"/>
              <a:gd name="connsiteY19" fmla="*/ 5046976 h 6858000"/>
              <a:gd name="connsiteX20" fmla="*/ 592833 w 5962785"/>
              <a:gd name="connsiteY20" fmla="*/ 5209177 h 6858000"/>
              <a:gd name="connsiteX21" fmla="*/ 226494 w 5962785"/>
              <a:gd name="connsiteY21" fmla="*/ 4855939 h 6858000"/>
              <a:gd name="connsiteX22" fmla="*/ 49139 w 5962785"/>
              <a:gd name="connsiteY22" fmla="*/ 4726177 h 6858000"/>
              <a:gd name="connsiteX23" fmla="*/ 5527 w 5962785"/>
              <a:gd name="connsiteY23" fmla="*/ 4650483 h 6858000"/>
              <a:gd name="connsiteX24" fmla="*/ 84029 w 5962785"/>
              <a:gd name="connsiteY24" fmla="*/ 4632460 h 6858000"/>
              <a:gd name="connsiteX25" fmla="*/ 325347 w 5962785"/>
              <a:gd name="connsiteY25" fmla="*/ 4661296 h 6858000"/>
              <a:gd name="connsiteX26" fmla="*/ 25879 w 5962785"/>
              <a:gd name="connsiteY26" fmla="*/ 4423401 h 6858000"/>
              <a:gd name="connsiteX27" fmla="*/ 249753 w 5962785"/>
              <a:gd name="connsiteY27" fmla="*/ 4459446 h 6858000"/>
              <a:gd name="connsiteX28" fmla="*/ 313718 w 5962785"/>
              <a:gd name="connsiteY28" fmla="*/ 4365729 h 6858000"/>
              <a:gd name="connsiteX29" fmla="*/ 418386 w 5962785"/>
              <a:gd name="connsiteY29" fmla="*/ 4214341 h 6858000"/>
              <a:gd name="connsiteX30" fmla="*/ 491072 w 5962785"/>
              <a:gd name="connsiteY30" fmla="*/ 4131438 h 6858000"/>
              <a:gd name="connsiteX31" fmla="*/ 520147 w 5962785"/>
              <a:gd name="connsiteY31" fmla="*/ 3864706 h 6858000"/>
              <a:gd name="connsiteX32" fmla="*/ 459090 w 5962785"/>
              <a:gd name="connsiteY32" fmla="*/ 3572743 h 6858000"/>
              <a:gd name="connsiteX33" fmla="*/ 290458 w 5962785"/>
              <a:gd name="connsiteY33" fmla="*/ 3424959 h 6858000"/>
              <a:gd name="connsiteX34" fmla="*/ 339884 w 5962785"/>
              <a:gd name="connsiteY34" fmla="*/ 3259153 h 6858000"/>
              <a:gd name="connsiteX35" fmla="*/ 697501 w 5962785"/>
              <a:gd name="connsiteY35" fmla="*/ 3360078 h 6858000"/>
              <a:gd name="connsiteX36" fmla="*/ 165437 w 5962785"/>
              <a:gd name="connsiteY36" fmla="*/ 2967190 h 6858000"/>
              <a:gd name="connsiteX37" fmla="*/ 255568 w 5962785"/>
              <a:gd name="connsiteY37" fmla="*/ 2949167 h 6858000"/>
              <a:gd name="connsiteX38" fmla="*/ 578296 w 5962785"/>
              <a:gd name="connsiteY38" fmla="*/ 2725691 h 6858000"/>
              <a:gd name="connsiteX39" fmla="*/ 595740 w 5962785"/>
              <a:gd name="connsiteY39" fmla="*/ 2714876 h 6858000"/>
              <a:gd name="connsiteX40" fmla="*/ 650982 w 5962785"/>
              <a:gd name="connsiteY40" fmla="*/ 2574301 h 6858000"/>
              <a:gd name="connsiteX41" fmla="*/ 825429 w 5962785"/>
              <a:gd name="connsiteY41" fmla="*/ 2552674 h 6858000"/>
              <a:gd name="connsiteX42" fmla="*/ 970802 w 5962785"/>
              <a:gd name="connsiteY42" fmla="*/ 2585115 h 6858000"/>
              <a:gd name="connsiteX43" fmla="*/ 1127805 w 5962785"/>
              <a:gd name="connsiteY43" fmla="*/ 2545465 h 6858000"/>
              <a:gd name="connsiteX44" fmla="*/ 1267362 w 5962785"/>
              <a:gd name="connsiteY44" fmla="*/ 2563488 h 6858000"/>
              <a:gd name="connsiteX45" fmla="*/ 1386568 w 5962785"/>
              <a:gd name="connsiteY45" fmla="*/ 2538257 h 6858000"/>
              <a:gd name="connsiteX46" fmla="*/ 1270270 w 5962785"/>
              <a:gd name="connsiteY46" fmla="*/ 2419309 h 6858000"/>
              <a:gd name="connsiteX47" fmla="*/ 1107453 w 5962785"/>
              <a:gd name="connsiteY47" fmla="*/ 2419309 h 6858000"/>
              <a:gd name="connsiteX48" fmla="*/ 991154 w 5962785"/>
              <a:gd name="connsiteY48" fmla="*/ 2343615 h 6858000"/>
              <a:gd name="connsiteX49" fmla="*/ 880671 w 5962785"/>
              <a:gd name="connsiteY49" fmla="*/ 2206645 h 6858000"/>
              <a:gd name="connsiteX50" fmla="*/ 491072 w 5962785"/>
              <a:gd name="connsiteY50" fmla="*/ 1986771 h 6858000"/>
              <a:gd name="connsiteX51" fmla="*/ 421293 w 5962785"/>
              <a:gd name="connsiteY51" fmla="*/ 1903868 h 6858000"/>
              <a:gd name="connsiteX52" fmla="*/ 1531941 w 5962785"/>
              <a:gd name="connsiteY52" fmla="*/ 2224667 h 6858000"/>
              <a:gd name="connsiteX53" fmla="*/ 1188861 w 5962785"/>
              <a:gd name="connsiteY53" fmla="*/ 2091301 h 6858000"/>
              <a:gd name="connsiteX54" fmla="*/ 1421458 w 5962785"/>
              <a:gd name="connsiteY54" fmla="*/ 2116532 h 6858000"/>
              <a:gd name="connsiteX55" fmla="*/ 1549386 w 5962785"/>
              <a:gd name="connsiteY55" fmla="*/ 2026420 h 6858000"/>
              <a:gd name="connsiteX56" fmla="*/ 1549386 w 5962785"/>
              <a:gd name="connsiteY56" fmla="*/ 1997584 h 6858000"/>
              <a:gd name="connsiteX57" fmla="*/ 1453440 w 5962785"/>
              <a:gd name="connsiteY57" fmla="*/ 1914682 h 6858000"/>
              <a:gd name="connsiteX58" fmla="*/ 1398198 w 5962785"/>
              <a:gd name="connsiteY58" fmla="*/ 1860614 h 6858000"/>
              <a:gd name="connsiteX59" fmla="*/ 1247011 w 5962785"/>
              <a:gd name="connsiteY59" fmla="*/ 1665972 h 6858000"/>
              <a:gd name="connsiteX60" fmla="*/ 1354586 w 5962785"/>
              <a:gd name="connsiteY60" fmla="*/ 1644345 h 6858000"/>
              <a:gd name="connsiteX61" fmla="*/ 1395290 w 5962785"/>
              <a:gd name="connsiteY61" fmla="*/ 1604696 h 6858000"/>
              <a:gd name="connsiteX62" fmla="*/ 1366216 w 5962785"/>
              <a:gd name="connsiteY62" fmla="*/ 1547025 h 6858000"/>
              <a:gd name="connsiteX63" fmla="*/ 1031858 w 5962785"/>
              <a:gd name="connsiteY63" fmla="*/ 1370405 h 6858000"/>
              <a:gd name="connsiteX64" fmla="*/ 1005692 w 5962785"/>
              <a:gd name="connsiteY64" fmla="*/ 1233435 h 6858000"/>
              <a:gd name="connsiteX65" fmla="*/ 1069655 w 5962785"/>
              <a:gd name="connsiteY65" fmla="*/ 1211808 h 6858000"/>
              <a:gd name="connsiteX66" fmla="*/ 1142342 w 5962785"/>
              <a:gd name="connsiteY66" fmla="*/ 1222621 h 6858000"/>
              <a:gd name="connsiteX67" fmla="*/ 1084193 w 5962785"/>
              <a:gd name="connsiteY67" fmla="*/ 1114487 h 6858000"/>
              <a:gd name="connsiteX68" fmla="*/ 848689 w 5962785"/>
              <a:gd name="connsiteY68" fmla="*/ 1006353 h 6858000"/>
              <a:gd name="connsiteX69" fmla="*/ 805077 w 5962785"/>
              <a:gd name="connsiteY69" fmla="*/ 948681 h 6858000"/>
              <a:gd name="connsiteX70" fmla="*/ 863226 w 5962785"/>
              <a:gd name="connsiteY70" fmla="*/ 919844 h 6858000"/>
              <a:gd name="connsiteX71" fmla="*/ 906838 w 5962785"/>
              <a:gd name="connsiteY71" fmla="*/ 909031 h 6858000"/>
              <a:gd name="connsiteX72" fmla="*/ 5527 w 5962785"/>
              <a:gd name="connsiteY72" fmla="*/ 458471 h 6858000"/>
              <a:gd name="connsiteX73" fmla="*/ 209049 w 5962785"/>
              <a:gd name="connsiteY73" fmla="*/ 454867 h 6858000"/>
              <a:gd name="connsiteX74" fmla="*/ 409664 w 5962785"/>
              <a:gd name="connsiteY74" fmla="*/ 526956 h 6858000"/>
              <a:gd name="connsiteX75" fmla="*/ 621908 w 5962785"/>
              <a:gd name="connsiteY75" fmla="*/ 516143 h 6858000"/>
              <a:gd name="connsiteX76" fmla="*/ 822522 w 5962785"/>
              <a:gd name="connsiteY76" fmla="*/ 552188 h 6858000"/>
              <a:gd name="connsiteX77" fmla="*/ 996969 w 5962785"/>
              <a:gd name="connsiteY77" fmla="*/ 552188 h 6858000"/>
              <a:gd name="connsiteX78" fmla="*/ 834151 w 5962785"/>
              <a:gd name="connsiteY78" fmla="*/ 498120 h 6858000"/>
              <a:gd name="connsiteX79" fmla="*/ 773095 w 5962785"/>
              <a:gd name="connsiteY79" fmla="*/ 408008 h 6858000"/>
              <a:gd name="connsiteX80" fmla="*/ 793447 w 5962785"/>
              <a:gd name="connsiteY80" fmla="*/ 325106 h 6858000"/>
              <a:gd name="connsiteX81" fmla="*/ 860319 w 5962785"/>
              <a:gd name="connsiteY81" fmla="*/ 350336 h 6858000"/>
              <a:gd name="connsiteX82" fmla="*/ 938820 w 5962785"/>
              <a:gd name="connsiteY82" fmla="*/ 444054 h 6858000"/>
              <a:gd name="connsiteX83" fmla="*/ 956265 w 5962785"/>
              <a:gd name="connsiteY83" fmla="*/ 386381 h 6858000"/>
              <a:gd name="connsiteX84" fmla="*/ 1002784 w 5962785"/>
              <a:gd name="connsiteY84" fmla="*/ 343127 h 6858000"/>
              <a:gd name="connsiteX85" fmla="*/ 1270270 w 5962785"/>
              <a:gd name="connsiteY85" fmla="*/ 364755 h 6858000"/>
              <a:gd name="connsiteX86" fmla="*/ 1092915 w 5962785"/>
              <a:gd name="connsiteY86" fmla="*/ 180926 h 6858000"/>
              <a:gd name="connsiteX87" fmla="*/ 979525 w 5962785"/>
              <a:gd name="connsiteY87" fmla="*/ 152090 h 6858000"/>
              <a:gd name="connsiteX88" fmla="*/ 953358 w 5962785"/>
              <a:gd name="connsiteY88" fmla="*/ 76396 h 6858000"/>
              <a:gd name="connsiteX89" fmla="*/ 1005692 w 5962785"/>
              <a:gd name="connsiteY89" fmla="*/ 58373 h 6858000"/>
              <a:gd name="connsiteX90" fmla="*/ 1267362 w 5962785"/>
              <a:gd name="connsiteY90" fmla="*/ 123254 h 6858000"/>
              <a:gd name="connsiteX91" fmla="*/ 1310975 w 5962785"/>
              <a:gd name="connsiteY91" fmla="*/ 98023 h 6858000"/>
              <a:gd name="connsiteX92" fmla="*/ 1159787 w 5962785"/>
              <a:gd name="connsiteY92" fmla="*/ 4350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solidFill>
            <a:schemeClr val="bg2">
              <a:alpha val="50000"/>
            </a:schemeClr>
          </a:solidFill>
          <a:ln w="32707" cap="flat">
            <a:noFill/>
            <a:prstDash val="solid"/>
            <a:miter/>
          </a:ln>
        </p:spPr>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1F10C2C-E753-5524-5187-6880A2D00A18}"/>
              </a:ext>
            </a:extLst>
          </p:cNvPr>
          <p:cNvSpPr>
            <a:spLocks noGrp="1"/>
          </p:cNvSpPr>
          <p:nvPr>
            <p:ph type="title"/>
          </p:nvPr>
        </p:nvSpPr>
        <p:spPr>
          <a:xfrm>
            <a:off x="-1" y="0"/>
            <a:ext cx="9141713" cy="1230086"/>
          </a:xfrm>
        </p:spPr>
        <p:txBody>
          <a:bodyPr>
            <a:normAutofit/>
          </a:bodyPr>
          <a:lstStyle/>
          <a:p>
            <a:r>
              <a:rPr lang="en-IN" b="1" dirty="0">
                <a:latin typeface="Times New Roman" panose="02020603050405020304" pitchFamily="18" charset="0"/>
                <a:cs typeface="Times New Roman" panose="02020603050405020304" pitchFamily="18" charset="0"/>
              </a:rPr>
              <a:t>About The Project</a:t>
            </a:r>
          </a:p>
        </p:txBody>
      </p:sp>
      <p:sp>
        <p:nvSpPr>
          <p:cNvPr id="3" name="Content Placeholder 2">
            <a:extLst>
              <a:ext uri="{FF2B5EF4-FFF2-40B4-BE49-F238E27FC236}">
                <a16:creationId xmlns:a16="http://schemas.microsoft.com/office/drawing/2014/main" id="{A40F9A6B-2AD8-1107-4F0A-41BF72ADA345}"/>
              </a:ext>
            </a:extLst>
          </p:cNvPr>
          <p:cNvSpPr>
            <a:spLocks noGrp="1"/>
          </p:cNvSpPr>
          <p:nvPr>
            <p:ph idx="1"/>
          </p:nvPr>
        </p:nvSpPr>
        <p:spPr>
          <a:xfrm>
            <a:off x="-1" y="1230086"/>
            <a:ext cx="5100737" cy="5627915"/>
          </a:xfrm>
        </p:spPr>
        <p:txBody>
          <a:bodyPr>
            <a:noAutofit/>
          </a:bodyPr>
          <a:lstStyle/>
          <a:p>
            <a:pPr algn="just">
              <a:lnSpc>
                <a:spcPct val="90000"/>
              </a:lnSpc>
            </a:pPr>
            <a:r>
              <a:rPr lang="en-US" sz="1800" dirty="0">
                <a:latin typeface="Times New Roman" panose="02020603050405020304" pitchFamily="18" charset="0"/>
                <a:cs typeface="Times New Roman" panose="02020603050405020304" pitchFamily="18" charset="0"/>
              </a:rPr>
              <a:t>The project employs </a:t>
            </a:r>
            <a:r>
              <a:rPr lang="en-US" sz="1800" b="1" dirty="0">
                <a:solidFill>
                  <a:schemeClr val="accent2">
                    <a:lumMod val="75000"/>
                  </a:schemeClr>
                </a:solidFill>
                <a:latin typeface="Times New Roman" panose="02020603050405020304" pitchFamily="18" charset="0"/>
                <a:cs typeface="Times New Roman" panose="02020603050405020304" pitchFamily="18" charset="0"/>
              </a:rPr>
              <a:t>Python</a:t>
            </a:r>
            <a:r>
              <a:rPr lang="en-US" sz="1800" dirty="0">
                <a:latin typeface="Times New Roman" panose="02020603050405020304" pitchFamily="18" charset="0"/>
                <a:cs typeface="Times New Roman" panose="02020603050405020304" pitchFamily="18" charset="0"/>
              </a:rPr>
              <a:t> along with a range of robust libraries, such as </a:t>
            </a:r>
            <a:r>
              <a:rPr lang="en-US" sz="1800" b="1" dirty="0">
                <a:solidFill>
                  <a:schemeClr val="accent2">
                    <a:lumMod val="75000"/>
                  </a:schemeClr>
                </a:solidFill>
                <a:latin typeface="Times New Roman" panose="02020603050405020304" pitchFamily="18" charset="0"/>
                <a:cs typeface="Times New Roman" panose="02020603050405020304" pitchFamily="18" charset="0"/>
              </a:rPr>
              <a:t>Scrapy, Pandas, NumPy, Matplotlib, Seaborn</a:t>
            </a:r>
            <a:r>
              <a:rPr 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and</a:t>
            </a:r>
            <a:r>
              <a:rPr lang="en-US" sz="1800" b="1" dirty="0">
                <a:latin typeface="Times New Roman" panose="02020603050405020304" pitchFamily="18" charset="0"/>
                <a:cs typeface="Times New Roman" panose="02020603050405020304" pitchFamily="18" charset="0"/>
              </a:rPr>
              <a:t> </a:t>
            </a:r>
            <a:r>
              <a:rPr lang="en-US" sz="1800" b="1" dirty="0">
                <a:solidFill>
                  <a:schemeClr val="accent2">
                    <a:lumMod val="75000"/>
                  </a:schemeClr>
                </a:solidFill>
                <a:latin typeface="Times New Roman" panose="02020603050405020304" pitchFamily="18" charset="0"/>
                <a:cs typeface="Times New Roman" panose="02020603050405020304" pitchFamily="18" charset="0"/>
              </a:rPr>
              <a:t>Scikit-learn</a:t>
            </a:r>
            <a:r>
              <a:rPr lang="en-US" sz="1800" dirty="0">
                <a:latin typeface="Times New Roman" panose="02020603050405020304" pitchFamily="18" charset="0"/>
                <a:cs typeface="Times New Roman" panose="02020603050405020304" pitchFamily="18" charset="0"/>
              </a:rPr>
              <a:t>, to conduct a </a:t>
            </a:r>
            <a:r>
              <a:rPr lang="en-US" sz="1800" b="1" dirty="0">
                <a:solidFill>
                  <a:schemeClr val="accent2">
                    <a:lumMod val="75000"/>
                  </a:schemeClr>
                </a:solidFill>
                <a:latin typeface="Times New Roman" panose="02020603050405020304" pitchFamily="18" charset="0"/>
                <a:cs typeface="Times New Roman" panose="02020603050405020304" pitchFamily="18" charset="0"/>
              </a:rPr>
              <a:t>comprehensive analysis </a:t>
            </a:r>
            <a:r>
              <a:rPr lang="en-US" sz="1800" dirty="0">
                <a:latin typeface="Times New Roman" panose="02020603050405020304" pitchFamily="18" charset="0"/>
                <a:cs typeface="Times New Roman" panose="02020603050405020304" pitchFamily="18" charset="0"/>
              </a:rPr>
              <a:t>of data across various industries.</a:t>
            </a:r>
          </a:p>
          <a:p>
            <a:pPr algn="just">
              <a:lnSpc>
                <a:spcPct val="90000"/>
              </a:lnSpc>
            </a:pPr>
            <a:r>
              <a:rPr lang="en-US" sz="1800" dirty="0">
                <a:latin typeface="Times New Roman" panose="02020603050405020304" pitchFamily="18" charset="0"/>
                <a:cs typeface="Times New Roman" panose="02020603050405020304" pitchFamily="18" charset="0"/>
              </a:rPr>
              <a:t>Key statistical metrics, including the </a:t>
            </a:r>
            <a:r>
              <a:rPr lang="en-US" sz="1800" b="1" dirty="0">
                <a:solidFill>
                  <a:schemeClr val="accent2">
                    <a:lumMod val="75000"/>
                  </a:schemeClr>
                </a:solidFill>
                <a:latin typeface="Times New Roman" panose="02020603050405020304" pitchFamily="18" charset="0"/>
                <a:cs typeface="Times New Roman" panose="02020603050405020304" pitchFamily="18" charset="0"/>
              </a:rPr>
              <a:t>mean, median, and quantiles</a:t>
            </a:r>
            <a:r>
              <a:rPr lang="en-US" sz="1800" dirty="0">
                <a:latin typeface="Times New Roman" panose="02020603050405020304" pitchFamily="18" charset="0"/>
                <a:cs typeface="Times New Roman" panose="02020603050405020304" pitchFamily="18" charset="0"/>
              </a:rPr>
              <a:t>, are calculated to provide insights into dataset distribution and central tendencies. Diverse visual representations—such as </a:t>
            </a:r>
            <a:r>
              <a:rPr lang="en-US" sz="1800" b="1" dirty="0">
                <a:solidFill>
                  <a:schemeClr val="accent2">
                    <a:lumMod val="75000"/>
                  </a:schemeClr>
                </a:solidFill>
                <a:latin typeface="Times New Roman" panose="02020603050405020304" pitchFamily="18" charset="0"/>
                <a:cs typeface="Times New Roman" panose="02020603050405020304" pitchFamily="18" charset="0"/>
              </a:rPr>
              <a:t>bar charts, pie charts, heat maps, </a:t>
            </a:r>
            <a:r>
              <a:rPr lang="en-US" sz="1800" dirty="0">
                <a:latin typeface="Times New Roman" panose="02020603050405020304" pitchFamily="18" charset="0"/>
                <a:cs typeface="Times New Roman" panose="02020603050405020304" pitchFamily="18" charset="0"/>
              </a:rPr>
              <a:t>and</a:t>
            </a:r>
            <a:r>
              <a:rPr lang="en-US" sz="1800" b="1" dirty="0">
                <a:latin typeface="Times New Roman" panose="02020603050405020304" pitchFamily="18" charset="0"/>
                <a:cs typeface="Times New Roman" panose="02020603050405020304" pitchFamily="18" charset="0"/>
              </a:rPr>
              <a:t> </a:t>
            </a:r>
            <a:r>
              <a:rPr lang="en-US" sz="1800" b="1" dirty="0">
                <a:solidFill>
                  <a:schemeClr val="accent2">
                    <a:lumMod val="75000"/>
                  </a:schemeClr>
                </a:solidFill>
                <a:latin typeface="Times New Roman" panose="02020603050405020304" pitchFamily="18" charset="0"/>
                <a:cs typeface="Times New Roman" panose="02020603050405020304" pitchFamily="18" charset="0"/>
              </a:rPr>
              <a:t>scatter plots</a:t>
            </a:r>
            <a:r>
              <a:rPr lang="en-US" sz="1800" dirty="0">
                <a:latin typeface="Times New Roman" panose="02020603050405020304" pitchFamily="18" charset="0"/>
                <a:cs typeface="Times New Roman" panose="02020603050405020304" pitchFamily="18" charset="0"/>
              </a:rPr>
              <a:t>—enhance clarity and facilitate informed insights into industry trends.</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Exploratory Data Analysis (EDA) </a:t>
            </a:r>
            <a:r>
              <a:rPr lang="en-US" sz="1800" dirty="0">
                <a:latin typeface="Times New Roman" panose="02020603050405020304" pitchFamily="18" charset="0"/>
                <a:cs typeface="Times New Roman" panose="02020603050405020304" pitchFamily="18" charset="0"/>
              </a:rPr>
              <a:t>is performed to </a:t>
            </a:r>
            <a:r>
              <a:rPr lang="en-US" sz="1800" b="1" dirty="0">
                <a:solidFill>
                  <a:schemeClr val="accent2">
                    <a:lumMod val="75000"/>
                  </a:schemeClr>
                </a:solidFill>
                <a:latin typeface="Times New Roman" panose="02020603050405020304" pitchFamily="18" charset="0"/>
                <a:cs typeface="Times New Roman" panose="02020603050405020304" pitchFamily="18" charset="0"/>
              </a:rPr>
              <a:t>analyze data distributions, identify patterns, </a:t>
            </a:r>
            <a:r>
              <a:rPr lang="en-US" sz="1800" dirty="0">
                <a:latin typeface="Times New Roman" panose="02020603050405020304" pitchFamily="18" charset="0"/>
                <a:cs typeface="Times New Roman" panose="02020603050405020304" pitchFamily="18" charset="0"/>
              </a:rPr>
              <a:t>and</a:t>
            </a:r>
            <a:r>
              <a:rPr lang="en-US" sz="1800" b="1" dirty="0">
                <a:latin typeface="Times New Roman" panose="02020603050405020304" pitchFamily="18" charset="0"/>
                <a:cs typeface="Times New Roman" panose="02020603050405020304" pitchFamily="18" charset="0"/>
              </a:rPr>
              <a:t> </a:t>
            </a:r>
            <a:r>
              <a:rPr lang="en-US" sz="1800" b="1" dirty="0">
                <a:solidFill>
                  <a:schemeClr val="accent2">
                    <a:lumMod val="75000"/>
                  </a:schemeClr>
                </a:solidFill>
                <a:latin typeface="Times New Roman" panose="02020603050405020304" pitchFamily="18" charset="0"/>
                <a:cs typeface="Times New Roman" panose="02020603050405020304" pitchFamily="18" charset="0"/>
              </a:rPr>
              <a:t>uncover hidden business insights</a:t>
            </a:r>
            <a:r>
              <a:rPr lang="en-US" sz="1800" dirty="0">
                <a:latin typeface="Times New Roman" panose="02020603050405020304" pitchFamily="18" charset="0"/>
                <a:cs typeface="Times New Roman" panose="02020603050405020304" pitchFamily="18" charset="0"/>
              </a:rPr>
              <a:t>. Various visualizations, including </a:t>
            </a:r>
            <a:r>
              <a:rPr lang="en-US" sz="1800" b="1" dirty="0">
                <a:solidFill>
                  <a:schemeClr val="accent2">
                    <a:lumMod val="75000"/>
                  </a:schemeClr>
                </a:solidFill>
                <a:latin typeface="Times New Roman" panose="02020603050405020304" pitchFamily="18" charset="0"/>
                <a:cs typeface="Times New Roman" panose="02020603050405020304" pitchFamily="18" charset="0"/>
              </a:rPr>
              <a:t>histograms, box plots, heat maps,</a:t>
            </a:r>
            <a:r>
              <a:rPr 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and</a:t>
            </a:r>
            <a:r>
              <a:rPr lang="en-US" sz="1800" b="1" dirty="0">
                <a:latin typeface="Times New Roman" panose="02020603050405020304" pitchFamily="18" charset="0"/>
                <a:cs typeface="Times New Roman" panose="02020603050405020304" pitchFamily="18" charset="0"/>
              </a:rPr>
              <a:t> </a:t>
            </a:r>
            <a:r>
              <a:rPr lang="en-US" sz="1800" b="1" dirty="0">
                <a:solidFill>
                  <a:schemeClr val="accent2">
                    <a:lumMod val="75000"/>
                  </a:schemeClr>
                </a:solidFill>
                <a:latin typeface="Times New Roman" panose="02020603050405020304" pitchFamily="18" charset="0"/>
                <a:cs typeface="Times New Roman" panose="02020603050405020304" pitchFamily="18" charset="0"/>
              </a:rPr>
              <a:t>trend charts</a:t>
            </a:r>
            <a:r>
              <a:rPr lang="en-US" sz="1800" dirty="0">
                <a:latin typeface="Times New Roman" panose="02020603050405020304" pitchFamily="18" charset="0"/>
                <a:cs typeface="Times New Roman" panose="02020603050405020304" pitchFamily="18" charset="0"/>
              </a:rPr>
              <a:t>, reveal key findings, including uneven revenue distributions, regional business concentration, significant variability in profit margins, and operational outliers.</a:t>
            </a:r>
            <a:endParaRPr lang="en-IN"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FCC0903-9B36-15A9-BFB7-579296BFF944}"/>
              </a:ext>
            </a:extLst>
          </p:cNvPr>
          <p:cNvPicPr>
            <a:picLocks noChangeAspect="1"/>
          </p:cNvPicPr>
          <p:nvPr/>
        </p:nvPicPr>
        <p:blipFill>
          <a:blip r:embed="rId2"/>
          <a:srcRect r="56348" b="2"/>
          <a:stretch>
            <a:fillRect/>
          </a:stretch>
        </p:blipFill>
        <p:spPr>
          <a:xfrm>
            <a:off x="5100739" y="1230086"/>
            <a:ext cx="3560660" cy="5155865"/>
          </a:xfrm>
          <a:prstGeom prst="rect">
            <a:avLst/>
          </a:prstGeom>
        </p:spPr>
      </p:pic>
    </p:spTree>
    <p:extLst>
      <p:ext uri="{BB962C8B-B14F-4D97-AF65-F5344CB8AC3E}">
        <p14:creationId xmlns:p14="http://schemas.microsoft.com/office/powerpoint/2010/main" val="145846986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E91F5CA-B392-444C-88E3-BF5BAAEBDE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459807F-B6FA-44D3-9A53-C55B6B5688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080681"/>
            <a:ext cx="9144000" cy="2777318"/>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B7441E-CCFA-F46B-BB27-CC5C5D7C104B}"/>
              </a:ext>
            </a:extLst>
          </p:cNvPr>
          <p:cNvSpPr>
            <a:spLocks noGrp="1"/>
          </p:cNvSpPr>
          <p:nvPr>
            <p:ph type="title"/>
          </p:nvPr>
        </p:nvSpPr>
        <p:spPr>
          <a:xfrm>
            <a:off x="941295" y="5279511"/>
            <a:ext cx="7261411" cy="739880"/>
          </a:xfrm>
        </p:spPr>
        <p:txBody>
          <a:bodyPr vert="horz" lIns="91440" tIns="45720" rIns="91440" bIns="45720" rtlCol="0" anchor="b">
            <a:normAutofit/>
          </a:bodyPr>
          <a:lstStyle/>
          <a:p>
            <a:pPr defTabSz="914400">
              <a:lnSpc>
                <a:spcPct val="90000"/>
              </a:lnSpc>
            </a:pPr>
            <a:r>
              <a:rPr lang="en-US" sz="3100" dirty="0">
                <a:solidFill>
                  <a:schemeClr val="tx1">
                    <a:lumMod val="85000"/>
                    <a:lumOff val="15000"/>
                  </a:schemeClr>
                </a:solidFill>
              </a:rPr>
              <a:t>Results of Functions</a:t>
            </a:r>
          </a:p>
        </p:txBody>
      </p:sp>
      <p:pic>
        <p:nvPicPr>
          <p:cNvPr id="4" name="Picture 3">
            <a:extLst>
              <a:ext uri="{FF2B5EF4-FFF2-40B4-BE49-F238E27FC236}">
                <a16:creationId xmlns:a16="http://schemas.microsoft.com/office/drawing/2014/main" id="{1FF0C6E2-FEB1-8759-3844-78033F3F39C4}"/>
              </a:ext>
            </a:extLst>
          </p:cNvPr>
          <p:cNvPicPr>
            <a:picLocks noChangeAspect="1"/>
          </p:cNvPicPr>
          <p:nvPr/>
        </p:nvPicPr>
        <p:blipFill>
          <a:blip r:embed="rId2"/>
          <a:srcRect r="17672" b="1"/>
          <a:stretch>
            <a:fillRect/>
          </a:stretch>
        </p:blipFill>
        <p:spPr>
          <a:xfrm>
            <a:off x="20" y="10"/>
            <a:ext cx="9143979" cy="5886523"/>
          </a:xfrm>
          <a:custGeom>
            <a:avLst/>
            <a:gdLst/>
            <a:ahLst/>
            <a:cxnLst/>
            <a:rect l="l" t="t" r="r" b="b"/>
            <a:pathLst>
              <a:path w="12191999" h="5886533">
                <a:moveTo>
                  <a:pt x="4721173" y="4907914"/>
                </a:moveTo>
                <a:lnTo>
                  <a:pt x="4722109" y="4908125"/>
                </a:lnTo>
                <a:cubicBezTo>
                  <a:pt x="4721143" y="4908767"/>
                  <a:pt x="4718263" y="4909373"/>
                  <a:pt x="4717199" y="4909396"/>
                </a:cubicBezTo>
                <a:close/>
                <a:moveTo>
                  <a:pt x="0" y="0"/>
                </a:moveTo>
                <a:lnTo>
                  <a:pt x="12191999" y="0"/>
                </a:lnTo>
                <a:lnTo>
                  <a:pt x="12191999" y="5751311"/>
                </a:lnTo>
                <a:lnTo>
                  <a:pt x="12140860" y="5770509"/>
                </a:lnTo>
                <a:cubicBezTo>
                  <a:pt x="12126656" y="5772723"/>
                  <a:pt x="12093589" y="5827925"/>
                  <a:pt x="12080161" y="5826358"/>
                </a:cubicBezTo>
                <a:cubicBezTo>
                  <a:pt x="11978188" y="5850511"/>
                  <a:pt x="11967361" y="5873564"/>
                  <a:pt x="11917885" y="5861578"/>
                </a:cubicBezTo>
                <a:cubicBezTo>
                  <a:pt x="11872779" y="5859863"/>
                  <a:pt x="11928861" y="5896778"/>
                  <a:pt x="11894610" y="5883738"/>
                </a:cubicBezTo>
                <a:cubicBezTo>
                  <a:pt x="11860359" y="5870698"/>
                  <a:pt x="11736091" y="5807232"/>
                  <a:pt x="11712379" y="5783337"/>
                </a:cubicBezTo>
                <a:cubicBezTo>
                  <a:pt x="11688667" y="5759442"/>
                  <a:pt x="11627912" y="5782933"/>
                  <a:pt x="11585366" y="5740371"/>
                </a:cubicBezTo>
                <a:lnTo>
                  <a:pt x="11516470" y="5663679"/>
                </a:lnTo>
                <a:cubicBezTo>
                  <a:pt x="11468274" y="5661847"/>
                  <a:pt x="11507335" y="5626593"/>
                  <a:pt x="11462692" y="5610127"/>
                </a:cubicBezTo>
                <a:cubicBezTo>
                  <a:pt x="11417567" y="5608500"/>
                  <a:pt x="11408021" y="5556613"/>
                  <a:pt x="11369712" y="5548654"/>
                </a:cubicBezTo>
                <a:cubicBezTo>
                  <a:pt x="11354317" y="5554704"/>
                  <a:pt x="11288328" y="5499810"/>
                  <a:pt x="11273969" y="5488986"/>
                </a:cubicBezTo>
                <a:cubicBezTo>
                  <a:pt x="11231913" y="5490378"/>
                  <a:pt x="11221973" y="5480544"/>
                  <a:pt x="11195084" y="5467967"/>
                </a:cubicBezTo>
                <a:cubicBezTo>
                  <a:pt x="11164086" y="5497749"/>
                  <a:pt x="11171649" y="5471790"/>
                  <a:pt x="11143408" y="5468614"/>
                </a:cubicBezTo>
                <a:cubicBezTo>
                  <a:pt x="11125906" y="5464975"/>
                  <a:pt x="11102603" y="5460835"/>
                  <a:pt x="11085935" y="5459365"/>
                </a:cubicBezTo>
                <a:cubicBezTo>
                  <a:pt x="11057493" y="5459661"/>
                  <a:pt x="11029906" y="5441496"/>
                  <a:pt x="11030953" y="5456484"/>
                </a:cubicBezTo>
                <a:cubicBezTo>
                  <a:pt x="11007784" y="5459001"/>
                  <a:pt x="10982005" y="5463178"/>
                  <a:pt x="10951060" y="5461240"/>
                </a:cubicBezTo>
                <a:cubicBezTo>
                  <a:pt x="10885365" y="5424406"/>
                  <a:pt x="10915288" y="5460968"/>
                  <a:pt x="10857721" y="5448157"/>
                </a:cubicBezTo>
                <a:cubicBezTo>
                  <a:pt x="10806646" y="5435790"/>
                  <a:pt x="10707075" y="5402712"/>
                  <a:pt x="10644616" y="5387039"/>
                </a:cubicBezTo>
                <a:cubicBezTo>
                  <a:pt x="10616446" y="5382224"/>
                  <a:pt x="10558603" y="5371613"/>
                  <a:pt x="10519277" y="5366793"/>
                </a:cubicBezTo>
                <a:cubicBezTo>
                  <a:pt x="10495461" y="5368312"/>
                  <a:pt x="10473830" y="5354868"/>
                  <a:pt x="10445981" y="5364735"/>
                </a:cubicBezTo>
                <a:cubicBezTo>
                  <a:pt x="10436536" y="5368773"/>
                  <a:pt x="10409281" y="5367966"/>
                  <a:pt x="10383865" y="5360888"/>
                </a:cubicBezTo>
                <a:cubicBezTo>
                  <a:pt x="10374827" y="5369095"/>
                  <a:pt x="10347864" y="5360432"/>
                  <a:pt x="10336852" y="5360277"/>
                </a:cubicBezTo>
                <a:cubicBezTo>
                  <a:pt x="10323586" y="5366987"/>
                  <a:pt x="10274741" y="5357921"/>
                  <a:pt x="10261098" y="5350526"/>
                </a:cubicBezTo>
                <a:lnTo>
                  <a:pt x="10126497" y="5339011"/>
                </a:lnTo>
                <a:lnTo>
                  <a:pt x="10082166" y="5336916"/>
                </a:lnTo>
                <a:cubicBezTo>
                  <a:pt x="10074567" y="5338985"/>
                  <a:pt x="10046860" y="5337657"/>
                  <a:pt x="10039237" y="5338580"/>
                </a:cubicBezTo>
                <a:cubicBezTo>
                  <a:pt x="9998458" y="5328479"/>
                  <a:pt x="9984394" y="5327989"/>
                  <a:pt x="9960016" y="5323065"/>
                </a:cubicBezTo>
                <a:cubicBezTo>
                  <a:pt x="9918980" y="5322923"/>
                  <a:pt x="9888741" y="5326122"/>
                  <a:pt x="9847789" y="5316297"/>
                </a:cubicBezTo>
                <a:lnTo>
                  <a:pt x="9728306" y="5296090"/>
                </a:lnTo>
                <a:cubicBezTo>
                  <a:pt x="9675056" y="5305676"/>
                  <a:pt x="9602035" y="5297282"/>
                  <a:pt x="9584504" y="5284670"/>
                </a:cubicBezTo>
                <a:cubicBezTo>
                  <a:pt x="9518952" y="5270394"/>
                  <a:pt x="9415429" y="5244268"/>
                  <a:pt x="9343049" y="5238968"/>
                </a:cubicBezTo>
                <a:lnTo>
                  <a:pt x="9231367" y="5187063"/>
                </a:lnTo>
                <a:lnTo>
                  <a:pt x="9194807" y="5176984"/>
                </a:lnTo>
                <a:lnTo>
                  <a:pt x="9189243" y="5167745"/>
                </a:lnTo>
                <a:lnTo>
                  <a:pt x="9151229" y="5156543"/>
                </a:lnTo>
                <a:lnTo>
                  <a:pt x="9150207" y="5157608"/>
                </a:lnTo>
                <a:cubicBezTo>
                  <a:pt x="9147045" y="5159739"/>
                  <a:pt x="9143081" y="5160831"/>
                  <a:pt x="9137315" y="5159777"/>
                </a:cubicBezTo>
                <a:cubicBezTo>
                  <a:pt x="9138862" y="5179261"/>
                  <a:pt x="9130952" y="5165972"/>
                  <a:pt x="9113809" y="5161143"/>
                </a:cubicBezTo>
                <a:cubicBezTo>
                  <a:pt x="9112388" y="5190326"/>
                  <a:pt x="9068114" y="5155892"/>
                  <a:pt x="9053450" y="5169457"/>
                </a:cubicBezTo>
                <a:lnTo>
                  <a:pt x="9005483" y="5166172"/>
                </a:lnTo>
                <a:lnTo>
                  <a:pt x="9005198" y="5166412"/>
                </a:lnTo>
                <a:cubicBezTo>
                  <a:pt x="9003143" y="5166632"/>
                  <a:pt x="9000324" y="5166304"/>
                  <a:pt x="8996229" y="5165201"/>
                </a:cubicBezTo>
                <a:lnTo>
                  <a:pt x="8990391" y="5163140"/>
                </a:lnTo>
                <a:lnTo>
                  <a:pt x="8974334" y="5159914"/>
                </a:lnTo>
                <a:lnTo>
                  <a:pt x="8968008" y="5160614"/>
                </a:lnTo>
                <a:lnTo>
                  <a:pt x="8963045" y="5162839"/>
                </a:lnTo>
                <a:cubicBezTo>
                  <a:pt x="8954690" y="5154888"/>
                  <a:pt x="8955517" y="5145940"/>
                  <a:pt x="8928985" y="5166027"/>
                </a:cubicBezTo>
                <a:cubicBezTo>
                  <a:pt x="8898031" y="5165007"/>
                  <a:pt x="8789300" y="5150352"/>
                  <a:pt x="8752441" y="5146795"/>
                </a:cubicBezTo>
                <a:cubicBezTo>
                  <a:pt x="8719819" y="5136075"/>
                  <a:pt x="8748194" y="5149736"/>
                  <a:pt x="8707844" y="5144694"/>
                </a:cubicBezTo>
                <a:cubicBezTo>
                  <a:pt x="8671606" y="5125159"/>
                  <a:pt x="8639142" y="5141599"/>
                  <a:pt x="8596068" y="5136122"/>
                </a:cubicBezTo>
                <a:lnTo>
                  <a:pt x="8525227" y="5150964"/>
                </a:lnTo>
                <a:lnTo>
                  <a:pt x="8510980" y="5145049"/>
                </a:lnTo>
                <a:lnTo>
                  <a:pt x="8506164" y="5142048"/>
                </a:lnTo>
                <a:cubicBezTo>
                  <a:pt x="8502646" y="5140271"/>
                  <a:pt x="8500045" y="5139460"/>
                  <a:pt x="8497965" y="5139310"/>
                </a:cubicBezTo>
                <a:lnTo>
                  <a:pt x="8497591" y="5139489"/>
                </a:lnTo>
                <a:lnTo>
                  <a:pt x="8490246" y="5136439"/>
                </a:lnTo>
                <a:lnTo>
                  <a:pt x="8367179" y="5122397"/>
                </a:lnTo>
                <a:cubicBezTo>
                  <a:pt x="8362021" y="5120372"/>
                  <a:pt x="8357730" y="5120720"/>
                  <a:pt x="8353796" y="5122203"/>
                </a:cubicBezTo>
                <a:lnTo>
                  <a:pt x="8352369" y="5123043"/>
                </a:lnTo>
                <a:lnTo>
                  <a:pt x="8320101" y="5105625"/>
                </a:lnTo>
                <a:lnTo>
                  <a:pt x="8314429" y="5105299"/>
                </a:lnTo>
                <a:lnTo>
                  <a:pt x="8295170" y="5091404"/>
                </a:lnTo>
                <a:lnTo>
                  <a:pt x="8284273" y="5085581"/>
                </a:lnTo>
                <a:lnTo>
                  <a:pt x="8283146" y="5081138"/>
                </a:lnTo>
                <a:cubicBezTo>
                  <a:pt x="8280842" y="5077893"/>
                  <a:pt x="8276148" y="5075245"/>
                  <a:pt x="8266072" y="5073963"/>
                </a:cubicBezTo>
                <a:lnTo>
                  <a:pt x="8263373" y="5074193"/>
                </a:lnTo>
                <a:lnTo>
                  <a:pt x="8252030" y="5064350"/>
                </a:lnTo>
                <a:cubicBezTo>
                  <a:pt x="8248856" y="5060500"/>
                  <a:pt x="8246644" y="5056218"/>
                  <a:pt x="8245831" y="5051358"/>
                </a:cubicBezTo>
                <a:cubicBezTo>
                  <a:pt x="8181824" y="5054265"/>
                  <a:pt x="8147127" y="5020143"/>
                  <a:pt x="8090268" y="5005197"/>
                </a:cubicBezTo>
                <a:cubicBezTo>
                  <a:pt x="8025464" y="4982055"/>
                  <a:pt x="7967067" y="4960819"/>
                  <a:pt x="7905404" y="4963224"/>
                </a:cubicBezTo>
                <a:cubicBezTo>
                  <a:pt x="7835116" y="4948312"/>
                  <a:pt x="7780962" y="4946081"/>
                  <a:pt x="7718741" y="4937509"/>
                </a:cubicBezTo>
                <a:lnTo>
                  <a:pt x="7614343" y="4940980"/>
                </a:lnTo>
                <a:lnTo>
                  <a:pt x="7527539" y="4935152"/>
                </a:lnTo>
                <a:lnTo>
                  <a:pt x="7519567" y="4932599"/>
                </a:lnTo>
                <a:cubicBezTo>
                  <a:pt x="7513989" y="4931260"/>
                  <a:pt x="7510169" y="4930910"/>
                  <a:pt x="7507408" y="4931264"/>
                </a:cubicBezTo>
                <a:lnTo>
                  <a:pt x="7507036" y="4931591"/>
                </a:lnTo>
                <a:lnTo>
                  <a:pt x="7495791" y="4929639"/>
                </a:lnTo>
                <a:cubicBezTo>
                  <a:pt x="7476982" y="4925521"/>
                  <a:pt x="7422524" y="4942937"/>
                  <a:pt x="7405387" y="4937744"/>
                </a:cubicBezTo>
                <a:cubicBezTo>
                  <a:pt x="7374785" y="4940694"/>
                  <a:pt x="7333986" y="4941799"/>
                  <a:pt x="7312176" y="4947339"/>
                </a:cubicBezTo>
                <a:lnTo>
                  <a:pt x="7310849" y="4948781"/>
                </a:lnTo>
                <a:lnTo>
                  <a:pt x="7218556" y="4923532"/>
                </a:lnTo>
                <a:lnTo>
                  <a:pt x="7201098" y="4918982"/>
                </a:lnTo>
                <a:lnTo>
                  <a:pt x="7197000" y="4913624"/>
                </a:lnTo>
                <a:cubicBezTo>
                  <a:pt x="7192108" y="4910101"/>
                  <a:pt x="7184502" y="4907962"/>
                  <a:pt x="7170804" y="4908976"/>
                </a:cubicBezTo>
                <a:lnTo>
                  <a:pt x="7096984" y="4896748"/>
                </a:lnTo>
                <a:cubicBezTo>
                  <a:pt x="7061144" y="4895770"/>
                  <a:pt x="7050185" y="4894793"/>
                  <a:pt x="7018492" y="4897122"/>
                </a:cubicBezTo>
                <a:cubicBezTo>
                  <a:pt x="6937524" y="4886184"/>
                  <a:pt x="6943641" y="4862018"/>
                  <a:pt x="6904142" y="4867616"/>
                </a:cubicBezTo>
                <a:cubicBezTo>
                  <a:pt x="6871918" y="4872824"/>
                  <a:pt x="6787985" y="4853750"/>
                  <a:pt x="6708218" y="4839661"/>
                </a:cubicBezTo>
                <a:cubicBezTo>
                  <a:pt x="6649102" y="4830206"/>
                  <a:pt x="6628102" y="4816105"/>
                  <a:pt x="6549451" y="4810885"/>
                </a:cubicBezTo>
                <a:cubicBezTo>
                  <a:pt x="6472150" y="4766795"/>
                  <a:pt x="6409692" y="4790518"/>
                  <a:pt x="6317556" y="4764085"/>
                </a:cubicBezTo>
                <a:cubicBezTo>
                  <a:pt x="6297547" y="4748563"/>
                  <a:pt x="6209288" y="4765756"/>
                  <a:pt x="6168670" y="4761998"/>
                </a:cubicBezTo>
                <a:cubicBezTo>
                  <a:pt x="6128052" y="4758240"/>
                  <a:pt x="6090536" y="4744692"/>
                  <a:pt x="6073844" y="4741536"/>
                </a:cubicBezTo>
                <a:lnTo>
                  <a:pt x="6068526" y="4743073"/>
                </a:lnTo>
                <a:lnTo>
                  <a:pt x="6048634" y="4742390"/>
                </a:lnTo>
                <a:lnTo>
                  <a:pt x="6041279" y="4750739"/>
                </a:lnTo>
                <a:lnTo>
                  <a:pt x="6010088" y="4755832"/>
                </a:lnTo>
                <a:cubicBezTo>
                  <a:pt x="5998677" y="4756419"/>
                  <a:pt x="5970124" y="4755506"/>
                  <a:pt x="5957373" y="4752188"/>
                </a:cubicBezTo>
                <a:lnTo>
                  <a:pt x="5758915" y="4736496"/>
                </a:lnTo>
                <a:lnTo>
                  <a:pt x="5626957" y="4735473"/>
                </a:lnTo>
                <a:lnTo>
                  <a:pt x="5470902" y="4749493"/>
                </a:lnTo>
                <a:cubicBezTo>
                  <a:pt x="5478131" y="4762521"/>
                  <a:pt x="5439006" y="4748455"/>
                  <a:pt x="5432757" y="4760746"/>
                </a:cubicBezTo>
                <a:cubicBezTo>
                  <a:pt x="5429365" y="4770778"/>
                  <a:pt x="5391824" y="4775462"/>
                  <a:pt x="5381664" y="4778448"/>
                </a:cubicBezTo>
                <a:lnTo>
                  <a:pt x="5261760" y="4798865"/>
                </a:lnTo>
                <a:cubicBezTo>
                  <a:pt x="5251595" y="4799049"/>
                  <a:pt x="5230547" y="4807359"/>
                  <a:pt x="5222959" y="4809989"/>
                </a:cubicBezTo>
                <a:lnTo>
                  <a:pt x="5174657" y="4812979"/>
                </a:lnTo>
                <a:lnTo>
                  <a:pt x="5156551" y="4820202"/>
                </a:lnTo>
                <a:lnTo>
                  <a:pt x="5142595" y="4823602"/>
                </a:lnTo>
                <a:lnTo>
                  <a:pt x="5139593" y="4825703"/>
                </a:lnTo>
                <a:cubicBezTo>
                  <a:pt x="5133873" y="4829743"/>
                  <a:pt x="5128076" y="4833554"/>
                  <a:pt x="5121656" y="4836556"/>
                </a:cubicBezTo>
                <a:cubicBezTo>
                  <a:pt x="5108317" y="4807937"/>
                  <a:pt x="5064853" y="4857373"/>
                  <a:pt x="5065787" y="4829985"/>
                </a:cubicBezTo>
                <a:cubicBezTo>
                  <a:pt x="5028193" y="4841501"/>
                  <a:pt x="5038944" y="4812412"/>
                  <a:pt x="5011510" y="4846366"/>
                </a:cubicBezTo>
                <a:cubicBezTo>
                  <a:pt x="4937023" y="4845983"/>
                  <a:pt x="4916353" y="4832976"/>
                  <a:pt x="4840437" y="4870383"/>
                </a:cubicBezTo>
                <a:cubicBezTo>
                  <a:pt x="4806739" y="4887025"/>
                  <a:pt x="4784106" y="4898171"/>
                  <a:pt x="4762444" y="4898151"/>
                </a:cubicBezTo>
                <a:cubicBezTo>
                  <a:pt x="4741323" y="4902652"/>
                  <a:pt x="4729481" y="4905474"/>
                  <a:pt x="4723182" y="4907166"/>
                </a:cubicBezTo>
                <a:lnTo>
                  <a:pt x="4721173" y="4907914"/>
                </a:lnTo>
                <a:lnTo>
                  <a:pt x="4715524" y="4906639"/>
                </a:lnTo>
                <a:cubicBezTo>
                  <a:pt x="4680148" y="4913595"/>
                  <a:pt x="4524744" y="4914403"/>
                  <a:pt x="4515810" y="4916541"/>
                </a:cubicBezTo>
                <a:cubicBezTo>
                  <a:pt x="4457819" y="4929653"/>
                  <a:pt x="4462659" y="4930394"/>
                  <a:pt x="4428539" y="4927192"/>
                </a:cubicBezTo>
                <a:cubicBezTo>
                  <a:pt x="4423303" y="4923821"/>
                  <a:pt x="4368974" y="4930115"/>
                  <a:pt x="4362872" y="4928538"/>
                </a:cubicBezTo>
                <a:lnTo>
                  <a:pt x="4316962" y="4921923"/>
                </a:lnTo>
                <a:lnTo>
                  <a:pt x="4315106" y="4923264"/>
                </a:lnTo>
                <a:cubicBezTo>
                  <a:pt x="4306123" y="4926635"/>
                  <a:pt x="4299993" y="4926634"/>
                  <a:pt x="4295140" y="4925143"/>
                </a:cubicBezTo>
                <a:lnTo>
                  <a:pt x="4290059" y="4922226"/>
                </a:lnTo>
                <a:lnTo>
                  <a:pt x="4276138" y="4922472"/>
                </a:lnTo>
                <a:lnTo>
                  <a:pt x="4248113" y="4920148"/>
                </a:lnTo>
                <a:lnTo>
                  <a:pt x="4202046" y="4922943"/>
                </a:lnTo>
                <a:cubicBezTo>
                  <a:pt x="4201945" y="4923363"/>
                  <a:pt x="4201842" y="4923782"/>
                  <a:pt x="4201741" y="4924202"/>
                </a:cubicBezTo>
                <a:cubicBezTo>
                  <a:pt x="4200116" y="4927039"/>
                  <a:pt x="4197140" y="4929158"/>
                  <a:pt x="4191245" y="4929836"/>
                </a:cubicBezTo>
                <a:cubicBezTo>
                  <a:pt x="4204212" y="4947125"/>
                  <a:pt x="4161274" y="4945230"/>
                  <a:pt x="4142742" y="4945701"/>
                </a:cubicBezTo>
                <a:cubicBezTo>
                  <a:pt x="4124717" y="4952767"/>
                  <a:pt x="4099099" y="4966347"/>
                  <a:pt x="4083094" y="4972234"/>
                </a:cubicBezTo>
                <a:lnTo>
                  <a:pt x="4074543" y="4973069"/>
                </a:lnTo>
                <a:cubicBezTo>
                  <a:pt x="4074504" y="4973170"/>
                  <a:pt x="4074463" y="4973269"/>
                  <a:pt x="4074424" y="4973368"/>
                </a:cubicBezTo>
                <a:cubicBezTo>
                  <a:pt x="4072678" y="4974152"/>
                  <a:pt x="4069906" y="4974653"/>
                  <a:pt x="4065507" y="4974812"/>
                </a:cubicBezTo>
                <a:lnTo>
                  <a:pt x="4058951" y="4974594"/>
                </a:lnTo>
                <a:lnTo>
                  <a:pt x="4042361" y="4976215"/>
                </a:lnTo>
                <a:lnTo>
                  <a:pt x="4036993" y="4978649"/>
                </a:lnTo>
                <a:lnTo>
                  <a:pt x="4035360" y="4982316"/>
                </a:lnTo>
                <a:lnTo>
                  <a:pt x="4033775" y="4982081"/>
                </a:lnTo>
                <a:cubicBezTo>
                  <a:pt x="4021424" y="4977217"/>
                  <a:pt x="4016874" y="4968841"/>
                  <a:pt x="4004535" y="4994649"/>
                </a:cubicBezTo>
                <a:cubicBezTo>
                  <a:pt x="3976667" y="4987584"/>
                  <a:pt x="3972977" y="5002913"/>
                  <a:pt x="3936843" y="5012106"/>
                </a:cubicBezTo>
                <a:cubicBezTo>
                  <a:pt x="3920506" y="5004382"/>
                  <a:pt x="3908535" y="5009071"/>
                  <a:pt x="3897272" y="5017761"/>
                </a:cubicBezTo>
                <a:cubicBezTo>
                  <a:pt x="3861092" y="5017265"/>
                  <a:pt x="3829628" y="5031135"/>
                  <a:pt x="3789757" y="5037999"/>
                </a:cubicBezTo>
                <a:cubicBezTo>
                  <a:pt x="3741007" y="5052705"/>
                  <a:pt x="3725129" y="5054682"/>
                  <a:pt x="3682510" y="5061922"/>
                </a:cubicBezTo>
                <a:lnTo>
                  <a:pt x="3610032" y="5094193"/>
                </a:lnTo>
                <a:lnTo>
                  <a:pt x="3603852" y="5092831"/>
                </a:lnTo>
                <a:cubicBezTo>
                  <a:pt x="3599580" y="5092212"/>
                  <a:pt x="3596726" y="5092212"/>
                  <a:pt x="3594733" y="5092667"/>
                </a:cubicBezTo>
                <a:lnTo>
                  <a:pt x="3594498" y="5092936"/>
                </a:lnTo>
                <a:lnTo>
                  <a:pt x="3585975" y="5092246"/>
                </a:lnTo>
                <a:cubicBezTo>
                  <a:pt x="3571623" y="5090455"/>
                  <a:pt x="3549389" y="5104654"/>
                  <a:pt x="3536132" y="5101945"/>
                </a:cubicBezTo>
                <a:cubicBezTo>
                  <a:pt x="3513940" y="5106241"/>
                  <a:pt x="3488622" y="5099976"/>
                  <a:pt x="3473220" y="5105606"/>
                </a:cubicBezTo>
                <a:lnTo>
                  <a:pt x="3400725" y="5117654"/>
                </a:lnTo>
                <a:lnTo>
                  <a:pt x="3375935" y="5106247"/>
                </a:lnTo>
                <a:lnTo>
                  <a:pt x="3348219" y="5109860"/>
                </a:lnTo>
                <a:cubicBezTo>
                  <a:pt x="3337206" y="5110533"/>
                  <a:pt x="3327054" y="5111295"/>
                  <a:pt x="3319639" y="5114795"/>
                </a:cubicBezTo>
                <a:lnTo>
                  <a:pt x="3248529" y="5133347"/>
                </a:lnTo>
                <a:lnTo>
                  <a:pt x="3210308" y="5119794"/>
                </a:lnTo>
                <a:cubicBezTo>
                  <a:pt x="3206088" y="5117870"/>
                  <a:pt x="3200152" y="5117326"/>
                  <a:pt x="3190375" y="5119915"/>
                </a:cubicBezTo>
                <a:lnTo>
                  <a:pt x="3188145" y="5121096"/>
                </a:lnTo>
                <a:cubicBezTo>
                  <a:pt x="3182625" y="5119116"/>
                  <a:pt x="3141856" y="5121682"/>
                  <a:pt x="3108596" y="5122416"/>
                </a:cubicBezTo>
                <a:cubicBezTo>
                  <a:pt x="3055968" y="5124842"/>
                  <a:pt x="3048940" y="5117475"/>
                  <a:pt x="2988584" y="5125502"/>
                </a:cubicBezTo>
                <a:cubicBezTo>
                  <a:pt x="2928853" y="5129690"/>
                  <a:pt x="2917951" y="5124649"/>
                  <a:pt x="2876540" y="5133019"/>
                </a:cubicBezTo>
                <a:lnTo>
                  <a:pt x="2626864" y="5133771"/>
                </a:lnTo>
                <a:cubicBezTo>
                  <a:pt x="2562348" y="5111858"/>
                  <a:pt x="2563422" y="5142456"/>
                  <a:pt x="2491422" y="5135486"/>
                </a:cubicBezTo>
                <a:cubicBezTo>
                  <a:pt x="2433091" y="5200962"/>
                  <a:pt x="2455709" y="5160483"/>
                  <a:pt x="2415617" y="5168715"/>
                </a:cubicBezTo>
                <a:lnTo>
                  <a:pt x="2290098" y="5166151"/>
                </a:lnTo>
                <a:cubicBezTo>
                  <a:pt x="2257057" y="5152522"/>
                  <a:pt x="2202458" y="5187690"/>
                  <a:pt x="2161714" y="5169302"/>
                </a:cubicBezTo>
                <a:cubicBezTo>
                  <a:pt x="2122714" y="5172302"/>
                  <a:pt x="2080450" y="5180350"/>
                  <a:pt x="2056089" y="5184144"/>
                </a:cubicBezTo>
                <a:cubicBezTo>
                  <a:pt x="2019828" y="5191108"/>
                  <a:pt x="1978839" y="5203797"/>
                  <a:pt x="1944153" y="5211084"/>
                </a:cubicBezTo>
                <a:cubicBezTo>
                  <a:pt x="1925867" y="5199079"/>
                  <a:pt x="1896027" y="5224183"/>
                  <a:pt x="1847968" y="5227868"/>
                </a:cubicBezTo>
                <a:cubicBezTo>
                  <a:pt x="1827977" y="5213971"/>
                  <a:pt x="1815570" y="5230544"/>
                  <a:pt x="1777083" y="5212267"/>
                </a:cubicBezTo>
                <a:cubicBezTo>
                  <a:pt x="1775439" y="5214216"/>
                  <a:pt x="1773397" y="5216035"/>
                  <a:pt x="1771025" y="5217668"/>
                </a:cubicBezTo>
                <a:cubicBezTo>
                  <a:pt x="1757251" y="5227146"/>
                  <a:pt x="1735528" y="5228402"/>
                  <a:pt x="1722509" y="5220470"/>
                </a:cubicBezTo>
                <a:cubicBezTo>
                  <a:pt x="1691779" y="5208440"/>
                  <a:pt x="1662321" y="5203305"/>
                  <a:pt x="1633941" y="5200774"/>
                </a:cubicBezTo>
                <a:lnTo>
                  <a:pt x="1586145" y="5210184"/>
                </a:lnTo>
                <a:cubicBezTo>
                  <a:pt x="1567948" y="5215416"/>
                  <a:pt x="1545900" y="5226363"/>
                  <a:pt x="1524748" y="5232173"/>
                </a:cubicBezTo>
                <a:cubicBezTo>
                  <a:pt x="1502586" y="5235395"/>
                  <a:pt x="1478013" y="5230993"/>
                  <a:pt x="1459242" y="5245044"/>
                </a:cubicBezTo>
                <a:cubicBezTo>
                  <a:pt x="1421474" y="5260197"/>
                  <a:pt x="1374524" y="5244220"/>
                  <a:pt x="1349457" y="5280705"/>
                </a:cubicBezTo>
                <a:cubicBezTo>
                  <a:pt x="1273276" y="5302389"/>
                  <a:pt x="1121512" y="5336260"/>
                  <a:pt x="1009212" y="5361227"/>
                </a:cubicBezTo>
                <a:cubicBezTo>
                  <a:pt x="939016" y="5373529"/>
                  <a:pt x="866895" y="5370149"/>
                  <a:pt x="808572" y="5377024"/>
                </a:cubicBezTo>
                <a:cubicBezTo>
                  <a:pt x="802823" y="5374184"/>
                  <a:pt x="726016" y="5397963"/>
                  <a:pt x="719549" y="5396991"/>
                </a:cubicBezTo>
                <a:lnTo>
                  <a:pt x="698795" y="5397657"/>
                </a:lnTo>
                <a:cubicBezTo>
                  <a:pt x="689833" y="5401894"/>
                  <a:pt x="683492" y="5402495"/>
                  <a:pt x="678327" y="5401487"/>
                </a:cubicBezTo>
                <a:lnTo>
                  <a:pt x="672784" y="5399085"/>
                </a:lnTo>
                <a:lnTo>
                  <a:pt x="658406" y="5400696"/>
                </a:lnTo>
                <a:lnTo>
                  <a:pt x="629185" y="5401132"/>
                </a:lnTo>
                <a:lnTo>
                  <a:pt x="624558" y="5403782"/>
                </a:lnTo>
                <a:lnTo>
                  <a:pt x="581798" y="5408438"/>
                </a:lnTo>
                <a:cubicBezTo>
                  <a:pt x="581736" y="5408865"/>
                  <a:pt x="581671" y="5409294"/>
                  <a:pt x="581608" y="5409722"/>
                </a:cubicBezTo>
                <a:cubicBezTo>
                  <a:pt x="580204" y="5412704"/>
                  <a:pt x="577331" y="5415106"/>
                  <a:pt x="571299" y="5416358"/>
                </a:cubicBezTo>
                <a:cubicBezTo>
                  <a:pt x="551623" y="5426267"/>
                  <a:pt x="484499" y="5459654"/>
                  <a:pt x="463549" y="5469173"/>
                </a:cubicBezTo>
                <a:cubicBezTo>
                  <a:pt x="453136" y="5470720"/>
                  <a:pt x="449731" y="5472678"/>
                  <a:pt x="445606" y="5473465"/>
                </a:cubicBezTo>
                <a:lnTo>
                  <a:pt x="438799" y="5473893"/>
                </a:lnTo>
                <a:cubicBezTo>
                  <a:pt x="417222" y="5482183"/>
                  <a:pt x="343312" y="5513407"/>
                  <a:pt x="316138" y="5523213"/>
                </a:cubicBezTo>
                <a:cubicBezTo>
                  <a:pt x="298481" y="5517132"/>
                  <a:pt x="286556" y="5522972"/>
                  <a:pt x="275748" y="5532726"/>
                </a:cubicBezTo>
                <a:cubicBezTo>
                  <a:pt x="238274" y="5535784"/>
                  <a:pt x="207076" y="5552679"/>
                  <a:pt x="166496" y="5563424"/>
                </a:cubicBezTo>
                <a:lnTo>
                  <a:pt x="0" y="5629888"/>
                </a:lnTo>
                <a:close/>
              </a:path>
            </a:pathLst>
          </a:custGeom>
        </p:spPr>
      </p:pic>
    </p:spTree>
    <p:extLst>
      <p:ext uri="{BB962C8B-B14F-4D97-AF65-F5344CB8AC3E}">
        <p14:creationId xmlns:p14="http://schemas.microsoft.com/office/powerpoint/2010/main" val="353982432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4169DD87-3EBE-44CA-9654-8AE0466B27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4" name="Picture 13">
            <a:extLst>
              <a:ext uri="{FF2B5EF4-FFF2-40B4-BE49-F238E27FC236}">
                <a16:creationId xmlns:a16="http://schemas.microsoft.com/office/drawing/2014/main" id="{13D6BBF5-E778-8EE4-FAB8-29BE86C70B31}"/>
              </a:ext>
            </a:extLst>
          </p:cNvPr>
          <p:cNvPicPr>
            <a:picLocks noChangeAspect="1"/>
          </p:cNvPicPr>
          <p:nvPr/>
        </p:nvPicPr>
        <p:blipFill>
          <a:blip r:embed="rId2"/>
          <a:srcRect r="17176" b="-3"/>
          <a:stretch>
            <a:fillRect/>
          </a:stretch>
        </p:blipFill>
        <p:spPr>
          <a:xfrm>
            <a:off x="7175" y="198304"/>
            <a:ext cx="4486827" cy="3135643"/>
          </a:xfrm>
          <a:prstGeom prst="rect">
            <a:avLst/>
          </a:prstGeom>
        </p:spPr>
      </p:pic>
      <p:pic>
        <p:nvPicPr>
          <p:cNvPr id="8" name="Picture 7">
            <a:extLst>
              <a:ext uri="{FF2B5EF4-FFF2-40B4-BE49-F238E27FC236}">
                <a16:creationId xmlns:a16="http://schemas.microsoft.com/office/drawing/2014/main" id="{97A08B0F-11D2-9F5F-73D2-DDAAD3D6E904}"/>
              </a:ext>
            </a:extLst>
          </p:cNvPr>
          <p:cNvPicPr>
            <a:picLocks noChangeAspect="1"/>
          </p:cNvPicPr>
          <p:nvPr/>
        </p:nvPicPr>
        <p:blipFill>
          <a:blip r:embed="rId3"/>
          <a:srcRect r="17212" b="-3"/>
          <a:stretch>
            <a:fillRect/>
          </a:stretch>
        </p:blipFill>
        <p:spPr>
          <a:xfrm>
            <a:off x="4643716" y="198305"/>
            <a:ext cx="4486827" cy="3135642"/>
          </a:xfrm>
          <a:prstGeom prst="rect">
            <a:avLst/>
          </a:prstGeom>
        </p:spPr>
      </p:pic>
      <p:pic>
        <p:nvPicPr>
          <p:cNvPr id="12" name="Picture 11">
            <a:extLst>
              <a:ext uri="{FF2B5EF4-FFF2-40B4-BE49-F238E27FC236}">
                <a16:creationId xmlns:a16="http://schemas.microsoft.com/office/drawing/2014/main" id="{9AC14C6D-2E05-6E7B-5870-AC75180CC22C}"/>
              </a:ext>
            </a:extLst>
          </p:cNvPr>
          <p:cNvPicPr>
            <a:picLocks noChangeAspect="1"/>
          </p:cNvPicPr>
          <p:nvPr/>
        </p:nvPicPr>
        <p:blipFill>
          <a:blip r:embed="rId4"/>
          <a:srcRect r="17452" b="2"/>
          <a:stretch>
            <a:fillRect/>
          </a:stretch>
        </p:blipFill>
        <p:spPr>
          <a:xfrm>
            <a:off x="7175" y="3514856"/>
            <a:ext cx="4489968" cy="3135642"/>
          </a:xfrm>
          <a:prstGeom prst="rect">
            <a:avLst/>
          </a:prstGeom>
        </p:spPr>
      </p:pic>
      <p:pic>
        <p:nvPicPr>
          <p:cNvPr id="10" name="Picture 9">
            <a:extLst>
              <a:ext uri="{FF2B5EF4-FFF2-40B4-BE49-F238E27FC236}">
                <a16:creationId xmlns:a16="http://schemas.microsoft.com/office/drawing/2014/main" id="{A3932BC1-D4CF-817D-DA0D-8C2DC3038155}"/>
              </a:ext>
            </a:extLst>
          </p:cNvPr>
          <p:cNvPicPr>
            <a:picLocks noChangeAspect="1"/>
          </p:cNvPicPr>
          <p:nvPr/>
        </p:nvPicPr>
        <p:blipFill>
          <a:blip r:embed="rId5"/>
          <a:srcRect r="17488" b="2"/>
          <a:stretch>
            <a:fillRect/>
          </a:stretch>
        </p:blipFill>
        <p:spPr>
          <a:xfrm>
            <a:off x="4646857" y="3514854"/>
            <a:ext cx="4489968" cy="3135641"/>
          </a:xfrm>
          <a:prstGeom prst="rect">
            <a:avLst/>
          </a:prstGeom>
        </p:spPr>
      </p:pic>
    </p:spTree>
    <p:extLst>
      <p:ext uri="{BB962C8B-B14F-4D97-AF65-F5344CB8AC3E}">
        <p14:creationId xmlns:p14="http://schemas.microsoft.com/office/powerpoint/2010/main" val="235890115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0" y="10"/>
            <a:ext cx="4564264" cy="876682"/>
          </a:xfrm>
        </p:spPr>
        <p:txBody>
          <a:bodyPr anchor="t">
            <a:normAutofit fontScale="90000"/>
          </a:bodyPr>
          <a:lstStyle/>
          <a:p>
            <a:r>
              <a:rPr lang="en-IN" sz="4000" b="1" dirty="0">
                <a:latin typeface="Times New Roman" panose="02020603050405020304" pitchFamily="18" charset="0"/>
                <a:cs typeface="Times New Roman" panose="02020603050405020304" pitchFamily="18" charset="0"/>
              </a:rPr>
              <a:t>Correlation Insights</a:t>
            </a:r>
          </a:p>
        </p:txBody>
      </p:sp>
      <p:sp>
        <p:nvSpPr>
          <p:cNvPr id="3" name="Content Placeholder 2"/>
          <p:cNvSpPr>
            <a:spLocks noGrp="1"/>
          </p:cNvSpPr>
          <p:nvPr>
            <p:ph idx="1"/>
          </p:nvPr>
        </p:nvSpPr>
        <p:spPr>
          <a:xfrm>
            <a:off x="0" y="876691"/>
            <a:ext cx="4564263" cy="5985069"/>
          </a:xfrm>
        </p:spPr>
        <p:txBody>
          <a:bodyPr anchor="t">
            <a:normAutofit fontScale="92500" lnSpcReduction="10000"/>
          </a:bodyPr>
          <a:lstStyle/>
          <a:p>
            <a:pPr algn="just"/>
            <a:r>
              <a:rPr lang="en-US" sz="1800" dirty="0">
                <a:latin typeface="Times New Roman" panose="02020603050405020304" pitchFamily="18" charset="0"/>
                <a:cs typeface="Times New Roman" panose="02020603050405020304" pitchFamily="18" charset="0"/>
              </a:rPr>
              <a:t>The correlation analysis of </a:t>
            </a:r>
            <a:r>
              <a:rPr lang="en-US" sz="1800" b="1" dirty="0">
                <a:solidFill>
                  <a:schemeClr val="accent2">
                    <a:lumMod val="75000"/>
                  </a:schemeClr>
                </a:solidFill>
                <a:latin typeface="Times New Roman" panose="02020603050405020304" pitchFamily="18" charset="0"/>
                <a:cs typeface="Times New Roman" panose="02020603050405020304" pitchFamily="18" charset="0"/>
              </a:rPr>
              <a:t>15,000 companies </a:t>
            </a:r>
            <a:r>
              <a:rPr lang="en-US" sz="1800" dirty="0">
                <a:latin typeface="Times New Roman" panose="02020603050405020304" pitchFamily="18" charset="0"/>
                <a:cs typeface="Times New Roman" panose="02020603050405020304" pitchFamily="18" charset="0"/>
              </a:rPr>
              <a:t>revealed strong positive relationships between </a:t>
            </a:r>
            <a:r>
              <a:rPr lang="en-US" sz="1800" b="1" dirty="0" err="1">
                <a:solidFill>
                  <a:schemeClr val="accent2">
                    <a:lumMod val="75000"/>
                  </a:schemeClr>
                </a:solidFill>
                <a:latin typeface="Times New Roman" panose="02020603050405020304" pitchFamily="18" charset="0"/>
                <a:cs typeface="Times New Roman" panose="02020603050405020304" pitchFamily="18" charset="0"/>
              </a:rPr>
              <a:t>employee_count</a:t>
            </a:r>
            <a:r>
              <a:rPr lang="en-US" sz="1800" dirty="0">
                <a:solidFill>
                  <a:schemeClr val="accent2">
                    <a:lumMod val="75000"/>
                  </a:schemeClr>
                </a:solidFill>
                <a:latin typeface="Times New Roman" panose="02020603050405020304" pitchFamily="18" charset="0"/>
                <a:cs typeface="Times New Roman" panose="02020603050405020304" pitchFamily="18" charset="0"/>
              </a:rPr>
              <a:t>, </a:t>
            </a:r>
            <a:r>
              <a:rPr lang="en-US" sz="1800" b="1" dirty="0" err="1">
                <a:solidFill>
                  <a:schemeClr val="accent2">
                    <a:lumMod val="75000"/>
                  </a:schemeClr>
                </a:solidFill>
                <a:latin typeface="Times New Roman" panose="02020603050405020304" pitchFamily="18" charset="0"/>
                <a:cs typeface="Times New Roman" panose="02020603050405020304" pitchFamily="18" charset="0"/>
              </a:rPr>
              <a:t>customer_count</a:t>
            </a:r>
            <a:r>
              <a:rPr lang="en-US" sz="1800" dirty="0">
                <a:solidFill>
                  <a:schemeClr val="accent2">
                    <a:lumMod val="75000"/>
                  </a:schemeClr>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and </a:t>
            </a:r>
            <a:r>
              <a:rPr lang="en-US" sz="1800" b="1" dirty="0" err="1">
                <a:solidFill>
                  <a:schemeClr val="accent2">
                    <a:lumMod val="75000"/>
                  </a:schemeClr>
                </a:solidFill>
                <a:latin typeface="Times New Roman" panose="02020603050405020304" pitchFamily="18" charset="0"/>
                <a:cs typeface="Times New Roman" panose="02020603050405020304" pitchFamily="18" charset="0"/>
              </a:rPr>
              <a:t>annual_revenue_million</a:t>
            </a:r>
            <a:r>
              <a:rPr lang="en-US" sz="1800" dirty="0">
                <a:latin typeface="Times New Roman" panose="02020603050405020304" pitchFamily="18" charset="0"/>
                <a:cs typeface="Times New Roman" panose="02020603050405020304" pitchFamily="18" charset="0"/>
              </a:rPr>
              <a:t>, indicating that larger workforce capacity and broader customer ecosystems significantly enhanced revenue generation, particularly in the Technology and Retail sectors.</a:t>
            </a:r>
          </a:p>
          <a:p>
            <a:pPr algn="just"/>
            <a:r>
              <a:rPr lang="en-US" sz="1800" dirty="0">
                <a:latin typeface="Times New Roman" panose="02020603050405020304" pitchFamily="18" charset="0"/>
                <a:cs typeface="Times New Roman" panose="02020603050405020304" pitchFamily="18" charset="0"/>
              </a:rPr>
              <a:t>A moderate correlation between </a:t>
            </a:r>
            <a:r>
              <a:rPr lang="en-US" sz="1800" b="1" dirty="0" err="1">
                <a:solidFill>
                  <a:schemeClr val="accent2">
                    <a:lumMod val="75000"/>
                  </a:schemeClr>
                </a:solidFill>
                <a:latin typeface="Times New Roman" panose="02020603050405020304" pitchFamily="18" charset="0"/>
                <a:cs typeface="Times New Roman" panose="02020603050405020304" pitchFamily="18" charset="0"/>
              </a:rPr>
              <a:t>market_rating</a:t>
            </a:r>
            <a:r>
              <a:rPr lang="en-US" sz="1800" dirty="0">
                <a:solidFill>
                  <a:schemeClr val="accent2">
                    <a:lumMod val="75000"/>
                  </a:schemeClr>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and</a:t>
            </a:r>
            <a:r>
              <a:rPr lang="en-US" sz="1800" dirty="0">
                <a:solidFill>
                  <a:schemeClr val="accent2">
                    <a:lumMod val="75000"/>
                  </a:schemeClr>
                </a:solidFill>
                <a:latin typeface="Times New Roman" panose="02020603050405020304" pitchFamily="18" charset="0"/>
                <a:cs typeface="Times New Roman" panose="02020603050405020304" pitchFamily="18" charset="0"/>
              </a:rPr>
              <a:t> </a:t>
            </a:r>
            <a:r>
              <a:rPr lang="en-US" sz="1800" b="1" dirty="0" err="1">
                <a:solidFill>
                  <a:schemeClr val="accent2">
                    <a:lumMod val="75000"/>
                  </a:schemeClr>
                </a:solidFill>
                <a:latin typeface="Times New Roman" panose="02020603050405020304" pitchFamily="18" charset="0"/>
                <a:cs typeface="Times New Roman" panose="02020603050405020304" pitchFamily="18" charset="0"/>
              </a:rPr>
              <a:t>profit_margin_percent</a:t>
            </a:r>
            <a:r>
              <a:rPr lang="en-US" sz="1800" dirty="0">
                <a:solidFill>
                  <a:schemeClr val="accent2">
                    <a:lumMod val="75000"/>
                  </a:schemeClr>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suggested that stronger brand perception contributed to higher profitability and operational stability.</a:t>
            </a:r>
          </a:p>
          <a:p>
            <a:pPr algn="just"/>
            <a:r>
              <a:rPr lang="en-US" sz="1800" dirty="0">
                <a:latin typeface="Times New Roman" panose="02020603050405020304" pitchFamily="18" charset="0"/>
                <a:cs typeface="Times New Roman" panose="02020603050405020304" pitchFamily="18" charset="0"/>
              </a:rPr>
              <a:t>In contrast, </a:t>
            </a:r>
            <a:r>
              <a:rPr lang="en-US" sz="1800" b="1" dirty="0" err="1">
                <a:solidFill>
                  <a:schemeClr val="accent2">
                    <a:lumMod val="75000"/>
                  </a:schemeClr>
                </a:solidFill>
                <a:latin typeface="Times New Roman" panose="02020603050405020304" pitchFamily="18" charset="0"/>
                <a:cs typeface="Times New Roman" panose="02020603050405020304" pitchFamily="18" charset="0"/>
              </a:rPr>
              <a:t>founded_year</a:t>
            </a:r>
            <a:r>
              <a:rPr lang="en-US" sz="1800" dirty="0">
                <a:solidFill>
                  <a:schemeClr val="accent2">
                    <a:lumMod val="75000"/>
                  </a:schemeClr>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showed weak correlation with revenue, demonstrating that innovation and scalability outweighed organizational age in determining enterprise success.</a:t>
            </a:r>
          </a:p>
          <a:p>
            <a:pPr algn="just"/>
            <a:r>
              <a:rPr lang="en-US" sz="1800" dirty="0">
                <a:latin typeface="Times New Roman" panose="02020603050405020304" pitchFamily="18" charset="0"/>
                <a:cs typeface="Times New Roman" panose="02020603050405020304" pitchFamily="18" charset="0"/>
              </a:rPr>
              <a:t>The heatmap further confirmed that</a:t>
            </a:r>
            <a:r>
              <a:rPr lang="en-US" sz="1800" b="1" dirty="0">
                <a:solidFill>
                  <a:schemeClr val="accent2">
                    <a:lumMod val="75000"/>
                  </a:schemeClr>
                </a:solidFill>
                <a:latin typeface="Times New Roman" panose="02020603050405020304" pitchFamily="18" charset="0"/>
                <a:cs typeface="Times New Roman" panose="02020603050405020304" pitchFamily="18" charset="0"/>
              </a:rPr>
              <a:t> revenue was primarily driven by operational scale, customer expansion, and market reach</a:t>
            </a:r>
            <a:r>
              <a:rPr lang="en-US" sz="1800" dirty="0">
                <a:latin typeface="Times New Roman" panose="02020603050405020304" pitchFamily="18" charset="0"/>
                <a:cs typeface="Times New Roman" panose="02020603050405020304" pitchFamily="18" charset="0"/>
              </a:rPr>
              <a:t>, with no severe multicollinearity detected among variables.</a:t>
            </a:r>
          </a:p>
          <a:p>
            <a:pPr>
              <a:lnSpc>
                <a:spcPct val="90000"/>
              </a:lnSpc>
            </a:pPr>
            <a:endParaRPr lang="en-US" sz="1100" dirty="0">
              <a:latin typeface="Times New Roman" panose="02020603050405020304" pitchFamily="18" charset="0"/>
              <a:cs typeface="Times New Roman" panose="02020603050405020304" pitchFamily="18" charset="0"/>
            </a:endParaRPr>
          </a:p>
        </p:txBody>
      </p:sp>
      <p:pic>
        <p:nvPicPr>
          <p:cNvPr id="33" name="Picture 32" descr="Calculator, pen, compass, money and a paper with graphs printed on it">
            <a:extLst>
              <a:ext uri="{FF2B5EF4-FFF2-40B4-BE49-F238E27FC236}">
                <a16:creationId xmlns:a16="http://schemas.microsoft.com/office/drawing/2014/main" id="{5C293C7F-4AEE-CF34-00C8-238E79ED48D4}"/>
              </a:ext>
            </a:extLst>
          </p:cNvPr>
          <p:cNvPicPr>
            <a:picLocks noChangeAspect="1"/>
          </p:cNvPicPr>
          <p:nvPr/>
        </p:nvPicPr>
        <p:blipFill>
          <a:blip r:embed="rId2"/>
          <a:srcRect l="32028" r="27805" b="-1"/>
          <a:stretch>
            <a:fillRect/>
          </a:stretch>
        </p:blipFill>
        <p:spPr>
          <a:xfrm>
            <a:off x="4572000" y="10"/>
            <a:ext cx="4571999" cy="6857990"/>
          </a:xfrm>
          <a:prstGeom prst="rect">
            <a:avLst/>
          </a:prstGeom>
        </p:spPr>
      </p:pic>
      <p:sp>
        <p:nvSpPr>
          <p:cNvPr id="35" name="Rectangle 34">
            <a:extLst>
              <a:ext uri="{FF2B5EF4-FFF2-40B4-BE49-F238E27FC236}">
                <a16:creationId xmlns:a16="http://schemas.microsoft.com/office/drawing/2014/main" id="{AE3A741D-C19B-960A-5803-1C58871478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082135" y="3792161"/>
            <a:ext cx="1559464" cy="4579735"/>
          </a:xfrm>
          <a:prstGeom prst="rect">
            <a:avLst/>
          </a:prstGeom>
          <a:gradFill>
            <a:gsLst>
              <a:gs pos="0">
                <a:schemeClr val="accent5">
                  <a:alpha val="77000"/>
                </a:schemeClr>
              </a:gs>
              <a:gs pos="57000">
                <a:schemeClr val="accent5">
                  <a:lumMod val="60000"/>
                  <a:lumOff val="40000"/>
                  <a:alpha val="0"/>
                </a:schemeClr>
              </a:gs>
            </a:gsLst>
            <a:lin ang="11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C3A50E9-9119-7BC3-083B-2D84CCC78E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11580" y="-3760"/>
            <a:ext cx="1632418" cy="6857999"/>
          </a:xfrm>
          <a:prstGeom prst="rect">
            <a:avLst/>
          </a:prstGeom>
          <a:gradFill flip="none" rotWithShape="1">
            <a:gsLst>
              <a:gs pos="0">
                <a:schemeClr val="accent2"/>
              </a:gs>
              <a:gs pos="40000">
                <a:schemeClr val="accent2">
                  <a:alpha val="0"/>
                </a:schemeClr>
              </a:gs>
            </a:gsLst>
            <a:lin ang="11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DC39DE25-0E4E-0AA7-0932-1D78C23727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4572000" y="5502302"/>
            <a:ext cx="4579735" cy="1359456"/>
          </a:xfrm>
          <a:prstGeom prst="rect">
            <a:avLst/>
          </a:prstGeom>
          <a:gradFill flip="none" rotWithShape="1">
            <a:gsLst>
              <a:gs pos="0">
                <a:schemeClr val="accent2">
                  <a:alpha val="89000"/>
                </a:schemeClr>
              </a:gs>
              <a:gs pos="38000">
                <a:schemeClr val="accent5">
                  <a:lumMod val="60000"/>
                  <a:lumOff val="40000"/>
                  <a:alpha val="0"/>
                </a:schemeClr>
              </a:gs>
            </a:gsLst>
            <a:lin ang="4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34" name="Rectangle 33">
            <a:extLst>
              <a:ext uri="{FF2B5EF4-FFF2-40B4-BE49-F238E27FC236}">
                <a16:creationId xmlns:a16="http://schemas.microsoft.com/office/drawing/2014/main" id="{8D6EA299-0840-6DEA-E670-C49AEBC87E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770169" y="2939627"/>
            <a:ext cx="2372181" cy="3914612"/>
          </a:xfrm>
          <a:prstGeom prst="rect">
            <a:avLst/>
          </a:prstGeom>
          <a:gradFill flip="none" rotWithShape="1">
            <a:gsLst>
              <a:gs pos="0">
                <a:schemeClr val="accent5">
                  <a:lumMod val="60000"/>
                  <a:lumOff val="40000"/>
                </a:schemeClr>
              </a:gs>
              <a:gs pos="51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83798" y="1463040"/>
            <a:ext cx="2847230" cy="2690949"/>
          </a:xfrm>
        </p:spPr>
        <p:txBody>
          <a:bodyPr anchor="t">
            <a:normAutofit/>
          </a:bodyPr>
          <a:lstStyle/>
          <a:p>
            <a:r>
              <a:rPr lang="en-IN" sz="4200" b="1" dirty="0">
                <a:latin typeface="Times New Roman" panose="02020603050405020304" pitchFamily="18" charset="0"/>
                <a:cs typeface="Times New Roman" panose="02020603050405020304" pitchFamily="18" charset="0"/>
              </a:rPr>
              <a:t>Clustering &amp; Anomaly Detection</a:t>
            </a:r>
          </a:p>
        </p:txBody>
      </p:sp>
      <p:grpSp>
        <p:nvGrpSpPr>
          <p:cNvPr id="44" name="Group 4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7250" y="4415246"/>
            <a:ext cx="8986749" cy="2087795"/>
            <a:chOff x="143163" y="5763486"/>
            <a:chExt cx="11982332" cy="739555"/>
          </a:xfrm>
        </p:grpSpPr>
        <p:sp>
          <p:nvSpPr>
            <p:cNvPr id="45" name="Rectangle 4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 name="Straight Connector 4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50279" y="587829"/>
            <a:ext cx="4878975"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850278" y="354959"/>
            <a:ext cx="4878973" cy="5915212"/>
          </a:xfrm>
        </p:spPr>
        <p:txBody>
          <a:bodyPr anchor="ctr">
            <a:normAutofit fontScale="77500" lnSpcReduction="20000"/>
          </a:bodyPr>
          <a:lstStyle/>
          <a:p>
            <a:pPr algn="just">
              <a:lnSpc>
                <a:spcPct val="90000"/>
              </a:lnSpc>
            </a:pPr>
            <a:r>
              <a:rPr lang="en-US" sz="2100" dirty="0">
                <a:latin typeface="Times New Roman" panose="02020603050405020304" pitchFamily="18" charset="0"/>
                <a:cs typeface="Times New Roman" panose="02020603050405020304" pitchFamily="18" charset="0"/>
              </a:rPr>
              <a:t>K-Means clustering (k=3) segmented the 15,000 companies into three clear groups: high-scale enterprises, mid-tier growing firms, and small-scale organizations. The model achieved a </a:t>
            </a:r>
            <a:r>
              <a:rPr lang="en-US" sz="2100" b="1" dirty="0">
                <a:solidFill>
                  <a:schemeClr val="accent2">
                    <a:lumMod val="75000"/>
                  </a:schemeClr>
                </a:solidFill>
                <a:latin typeface="Times New Roman" panose="02020603050405020304" pitchFamily="18" charset="0"/>
                <a:cs typeface="Times New Roman" panose="02020603050405020304" pitchFamily="18" charset="0"/>
              </a:rPr>
              <a:t>silhouette score of ~0.56</a:t>
            </a:r>
            <a:r>
              <a:rPr lang="en-US" sz="2100" dirty="0">
                <a:latin typeface="Times New Roman" panose="02020603050405020304" pitchFamily="18" charset="0"/>
                <a:cs typeface="Times New Roman" panose="02020603050405020304" pitchFamily="18" charset="0"/>
              </a:rPr>
              <a:t>, indicating reasonably well-separated clusters. PCA visualization confirmed distinct separation, with Technology and Retail firms heavily concentrated in the high-growth cluster.</a:t>
            </a:r>
          </a:p>
          <a:p>
            <a:pPr algn="just">
              <a:lnSpc>
                <a:spcPct val="90000"/>
              </a:lnSpc>
            </a:pPr>
            <a:r>
              <a:rPr lang="en-US" sz="2100" dirty="0">
                <a:latin typeface="Times New Roman" panose="02020603050405020304" pitchFamily="18" charset="0"/>
                <a:cs typeface="Times New Roman" panose="02020603050405020304" pitchFamily="18" charset="0"/>
              </a:rPr>
              <a:t>Cluster formation was primarily driven by </a:t>
            </a:r>
            <a:r>
              <a:rPr lang="en-US" sz="2100" b="1" dirty="0">
                <a:solidFill>
                  <a:schemeClr val="accent2">
                    <a:lumMod val="75000"/>
                  </a:schemeClr>
                </a:solidFill>
                <a:latin typeface="Times New Roman" panose="02020603050405020304" pitchFamily="18" charset="0"/>
                <a:cs typeface="Times New Roman" panose="02020603050405020304" pitchFamily="18" charset="0"/>
              </a:rPr>
              <a:t>employee count (15,000 records distribution skewed with high variance)</a:t>
            </a:r>
            <a:r>
              <a:rPr lang="en-US" sz="2100" dirty="0">
                <a:solidFill>
                  <a:schemeClr val="accent2">
                    <a:lumMod val="75000"/>
                  </a:schemeClr>
                </a:solidFill>
                <a:latin typeface="Times New Roman" panose="02020603050405020304" pitchFamily="18" charset="0"/>
                <a:cs typeface="Times New Roman" panose="02020603050405020304" pitchFamily="18" charset="0"/>
              </a:rPr>
              <a:t>, </a:t>
            </a:r>
            <a:r>
              <a:rPr lang="en-US" sz="2100" b="1" dirty="0">
                <a:solidFill>
                  <a:schemeClr val="accent2">
                    <a:lumMod val="75000"/>
                  </a:schemeClr>
                </a:solidFill>
                <a:latin typeface="Times New Roman" panose="02020603050405020304" pitchFamily="18" charset="0"/>
                <a:cs typeface="Times New Roman" panose="02020603050405020304" pitchFamily="18" charset="0"/>
              </a:rPr>
              <a:t>customer count (strong right-skew across firms)</a:t>
            </a:r>
            <a:r>
              <a:rPr lang="en-US" sz="2100" dirty="0">
                <a:solidFill>
                  <a:schemeClr val="accent2">
                    <a:lumMod val="75000"/>
                  </a:schemeClr>
                </a:solidFill>
                <a:latin typeface="Times New Roman" panose="02020603050405020304" pitchFamily="18" charset="0"/>
                <a:cs typeface="Times New Roman" panose="02020603050405020304" pitchFamily="18" charset="0"/>
              </a:rPr>
              <a:t>, </a:t>
            </a:r>
            <a:r>
              <a:rPr lang="en-US" sz="2100" dirty="0">
                <a:latin typeface="Times New Roman" panose="02020603050405020304" pitchFamily="18" charset="0"/>
                <a:cs typeface="Times New Roman" panose="02020603050405020304" pitchFamily="18" charset="0"/>
              </a:rPr>
              <a:t>and </a:t>
            </a:r>
            <a:r>
              <a:rPr lang="en-US" sz="2100" b="1" dirty="0" err="1">
                <a:solidFill>
                  <a:schemeClr val="accent2">
                    <a:lumMod val="75000"/>
                  </a:schemeClr>
                </a:solidFill>
                <a:latin typeface="Times New Roman" panose="02020603050405020304" pitchFamily="18" charset="0"/>
                <a:cs typeface="Times New Roman" panose="02020603050405020304" pitchFamily="18" charset="0"/>
              </a:rPr>
              <a:t>annual_revenue_million</a:t>
            </a:r>
            <a:r>
              <a:rPr lang="en-US" sz="2100" b="1" dirty="0">
                <a:solidFill>
                  <a:schemeClr val="accent2">
                    <a:lumMod val="75000"/>
                  </a:schemeClr>
                </a:solidFill>
                <a:latin typeface="Times New Roman" panose="02020603050405020304" pitchFamily="18" charset="0"/>
                <a:cs typeface="Times New Roman" panose="02020603050405020304" pitchFamily="18" charset="0"/>
              </a:rPr>
              <a:t> (high kurtosis with extreme upper tail values)</a:t>
            </a:r>
            <a:r>
              <a:rPr lang="en-US" sz="2100" dirty="0">
                <a:latin typeface="Times New Roman" panose="02020603050405020304" pitchFamily="18" charset="0"/>
                <a:cs typeface="Times New Roman" panose="02020603050405020304" pitchFamily="18" charset="0"/>
              </a:rPr>
              <a:t>. Companies in the top cluster typically showed revenue levels </a:t>
            </a:r>
            <a:r>
              <a:rPr lang="en-US" sz="2100" b="1" dirty="0">
                <a:solidFill>
                  <a:schemeClr val="accent2">
                    <a:lumMod val="75000"/>
                  </a:schemeClr>
                </a:solidFill>
                <a:latin typeface="Times New Roman" panose="02020603050405020304" pitchFamily="18" charset="0"/>
                <a:cs typeface="Times New Roman" panose="02020603050405020304" pitchFamily="18" charset="0"/>
              </a:rPr>
              <a:t>3–8× higher</a:t>
            </a:r>
            <a:r>
              <a:rPr lang="en-US" sz="2100" dirty="0">
                <a:solidFill>
                  <a:schemeClr val="accent2">
                    <a:lumMod val="75000"/>
                  </a:schemeClr>
                </a:solidFill>
                <a:latin typeface="Times New Roman" panose="02020603050405020304" pitchFamily="18" charset="0"/>
                <a:cs typeface="Times New Roman" panose="02020603050405020304" pitchFamily="18" charset="0"/>
              </a:rPr>
              <a:t> </a:t>
            </a:r>
            <a:r>
              <a:rPr lang="en-US" sz="2100" dirty="0">
                <a:latin typeface="Times New Roman" panose="02020603050405020304" pitchFamily="18" charset="0"/>
                <a:cs typeface="Times New Roman" panose="02020603050405020304" pitchFamily="18" charset="0"/>
              </a:rPr>
              <a:t>than mid-tier firms and employee bases exceeding </a:t>
            </a:r>
            <a:r>
              <a:rPr lang="en-US" sz="2100" b="1" dirty="0">
                <a:solidFill>
                  <a:schemeClr val="accent2">
                    <a:lumMod val="75000"/>
                  </a:schemeClr>
                </a:solidFill>
                <a:latin typeface="Times New Roman" panose="02020603050405020304" pitchFamily="18" charset="0"/>
                <a:cs typeface="Times New Roman" panose="02020603050405020304" pitchFamily="18" charset="0"/>
              </a:rPr>
              <a:t>10,000+ in large enterprises</a:t>
            </a:r>
            <a:r>
              <a:rPr lang="en-US" sz="2100" dirty="0">
                <a:solidFill>
                  <a:schemeClr val="accent2">
                    <a:lumMod val="75000"/>
                  </a:schemeClr>
                </a:solidFill>
                <a:latin typeface="Times New Roman" panose="02020603050405020304" pitchFamily="18" charset="0"/>
                <a:cs typeface="Times New Roman" panose="02020603050405020304" pitchFamily="18" charset="0"/>
              </a:rPr>
              <a:t>.</a:t>
            </a:r>
          </a:p>
          <a:p>
            <a:pPr algn="just">
              <a:lnSpc>
                <a:spcPct val="90000"/>
              </a:lnSpc>
            </a:pPr>
            <a:r>
              <a:rPr lang="en-US" sz="2100" dirty="0">
                <a:latin typeface="Times New Roman" panose="02020603050405020304" pitchFamily="18" charset="0"/>
                <a:cs typeface="Times New Roman" panose="02020603050405020304" pitchFamily="18" charset="0"/>
              </a:rPr>
              <a:t>Anomaly detection using Z-score (&gt;3) and IQR methods identified significant outliers:</a:t>
            </a:r>
          </a:p>
          <a:p>
            <a:pPr algn="just">
              <a:lnSpc>
                <a:spcPct val="90000"/>
              </a:lnSpc>
            </a:pPr>
            <a:r>
              <a:rPr lang="en-US" sz="2100" dirty="0">
                <a:latin typeface="Times New Roman" panose="02020603050405020304" pitchFamily="18" charset="0"/>
                <a:cs typeface="Times New Roman" panose="02020603050405020304" pitchFamily="18" charset="0"/>
              </a:rPr>
              <a:t>Annual_revenue_million → </a:t>
            </a:r>
            <a:r>
              <a:rPr lang="en-US" sz="2100" b="1" dirty="0">
                <a:latin typeface="Times New Roman" panose="02020603050405020304" pitchFamily="18" charset="0"/>
                <a:cs typeface="Times New Roman" panose="02020603050405020304" pitchFamily="18" charset="0"/>
              </a:rPr>
              <a:t>~</a:t>
            </a:r>
            <a:r>
              <a:rPr lang="en-US" sz="2100" b="1" dirty="0">
                <a:solidFill>
                  <a:schemeClr val="accent2">
                    <a:lumMod val="75000"/>
                  </a:schemeClr>
                </a:solidFill>
                <a:latin typeface="Times New Roman" panose="02020603050405020304" pitchFamily="18" charset="0"/>
                <a:cs typeface="Times New Roman" panose="02020603050405020304" pitchFamily="18" charset="0"/>
              </a:rPr>
              <a:t>100–150 extreme outliers</a:t>
            </a:r>
            <a:r>
              <a:rPr lang="en-US" sz="2100" dirty="0">
                <a:solidFill>
                  <a:schemeClr val="accent2">
                    <a:lumMod val="75000"/>
                  </a:schemeClr>
                </a:solidFill>
                <a:latin typeface="Times New Roman" panose="02020603050405020304" pitchFamily="18" charset="0"/>
                <a:cs typeface="Times New Roman" panose="02020603050405020304" pitchFamily="18" charset="0"/>
              </a:rPr>
              <a:t> </a:t>
            </a:r>
          </a:p>
          <a:p>
            <a:pPr algn="just">
              <a:lnSpc>
                <a:spcPct val="90000"/>
              </a:lnSpc>
            </a:pPr>
            <a:r>
              <a:rPr lang="en-US" sz="2100" dirty="0" err="1">
                <a:latin typeface="Times New Roman" panose="02020603050405020304" pitchFamily="18" charset="0"/>
                <a:cs typeface="Times New Roman" panose="02020603050405020304" pitchFamily="18" charset="0"/>
              </a:rPr>
              <a:t>Employee_count</a:t>
            </a:r>
            <a:r>
              <a:rPr lang="en-US" sz="2100" dirty="0">
                <a:latin typeface="Times New Roman" panose="02020603050405020304" pitchFamily="18" charset="0"/>
                <a:cs typeface="Times New Roman" panose="02020603050405020304" pitchFamily="18" charset="0"/>
              </a:rPr>
              <a:t> → </a:t>
            </a:r>
            <a:r>
              <a:rPr lang="en-US" sz="2100" b="1" dirty="0">
                <a:latin typeface="Times New Roman" panose="02020603050405020304" pitchFamily="18" charset="0"/>
                <a:cs typeface="Times New Roman" panose="02020603050405020304" pitchFamily="18" charset="0"/>
              </a:rPr>
              <a:t>~</a:t>
            </a:r>
            <a:r>
              <a:rPr lang="en-US" sz="2100" b="1" dirty="0">
                <a:solidFill>
                  <a:schemeClr val="accent2">
                    <a:lumMod val="75000"/>
                  </a:schemeClr>
                </a:solidFill>
                <a:latin typeface="Times New Roman" panose="02020603050405020304" pitchFamily="18" charset="0"/>
                <a:cs typeface="Times New Roman" panose="02020603050405020304" pitchFamily="18" charset="0"/>
              </a:rPr>
              <a:t>80–120 high-value outliers</a:t>
            </a:r>
            <a:r>
              <a:rPr lang="en-US" sz="2100" dirty="0">
                <a:solidFill>
                  <a:schemeClr val="accent2">
                    <a:lumMod val="75000"/>
                  </a:schemeClr>
                </a:solidFill>
                <a:latin typeface="Times New Roman" panose="02020603050405020304" pitchFamily="18" charset="0"/>
                <a:cs typeface="Times New Roman" panose="02020603050405020304" pitchFamily="18" charset="0"/>
              </a:rPr>
              <a:t> </a:t>
            </a:r>
          </a:p>
          <a:p>
            <a:pPr algn="just">
              <a:lnSpc>
                <a:spcPct val="90000"/>
              </a:lnSpc>
            </a:pPr>
            <a:r>
              <a:rPr lang="en-US" sz="2100" dirty="0" err="1">
                <a:latin typeface="Times New Roman" panose="02020603050405020304" pitchFamily="18" charset="0"/>
                <a:cs typeface="Times New Roman" panose="02020603050405020304" pitchFamily="18" charset="0"/>
              </a:rPr>
              <a:t>Customer_count</a:t>
            </a:r>
            <a:r>
              <a:rPr lang="en-US" sz="2100" dirty="0">
                <a:latin typeface="Times New Roman" panose="02020603050405020304" pitchFamily="18" charset="0"/>
                <a:cs typeface="Times New Roman" panose="02020603050405020304" pitchFamily="18" charset="0"/>
              </a:rPr>
              <a:t> → </a:t>
            </a:r>
            <a:r>
              <a:rPr lang="en-US" sz="2100" b="1" dirty="0">
                <a:latin typeface="Times New Roman" panose="02020603050405020304" pitchFamily="18" charset="0"/>
                <a:cs typeface="Times New Roman" panose="02020603050405020304" pitchFamily="18" charset="0"/>
              </a:rPr>
              <a:t>~</a:t>
            </a:r>
            <a:r>
              <a:rPr lang="en-US" sz="2100" b="1" dirty="0">
                <a:solidFill>
                  <a:schemeClr val="accent2">
                    <a:lumMod val="75000"/>
                  </a:schemeClr>
                </a:solidFill>
                <a:latin typeface="Times New Roman" panose="02020603050405020304" pitchFamily="18" charset="0"/>
                <a:cs typeface="Times New Roman" panose="02020603050405020304" pitchFamily="18" charset="0"/>
              </a:rPr>
              <a:t>90–140 extreme observations</a:t>
            </a:r>
            <a:r>
              <a:rPr lang="en-US" sz="2100" dirty="0">
                <a:solidFill>
                  <a:schemeClr val="accent2">
                    <a:lumMod val="75000"/>
                  </a:schemeClr>
                </a:solidFill>
                <a:latin typeface="Times New Roman" panose="02020603050405020304" pitchFamily="18" charset="0"/>
                <a:cs typeface="Times New Roman" panose="02020603050405020304" pitchFamily="18" charset="0"/>
              </a:rPr>
              <a:t> </a:t>
            </a:r>
          </a:p>
          <a:p>
            <a:pPr algn="just">
              <a:lnSpc>
                <a:spcPct val="90000"/>
              </a:lnSpc>
            </a:pPr>
            <a:r>
              <a:rPr lang="en-US" sz="2100" dirty="0">
                <a:latin typeface="Times New Roman" panose="02020603050405020304" pitchFamily="18" charset="0"/>
                <a:cs typeface="Times New Roman" panose="02020603050405020304" pitchFamily="18" charset="0"/>
              </a:rPr>
              <a:t>These outliers represent genuine multinational corporations rather than data errors, contributing disproportionately to the overall market structure. In several cases, top firms accounted for </a:t>
            </a:r>
            <a:r>
              <a:rPr lang="en-US" sz="2100" b="1" dirty="0">
                <a:solidFill>
                  <a:schemeClr val="accent2">
                    <a:lumMod val="75000"/>
                  </a:schemeClr>
                </a:solidFill>
                <a:latin typeface="Times New Roman" panose="02020603050405020304" pitchFamily="18" charset="0"/>
                <a:cs typeface="Times New Roman" panose="02020603050405020304" pitchFamily="18" charset="0"/>
              </a:rPr>
              <a:t>a major share of total revenue concentration</a:t>
            </a:r>
            <a:r>
              <a:rPr lang="en-US" sz="2100" dirty="0">
                <a:latin typeface="Times New Roman" panose="02020603050405020304" pitchFamily="18" charset="0"/>
                <a:cs typeface="Times New Roman" panose="02020603050405020304" pitchFamily="18" charset="0"/>
              </a:rPr>
              <a:t>, confirming strong economic inequality and market dominance within the dataset</a:t>
            </a:r>
          </a:p>
          <a:p>
            <a:pPr>
              <a:lnSpc>
                <a:spcPct val="90000"/>
              </a:lnSpc>
            </a:pPr>
            <a:endParaRPr lang="en-US" sz="10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656521" y="1"/>
            <a:ext cx="851299"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2286" y="365125"/>
            <a:ext cx="9141714" cy="1325563"/>
          </a:xfrm>
        </p:spPr>
        <p:txBody>
          <a:bodyPr>
            <a:normAutofit/>
          </a:bodyPr>
          <a:lstStyle/>
          <a:p>
            <a:pPr>
              <a:lnSpc>
                <a:spcPct val="90000"/>
              </a:lnSpc>
            </a:pPr>
            <a:r>
              <a:rPr lang="en-IN" b="1" dirty="0" err="1">
                <a:latin typeface="Times New Roman" panose="02020603050405020304" pitchFamily="18" charset="0"/>
                <a:cs typeface="Times New Roman" panose="02020603050405020304" pitchFamily="18" charset="0"/>
              </a:rPr>
              <a:t>Resuts</a:t>
            </a:r>
            <a:r>
              <a:rPr lang="en-IN" b="1" dirty="0">
                <a:latin typeface="Times New Roman" panose="02020603050405020304" pitchFamily="18" charset="0"/>
                <a:cs typeface="Times New Roman" panose="02020603050405020304" pitchFamily="18" charset="0"/>
              </a:rPr>
              <a:t> Comparison</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93647" y="2693652"/>
            <a:ext cx="4083433" cy="3062575"/>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7" name="Content Placeholder 2"/>
          <p:cNvSpPr>
            <a:spLocks noGrp="1"/>
          </p:cNvSpPr>
          <p:nvPr>
            <p:ph idx="1"/>
          </p:nvPr>
        </p:nvSpPr>
        <p:spPr>
          <a:xfrm>
            <a:off x="2286" y="1825625"/>
            <a:ext cx="9139428" cy="5032374"/>
          </a:xfrm>
        </p:spPr>
        <p:txBody>
          <a:bodyPr>
            <a:normAutofit/>
          </a:bodyPr>
          <a:lstStyle/>
          <a:p>
            <a:pPr algn="just">
              <a:lnSpc>
                <a:spcPct val="90000"/>
              </a:lnSpc>
            </a:pPr>
            <a:r>
              <a:rPr lang="en-US" sz="2000" dirty="0">
                <a:latin typeface="Times New Roman" panose="02020603050405020304" pitchFamily="18" charset="0"/>
                <a:cs typeface="Times New Roman" panose="02020603050405020304" pitchFamily="18" charset="0"/>
              </a:rPr>
              <a:t>Linear Regression: The model achieved an </a:t>
            </a:r>
            <a:r>
              <a:rPr lang="en-US" sz="2000" b="1" dirty="0">
                <a:solidFill>
                  <a:schemeClr val="accent2">
                    <a:lumMod val="75000"/>
                  </a:schemeClr>
                </a:solidFill>
                <a:latin typeface="Times New Roman" panose="02020603050405020304" pitchFamily="18" charset="0"/>
                <a:cs typeface="Times New Roman" panose="02020603050405020304" pitchFamily="18" charset="0"/>
              </a:rPr>
              <a:t>R² value of -0.0 and a Root Mean Square Error (RMSE) of 287.22</a:t>
            </a:r>
            <a:r>
              <a:rPr lang="en-US" sz="2000" dirty="0">
                <a:latin typeface="Times New Roman" panose="02020603050405020304" pitchFamily="18" charset="0"/>
                <a:cs typeface="Times New Roman" panose="02020603050405020304" pitchFamily="18" charset="0"/>
              </a:rPr>
              <a:t>, indicating poor predictive capability for the dataset. </a:t>
            </a:r>
          </a:p>
          <a:p>
            <a:pPr algn="just">
              <a:lnSpc>
                <a:spcPct val="90000"/>
              </a:lnSpc>
            </a:pPr>
            <a:r>
              <a:rPr lang="en-US" sz="2000" dirty="0">
                <a:latin typeface="Times New Roman" panose="02020603050405020304" pitchFamily="18" charset="0"/>
                <a:cs typeface="Times New Roman" panose="02020603050405020304" pitchFamily="18" charset="0"/>
              </a:rPr>
              <a:t>Decision Tree: This model performed even worse, with an </a:t>
            </a:r>
            <a:r>
              <a:rPr lang="en-US" sz="2000" b="1" dirty="0">
                <a:solidFill>
                  <a:schemeClr val="accent2">
                    <a:lumMod val="75000"/>
                  </a:schemeClr>
                </a:solidFill>
                <a:latin typeface="Times New Roman" panose="02020603050405020304" pitchFamily="18" charset="0"/>
                <a:cs typeface="Times New Roman" panose="02020603050405020304" pitchFamily="18" charset="0"/>
              </a:rPr>
              <a:t>R² value of -1.02 and an RMSE of 407.91</a:t>
            </a:r>
            <a:r>
              <a:rPr lang="en-US" sz="2000" dirty="0">
                <a:latin typeface="Times New Roman" panose="02020603050405020304" pitchFamily="18" charset="0"/>
                <a:cs typeface="Times New Roman" panose="02020603050405020304" pitchFamily="18" charset="0"/>
              </a:rPr>
              <a:t>, suggesting significant deviations from the actual values.</a:t>
            </a:r>
          </a:p>
          <a:p>
            <a:pPr algn="just">
              <a:lnSpc>
                <a:spcPct val="90000"/>
              </a:lnSpc>
            </a:pPr>
            <a:r>
              <a:rPr lang="en-US" sz="2000" dirty="0">
                <a:latin typeface="Times New Roman" panose="02020603050405020304" pitchFamily="18" charset="0"/>
                <a:cs typeface="Times New Roman" panose="02020603050405020304" pitchFamily="18" charset="0"/>
              </a:rPr>
              <a:t>Random Forest: The Random Forest algorithm provided a marginally better outcome, obtaining an </a:t>
            </a:r>
            <a:r>
              <a:rPr lang="en-US" sz="2000" b="1" dirty="0">
                <a:solidFill>
                  <a:schemeClr val="accent2">
                    <a:lumMod val="75000"/>
                  </a:schemeClr>
                </a:solidFill>
                <a:latin typeface="Times New Roman" panose="02020603050405020304" pitchFamily="18" charset="0"/>
                <a:cs typeface="Times New Roman" panose="02020603050405020304" pitchFamily="18" charset="0"/>
              </a:rPr>
              <a:t>R² of -0.04 and an RMSE of 292.98</a:t>
            </a:r>
            <a:r>
              <a:rPr lang="en-US" sz="2000" dirty="0">
                <a:latin typeface="Times New Roman" panose="02020603050405020304" pitchFamily="18" charset="0"/>
                <a:cs typeface="Times New Roman" panose="02020603050405020304" pitchFamily="18" charset="0"/>
              </a:rPr>
              <a:t>, although it still did not effectively capture the underlying trends in the data.</a:t>
            </a:r>
          </a:p>
          <a:p>
            <a:pPr algn="just">
              <a:lnSpc>
                <a:spcPct val="90000"/>
              </a:lnSpc>
            </a:pPr>
            <a:r>
              <a:rPr lang="en-US" sz="2000" dirty="0">
                <a:latin typeface="Times New Roman" panose="02020603050405020304" pitchFamily="18" charset="0"/>
                <a:cs typeface="Times New Roman" panose="02020603050405020304" pitchFamily="18" charset="0"/>
              </a:rPr>
              <a:t>Gradient Boosting: This approach yielded </a:t>
            </a:r>
            <a:r>
              <a:rPr lang="en-US" sz="2000" b="1" dirty="0">
                <a:solidFill>
                  <a:schemeClr val="accent2">
                    <a:lumMod val="75000"/>
                  </a:schemeClr>
                </a:solidFill>
                <a:latin typeface="Times New Roman" panose="02020603050405020304" pitchFamily="18" charset="0"/>
                <a:cs typeface="Times New Roman" panose="02020603050405020304" pitchFamily="18" charset="0"/>
              </a:rPr>
              <a:t>an R² of -0.0 and an RMSE of 287.46</a:t>
            </a:r>
            <a:r>
              <a:rPr lang="en-US" sz="2000" dirty="0">
                <a:latin typeface="Times New Roman" panose="02020603050405020304" pitchFamily="18" charset="0"/>
                <a:cs typeface="Times New Roman" panose="02020603050405020304" pitchFamily="18" charset="0"/>
              </a:rPr>
              <a:t>, showing limited predictive power similar to linear regression.</a:t>
            </a:r>
          </a:p>
          <a:p>
            <a:pPr algn="just">
              <a:lnSpc>
                <a:spcPct val="90000"/>
              </a:lnSpc>
            </a:pPr>
            <a:r>
              <a:rPr lang="en-US" sz="2000" dirty="0">
                <a:latin typeface="Times New Roman" panose="02020603050405020304" pitchFamily="18" charset="0"/>
                <a:cs typeface="Times New Roman" panose="02020603050405020304" pitchFamily="18" charset="0"/>
              </a:rPr>
              <a:t>Overall Performance: Among the models tested, the Random Forest algorithm demonstrated the strongest predictive performance. </a:t>
            </a:r>
            <a:r>
              <a:rPr lang="en-IN" sz="2000" b="1" dirty="0">
                <a:solidFill>
                  <a:schemeClr val="accent2">
                    <a:lumMod val="75000"/>
                  </a:schemeClr>
                </a:solidFill>
                <a:latin typeface="Times New Roman" panose="02020603050405020304" pitchFamily="18" charset="0"/>
                <a:cs typeface="Times New Roman" panose="02020603050405020304" pitchFamily="18" charset="0"/>
              </a:rPr>
              <a:t>EAR Regression: R2=-0.0, RMSE=287.22. </a:t>
            </a:r>
            <a:r>
              <a:rPr lang="en-IN" sz="2000" dirty="0">
                <a:latin typeface="Times New Roman" panose="02020603050405020304" pitchFamily="18" charset="0"/>
                <a:cs typeface="Times New Roman" panose="02020603050405020304" pitchFamily="18" charset="0"/>
              </a:rPr>
              <a:t>The</a:t>
            </a:r>
            <a:r>
              <a:rPr lang="en-IN" sz="2000" b="1" dirty="0">
                <a:solidFill>
                  <a:schemeClr val="accent2">
                    <a:lumMod val="75000"/>
                  </a:schemeClr>
                </a:solidFill>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decision tree showed the highest forecasting variance, while the </a:t>
            </a:r>
            <a:r>
              <a:rPr lang="en-IN" sz="2000" dirty="0" err="1">
                <a:latin typeface="Times New Roman" panose="02020603050405020304" pitchFamily="18" charset="0"/>
                <a:cs typeface="Times New Roman" panose="02020603050405020304" pitchFamily="18" charset="0"/>
              </a:rPr>
              <a:t>Ensembling</a:t>
            </a:r>
            <a:r>
              <a:rPr lang="en-IN" sz="2000" dirty="0">
                <a:latin typeface="Times New Roman" panose="02020603050405020304" pitchFamily="18" charset="0"/>
                <a:cs typeface="Times New Roman" panose="02020603050405020304" pitchFamily="18" charset="0"/>
              </a:rPr>
              <a:t> learning model performed better on enterprise-scale datasets.</a:t>
            </a:r>
            <a:endParaRPr lang="en-IN" sz="2000" b="1" dirty="0">
              <a:solidFill>
                <a:schemeClr val="accent2">
                  <a:lumMod val="75000"/>
                </a:schemeClr>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361DC183-07AE-409A-AB63-34A0C77B60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90464369-70FA-42AF-948F-80664CA7BF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2146816"/>
          </a:xfrm>
          <a:prstGeom prst="rect">
            <a:avLst/>
          </a:prstGeom>
          <a:solidFill>
            <a:schemeClr val="bg1">
              <a:lumMod val="8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33" y="1"/>
            <a:ext cx="5411585" cy="1068636"/>
          </a:xfrm>
        </p:spPr>
        <p:txBody>
          <a:bodyPr anchor="b">
            <a:normAutofit/>
          </a:bodyPr>
          <a:lstStyle/>
          <a:p>
            <a:r>
              <a:rPr lang="en-IN" sz="4200" b="1" dirty="0">
                <a:latin typeface="Times New Roman" panose="02020603050405020304" pitchFamily="18" charset="0"/>
                <a:cs typeface="Times New Roman" panose="02020603050405020304" pitchFamily="18" charset="0"/>
              </a:rPr>
              <a:t>Forecasting Summary</a:t>
            </a:r>
          </a:p>
        </p:txBody>
      </p:sp>
      <p:sp>
        <p:nvSpPr>
          <p:cNvPr id="3" name="Content Placeholder 2"/>
          <p:cNvSpPr>
            <a:spLocks noGrp="1"/>
          </p:cNvSpPr>
          <p:nvPr>
            <p:ph idx="1"/>
          </p:nvPr>
        </p:nvSpPr>
        <p:spPr>
          <a:xfrm>
            <a:off x="0" y="1068638"/>
            <a:ext cx="5338605" cy="5140970"/>
          </a:xfrm>
        </p:spPr>
        <p:txBody>
          <a:bodyPr anchor="ctr">
            <a:normAutofit lnSpcReduction="10000"/>
          </a:bodyPr>
          <a:lstStyle/>
          <a:p>
            <a:pPr algn="just">
              <a:lnSpc>
                <a:spcPct val="90000"/>
              </a:lnSpc>
            </a:pPr>
            <a:r>
              <a:rPr lang="en-US" sz="1800" dirty="0">
                <a:latin typeface="Times New Roman" panose="02020603050405020304" pitchFamily="18" charset="0"/>
                <a:cs typeface="Times New Roman" panose="02020603050405020304" pitchFamily="18" charset="0"/>
              </a:rPr>
              <a:t>The analysis shows a strong upward growth trend in future business performance, with predicted revenues ranging from approximately </a:t>
            </a:r>
            <a:r>
              <a:rPr lang="en-US" sz="1800" b="1" dirty="0">
                <a:solidFill>
                  <a:schemeClr val="accent2">
                    <a:lumMod val="75000"/>
                  </a:schemeClr>
                </a:solidFill>
                <a:latin typeface="Times New Roman" panose="02020603050405020304" pitchFamily="18" charset="0"/>
                <a:cs typeface="Times New Roman" panose="02020603050405020304" pitchFamily="18" charset="0"/>
              </a:rPr>
              <a:t>$457 million to $712 million</a:t>
            </a:r>
            <a:r>
              <a:rPr lang="en-US" sz="1800" dirty="0">
                <a:latin typeface="Times New Roman" panose="02020603050405020304" pitchFamily="18" charset="0"/>
                <a:cs typeface="Times New Roman" panose="02020603050405020304" pitchFamily="18" charset="0"/>
              </a:rPr>
              <a:t>. The highest forecast is nearly </a:t>
            </a:r>
            <a:r>
              <a:rPr lang="en-US" sz="1800" b="1" dirty="0">
                <a:solidFill>
                  <a:schemeClr val="accent2">
                    <a:lumMod val="75000"/>
                  </a:schemeClr>
                </a:solidFill>
                <a:latin typeface="Times New Roman" panose="02020603050405020304" pitchFamily="18" charset="0"/>
                <a:cs typeface="Times New Roman" panose="02020603050405020304" pitchFamily="18" charset="0"/>
              </a:rPr>
              <a:t>$711.6 million</a:t>
            </a:r>
            <a:r>
              <a:rPr lang="en-US" sz="1800" dirty="0">
                <a:latin typeface="Times New Roman" panose="02020603050405020304" pitchFamily="18" charset="0"/>
                <a:cs typeface="Times New Roman" panose="02020603050405020304" pitchFamily="18" charset="0"/>
              </a:rPr>
              <a:t>, indicating substantial market scalability and enterprise expansion potential.</a:t>
            </a:r>
          </a:p>
          <a:p>
            <a:pPr algn="just">
              <a:lnSpc>
                <a:spcPct val="90000"/>
              </a:lnSpc>
            </a:pPr>
            <a:r>
              <a:rPr lang="en-US" sz="1800" dirty="0">
                <a:latin typeface="Times New Roman" panose="02020603050405020304" pitchFamily="18" charset="0"/>
                <a:cs typeface="Times New Roman" panose="02020603050405020304" pitchFamily="18" charset="0"/>
              </a:rPr>
              <a:t>Estimated </a:t>
            </a:r>
            <a:r>
              <a:rPr lang="en-US" sz="1800" b="1" dirty="0">
                <a:solidFill>
                  <a:schemeClr val="accent2">
                    <a:lumMod val="75000"/>
                  </a:schemeClr>
                </a:solidFill>
                <a:latin typeface="Times New Roman" panose="02020603050405020304" pitchFamily="18" charset="0"/>
                <a:cs typeface="Times New Roman" panose="02020603050405020304" pitchFamily="18" charset="0"/>
              </a:rPr>
              <a:t>business growth </a:t>
            </a:r>
            <a:r>
              <a:rPr lang="en-US" sz="1800" dirty="0">
                <a:latin typeface="Times New Roman" panose="02020603050405020304" pitchFamily="18" charset="0"/>
                <a:cs typeface="Times New Roman" panose="02020603050405020304" pitchFamily="18" charset="0"/>
              </a:rPr>
              <a:t>is around </a:t>
            </a:r>
            <a:r>
              <a:rPr lang="en-US" sz="1800" b="1" dirty="0">
                <a:solidFill>
                  <a:schemeClr val="accent2">
                    <a:lumMod val="75000"/>
                  </a:schemeClr>
                </a:solidFill>
                <a:latin typeface="Times New Roman" panose="02020603050405020304" pitchFamily="18" charset="0"/>
                <a:cs typeface="Times New Roman" panose="02020603050405020304" pitchFamily="18" charset="0"/>
              </a:rPr>
              <a:t>15% to 20%, </a:t>
            </a:r>
            <a:r>
              <a:rPr lang="en-US" sz="1800" dirty="0">
                <a:latin typeface="Times New Roman" panose="02020603050405020304" pitchFamily="18" charset="0"/>
                <a:cs typeface="Times New Roman" panose="02020603050405020304" pitchFamily="18" charset="0"/>
              </a:rPr>
              <a:t>driven by rising customer demand, workforce productivity, and operational efficiency. </a:t>
            </a:r>
            <a:r>
              <a:rPr lang="en-US" sz="1800" b="1" dirty="0">
                <a:solidFill>
                  <a:schemeClr val="accent2">
                    <a:lumMod val="75000"/>
                  </a:schemeClr>
                </a:solidFill>
                <a:latin typeface="Times New Roman" panose="02020603050405020304" pitchFamily="18" charset="0"/>
                <a:cs typeface="Times New Roman" panose="02020603050405020304" pitchFamily="18" charset="0"/>
              </a:rPr>
              <a:t>Revenue has strong correlations with employees (0.82) and customers (0.76), </a:t>
            </a:r>
            <a:r>
              <a:rPr lang="en-US" sz="1800" dirty="0">
                <a:latin typeface="Times New Roman" panose="02020603050405020304" pitchFamily="18" charset="0"/>
                <a:cs typeface="Times New Roman" panose="02020603050405020304" pitchFamily="18" charset="0"/>
              </a:rPr>
              <a:t>highlighting the importance of workforce expansion and customer acquisition.</a:t>
            </a:r>
          </a:p>
          <a:p>
            <a:pPr algn="just">
              <a:lnSpc>
                <a:spcPct val="90000"/>
              </a:lnSpc>
            </a:pPr>
            <a:r>
              <a:rPr lang="en-US" sz="1800" dirty="0">
                <a:latin typeface="Times New Roman" panose="02020603050405020304" pitchFamily="18" charset="0"/>
                <a:cs typeface="Times New Roman" panose="02020603050405020304" pitchFamily="18" charset="0"/>
              </a:rPr>
              <a:t>Over 15,000 enterprise records were analyzed, with the </a:t>
            </a:r>
            <a:r>
              <a:rPr lang="en-US" sz="1800" b="1" dirty="0">
                <a:solidFill>
                  <a:schemeClr val="accent2">
                    <a:lumMod val="75000"/>
                  </a:schemeClr>
                </a:solidFill>
                <a:latin typeface="Times New Roman" panose="02020603050405020304" pitchFamily="18" charset="0"/>
                <a:cs typeface="Times New Roman" panose="02020603050405020304" pitchFamily="18" charset="0"/>
              </a:rPr>
              <a:t>Technology sector</a:t>
            </a:r>
            <a:r>
              <a:rPr lang="en-US" sz="1800" dirty="0">
                <a:latin typeface="Times New Roman" panose="02020603050405020304" pitchFamily="18" charset="0"/>
                <a:cs typeface="Times New Roman" panose="02020603050405020304" pitchFamily="18" charset="0"/>
              </a:rPr>
              <a:t> representing </a:t>
            </a:r>
            <a:r>
              <a:rPr lang="en-US" sz="1800" b="1" dirty="0">
                <a:solidFill>
                  <a:schemeClr val="accent2">
                    <a:lumMod val="75000"/>
                  </a:schemeClr>
                </a:solidFill>
                <a:latin typeface="Times New Roman" panose="02020603050405020304" pitchFamily="18" charset="0"/>
                <a:cs typeface="Times New Roman" panose="02020603050405020304" pitchFamily="18" charset="0"/>
              </a:rPr>
              <a:t>nearly 32% of market share</a:t>
            </a:r>
            <a:r>
              <a:rPr lang="en-US" sz="1800" dirty="0">
                <a:latin typeface="Times New Roman" panose="02020603050405020304" pitchFamily="18" charset="0"/>
                <a:cs typeface="Times New Roman" panose="02020603050405020304" pitchFamily="18" charset="0"/>
              </a:rPr>
              <a:t>. Around </a:t>
            </a:r>
            <a:r>
              <a:rPr lang="en-US" sz="1800" b="1" dirty="0">
                <a:solidFill>
                  <a:schemeClr val="accent2">
                    <a:lumMod val="75000"/>
                  </a:schemeClr>
                </a:solidFill>
                <a:latin typeface="Times New Roman" panose="02020603050405020304" pitchFamily="18" charset="0"/>
                <a:cs typeface="Times New Roman" panose="02020603050405020304" pitchFamily="18" charset="0"/>
              </a:rPr>
              <a:t>750 operational anomalies </a:t>
            </a:r>
            <a:r>
              <a:rPr lang="en-US" sz="1800" dirty="0">
                <a:latin typeface="Times New Roman" panose="02020603050405020304" pitchFamily="18" charset="0"/>
                <a:cs typeface="Times New Roman" panose="02020603050405020304" pitchFamily="18" charset="0"/>
              </a:rPr>
              <a:t>were detected, pointing to areas needing risk monitoring. </a:t>
            </a:r>
          </a:p>
          <a:p>
            <a:pPr algn="just">
              <a:lnSpc>
                <a:spcPct val="90000"/>
              </a:lnSpc>
            </a:pPr>
            <a:r>
              <a:rPr lang="en-US" sz="1800" dirty="0">
                <a:latin typeface="Times New Roman" panose="02020603050405020304" pitchFamily="18" charset="0"/>
                <a:cs typeface="Times New Roman" panose="02020603050405020304" pitchFamily="18" charset="0"/>
              </a:rPr>
              <a:t>This forecasting pipeline offers actionable business intelligence for investment planning and strategic decision-making, reducing uncertainty in future market conditions.</a:t>
            </a:r>
          </a:p>
        </p:txBody>
      </p:sp>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4186644" y="1760836"/>
            <a:ext cx="524256" cy="889754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CC552A98-EF7D-4D42-AB69-066B786AB5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1585" y="399675"/>
            <a:ext cx="3485526" cy="580993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chart_forecast.png"/>
          <p:cNvPicPr>
            <a:picLocks noChangeAspect="1"/>
          </p:cNvPicPr>
          <p:nvPr/>
        </p:nvPicPr>
        <p:blipFill>
          <a:blip r:embed="rId2"/>
          <a:stretch>
            <a:fillRect/>
          </a:stretch>
        </p:blipFill>
        <p:spPr>
          <a:xfrm rot="16200000">
            <a:off x="4477661" y="1799004"/>
            <a:ext cx="5353373" cy="3011272"/>
          </a:xfrm>
          <a:prstGeom prst="rect">
            <a:avLst/>
          </a:prstGeom>
        </p:spPr>
      </p:pic>
      <p:sp>
        <p:nvSpPr>
          <p:cNvPr id="26" name="Rectangle 25">
            <a:extLst>
              <a:ext uri="{FF2B5EF4-FFF2-40B4-BE49-F238E27FC236}">
                <a16:creationId xmlns:a16="http://schemas.microsoft.com/office/drawing/2014/main" id="{A648176E-454C-437C-B0FC-9B82FCF32B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765107" y="6150940"/>
            <a:ext cx="524256" cy="11428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3FBC17-33DB-E8A8-A9C9-A82741050FB1}"/>
              </a:ext>
            </a:extLst>
          </p:cNvPr>
          <p:cNvSpPr>
            <a:spLocks noGrp="1"/>
          </p:cNvSpPr>
          <p:nvPr>
            <p:ph type="title"/>
          </p:nvPr>
        </p:nvSpPr>
        <p:spPr>
          <a:xfrm>
            <a:off x="0" y="0"/>
            <a:ext cx="5078778" cy="1164771"/>
          </a:xfrm>
        </p:spPr>
        <p:txBody>
          <a:bodyPr anchor="ctr">
            <a:normAutofit/>
          </a:bodyPr>
          <a:lstStyle/>
          <a:p>
            <a:r>
              <a:rPr lang="en-IN" sz="3500" b="1" dirty="0">
                <a:latin typeface="Times New Roman" panose="02020603050405020304" pitchFamily="18" charset="0"/>
                <a:cs typeface="Times New Roman" panose="02020603050405020304" pitchFamily="18" charset="0"/>
              </a:rPr>
              <a:t>Executive Summary</a:t>
            </a:r>
          </a:p>
        </p:txBody>
      </p:sp>
      <p:sp>
        <p:nvSpPr>
          <p:cNvPr id="3" name="Content Placeholder 2">
            <a:extLst>
              <a:ext uri="{FF2B5EF4-FFF2-40B4-BE49-F238E27FC236}">
                <a16:creationId xmlns:a16="http://schemas.microsoft.com/office/drawing/2014/main" id="{22575478-92AD-1BD9-3DAF-0914B4913498}"/>
              </a:ext>
            </a:extLst>
          </p:cNvPr>
          <p:cNvSpPr>
            <a:spLocks noGrp="1"/>
          </p:cNvSpPr>
          <p:nvPr>
            <p:ph idx="1"/>
          </p:nvPr>
        </p:nvSpPr>
        <p:spPr>
          <a:xfrm>
            <a:off x="110170" y="1164771"/>
            <a:ext cx="4858438" cy="5693229"/>
          </a:xfrm>
        </p:spPr>
        <p:txBody>
          <a:bodyPr anchor="t">
            <a:normAutofit fontScale="85000" lnSpcReduction="10000"/>
          </a:bodyPr>
          <a:lstStyle/>
          <a:p>
            <a:pPr algn="just">
              <a:lnSpc>
                <a:spcPct val="90000"/>
              </a:lnSpc>
            </a:pPr>
            <a:r>
              <a:rPr lang="en-US" sz="2000" dirty="0">
                <a:latin typeface="Times New Roman" panose="02020603050405020304" pitchFamily="18" charset="0"/>
                <a:cs typeface="Times New Roman" panose="02020603050405020304" pitchFamily="18" charset="0"/>
              </a:rPr>
              <a:t>The analysis identified several major business trends and performance indicators across industries and regions.</a:t>
            </a:r>
            <a:endParaRPr lang="en-US" sz="2000" b="1" dirty="0">
              <a:latin typeface="Times New Roman" panose="02020603050405020304" pitchFamily="18" charset="0"/>
              <a:cs typeface="Times New Roman" panose="02020603050405020304" pitchFamily="18" charset="0"/>
            </a:endParaRPr>
          </a:p>
          <a:p>
            <a:pPr algn="just">
              <a:lnSpc>
                <a:spcPct val="90000"/>
              </a:lnSpc>
            </a:pPr>
            <a:r>
              <a:rPr lang="en-US" sz="2000" dirty="0">
                <a:latin typeface="Times New Roman" panose="02020603050405020304" pitchFamily="18" charset="0"/>
                <a:cs typeface="Times New Roman" panose="02020603050405020304" pitchFamily="18" charset="0"/>
              </a:rPr>
              <a:t>The </a:t>
            </a:r>
            <a:r>
              <a:rPr lang="en-US" sz="2000" b="1" dirty="0">
                <a:solidFill>
                  <a:schemeClr val="accent2">
                    <a:lumMod val="75000"/>
                  </a:schemeClr>
                </a:solidFill>
                <a:latin typeface="Times New Roman" panose="02020603050405020304" pitchFamily="18" charset="0"/>
                <a:cs typeface="Times New Roman" panose="02020603050405020304" pitchFamily="18" charset="0"/>
              </a:rPr>
              <a:t>Technology sector contributed approximately 32%</a:t>
            </a:r>
            <a:r>
              <a:rPr lang="en-US" sz="2000" dirty="0">
                <a:solidFill>
                  <a:schemeClr val="accent2">
                    <a:lumMod val="75000"/>
                  </a:schemeClr>
                </a:solidFill>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of the overall market share, making it the strongest-performing industry. </a:t>
            </a:r>
          </a:p>
          <a:p>
            <a:pPr algn="just">
              <a:lnSpc>
                <a:spcPct val="90000"/>
              </a:lnSpc>
            </a:pPr>
            <a:r>
              <a:rPr lang="en-US" sz="2000" b="1" dirty="0">
                <a:solidFill>
                  <a:schemeClr val="accent2">
                    <a:lumMod val="75000"/>
                  </a:schemeClr>
                </a:solidFill>
                <a:latin typeface="Times New Roman" panose="02020603050405020304" pitchFamily="18" charset="0"/>
                <a:cs typeface="Times New Roman" panose="02020603050405020304" pitchFamily="18" charset="0"/>
              </a:rPr>
              <a:t>North America accounted for nearly 7,500 entities</a:t>
            </a:r>
            <a:r>
              <a:rPr lang="en-US" sz="2000" dirty="0">
                <a:latin typeface="Times New Roman" panose="02020603050405020304" pitchFamily="18" charset="0"/>
                <a:cs typeface="Times New Roman" panose="02020603050405020304" pitchFamily="18" charset="0"/>
              </a:rPr>
              <a:t>, emerging as the most dominant operational region. </a:t>
            </a:r>
          </a:p>
          <a:p>
            <a:pPr algn="just">
              <a:lnSpc>
                <a:spcPct val="90000"/>
              </a:lnSpc>
            </a:pPr>
            <a:r>
              <a:rPr lang="en-US" sz="2000" dirty="0">
                <a:latin typeface="Times New Roman" panose="02020603050405020304" pitchFamily="18" charset="0"/>
                <a:cs typeface="Times New Roman" panose="02020603050405020304" pitchFamily="18" charset="0"/>
              </a:rPr>
              <a:t>Revenue distribution was highly concentrated, with an </a:t>
            </a:r>
            <a:r>
              <a:rPr lang="en-US" sz="2000" b="1" dirty="0">
                <a:solidFill>
                  <a:schemeClr val="accent2">
                    <a:lumMod val="75000"/>
                  </a:schemeClr>
                </a:solidFill>
                <a:latin typeface="Times New Roman" panose="02020603050405020304" pitchFamily="18" charset="0"/>
                <a:cs typeface="Times New Roman" panose="02020603050405020304" pitchFamily="18" charset="0"/>
              </a:rPr>
              <a:t>average revenue of approximately $520M</a:t>
            </a:r>
            <a:r>
              <a:rPr lang="en-US" sz="2000" dirty="0">
                <a:solidFill>
                  <a:schemeClr val="accent2">
                    <a:lumMod val="75000"/>
                  </a:schemeClr>
                </a:solidFill>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and a </a:t>
            </a:r>
            <a:r>
              <a:rPr lang="en-US" sz="2000" b="1" dirty="0">
                <a:solidFill>
                  <a:schemeClr val="accent2">
                    <a:lumMod val="75000"/>
                  </a:schemeClr>
                </a:solidFill>
                <a:latin typeface="Times New Roman" panose="02020603050405020304" pitchFamily="18" charset="0"/>
                <a:cs typeface="Times New Roman" panose="02020603050405020304" pitchFamily="18" charset="0"/>
              </a:rPr>
              <a:t>median revenue near $290M</a:t>
            </a:r>
            <a:r>
              <a:rPr lang="en-US" sz="2000" dirty="0">
                <a:latin typeface="Times New Roman" panose="02020603050405020304" pitchFamily="18" charset="0"/>
                <a:cs typeface="Times New Roman" panose="02020603050405020304" pitchFamily="18" charset="0"/>
              </a:rPr>
              <a:t>, indicating that a small number of companies dominate the market. </a:t>
            </a:r>
          </a:p>
          <a:p>
            <a:pPr algn="just">
              <a:lnSpc>
                <a:spcPct val="90000"/>
              </a:lnSpc>
            </a:pPr>
            <a:r>
              <a:rPr lang="en-US" sz="2000" dirty="0">
                <a:latin typeface="Times New Roman" panose="02020603050405020304" pitchFamily="18" charset="0"/>
                <a:cs typeface="Times New Roman" panose="02020603050405020304" pitchFamily="18" charset="0"/>
              </a:rPr>
              <a:t>Customer count showed a </a:t>
            </a:r>
            <a:r>
              <a:rPr lang="en-US" sz="2000" b="1" dirty="0">
                <a:solidFill>
                  <a:schemeClr val="accent2">
                    <a:lumMod val="75000"/>
                  </a:schemeClr>
                </a:solidFill>
                <a:latin typeface="Times New Roman" panose="02020603050405020304" pitchFamily="18" charset="0"/>
                <a:cs typeface="Times New Roman" panose="02020603050405020304" pitchFamily="18" charset="0"/>
              </a:rPr>
              <a:t>strong correlation of 0.76 with revenue</a:t>
            </a:r>
            <a:r>
              <a:rPr lang="en-US" sz="2000" dirty="0">
                <a:latin typeface="Times New Roman" panose="02020603050405020304" pitchFamily="18" charset="0"/>
                <a:cs typeface="Times New Roman" panose="02020603050405020304" pitchFamily="18" charset="0"/>
              </a:rPr>
              <a:t>, highlighting customer growth as a major revenue driver. </a:t>
            </a:r>
          </a:p>
          <a:p>
            <a:pPr algn="just">
              <a:lnSpc>
                <a:spcPct val="90000"/>
              </a:lnSpc>
            </a:pPr>
            <a:r>
              <a:rPr lang="en-US" sz="2000" dirty="0">
                <a:latin typeface="Times New Roman" panose="02020603050405020304" pitchFamily="18" charset="0"/>
                <a:cs typeface="Times New Roman" panose="02020603050405020304" pitchFamily="18" charset="0"/>
              </a:rPr>
              <a:t>Employee count demonstrated an even stronger </a:t>
            </a:r>
            <a:r>
              <a:rPr lang="en-US" sz="2000" b="1" dirty="0">
                <a:solidFill>
                  <a:schemeClr val="accent2">
                    <a:lumMod val="75000"/>
                  </a:schemeClr>
                </a:solidFill>
                <a:latin typeface="Times New Roman" panose="02020603050405020304" pitchFamily="18" charset="0"/>
                <a:cs typeface="Times New Roman" panose="02020603050405020304" pitchFamily="18" charset="0"/>
              </a:rPr>
              <a:t>correlation of 0.82 with revenue</a:t>
            </a:r>
            <a:r>
              <a:rPr lang="en-US" sz="2000" dirty="0">
                <a:latin typeface="Times New Roman" panose="02020603050405020304" pitchFamily="18" charset="0"/>
                <a:cs typeface="Times New Roman" panose="02020603050405020304" pitchFamily="18" charset="0"/>
              </a:rPr>
              <a:t>, emphasizing the importance of workforce scalability. </a:t>
            </a:r>
          </a:p>
          <a:p>
            <a:pPr algn="just">
              <a:lnSpc>
                <a:spcPct val="90000"/>
              </a:lnSpc>
            </a:pPr>
            <a:r>
              <a:rPr lang="en-US" sz="2000" dirty="0">
                <a:latin typeface="Times New Roman" panose="02020603050405020304" pitchFamily="18" charset="0"/>
                <a:cs typeface="Times New Roman" panose="02020603050405020304" pitchFamily="18" charset="0"/>
              </a:rPr>
              <a:t>Approximately </a:t>
            </a:r>
            <a:r>
              <a:rPr lang="en-US" sz="2000" b="1" dirty="0">
                <a:solidFill>
                  <a:schemeClr val="accent2">
                    <a:lumMod val="75000"/>
                  </a:schemeClr>
                </a:solidFill>
                <a:latin typeface="Times New Roman" panose="02020603050405020304" pitchFamily="18" charset="0"/>
                <a:cs typeface="Times New Roman" panose="02020603050405020304" pitchFamily="18" charset="0"/>
              </a:rPr>
              <a:t>750 operational anomalies</a:t>
            </a:r>
            <a:r>
              <a:rPr lang="en-US" sz="2000" dirty="0">
                <a:solidFill>
                  <a:schemeClr val="accent2">
                    <a:lumMod val="75000"/>
                  </a:schemeClr>
                </a:solidFill>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were detected through Isolation Forest algorithms. </a:t>
            </a:r>
          </a:p>
          <a:p>
            <a:pPr algn="just">
              <a:lnSpc>
                <a:spcPct val="90000"/>
              </a:lnSpc>
            </a:pPr>
            <a:r>
              <a:rPr lang="en-US" sz="2000" dirty="0">
                <a:latin typeface="Times New Roman" panose="02020603050405020304" pitchFamily="18" charset="0"/>
                <a:cs typeface="Times New Roman" panose="02020603050405020304" pitchFamily="18" charset="0"/>
              </a:rPr>
              <a:t>The project successfully combines statistical analytics and machine learning to improve business intelligence and forecasting capabilities.</a:t>
            </a:r>
          </a:p>
          <a:p>
            <a:pPr>
              <a:lnSpc>
                <a:spcPct val="90000"/>
              </a:lnSpc>
            </a:pPr>
            <a:endParaRPr lang="en-IN" sz="1100" dirty="0"/>
          </a:p>
        </p:txBody>
      </p:sp>
      <p:pic>
        <p:nvPicPr>
          <p:cNvPr id="5" name="Picture 4" descr="Digital financial graph">
            <a:extLst>
              <a:ext uri="{FF2B5EF4-FFF2-40B4-BE49-F238E27FC236}">
                <a16:creationId xmlns:a16="http://schemas.microsoft.com/office/drawing/2014/main" id="{8690098E-168A-5640-A266-737A97AA7549}"/>
              </a:ext>
            </a:extLst>
          </p:cNvPr>
          <p:cNvPicPr>
            <a:picLocks noChangeAspect="1"/>
          </p:cNvPicPr>
          <p:nvPr/>
        </p:nvPicPr>
        <p:blipFill>
          <a:blip r:embed="rId2"/>
          <a:srcRect l="41263" r="25975" b="-1"/>
          <a:stretch>
            <a:fillRect/>
          </a:stretch>
        </p:blipFill>
        <p:spPr>
          <a:xfrm>
            <a:off x="5143347" y="-10886"/>
            <a:ext cx="4000653"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30029969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AC6B390-BC59-4F1D-A0EE-D71A92F0A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Freeform: Shape 10">
            <a:extLst>
              <a:ext uri="{FF2B5EF4-FFF2-40B4-BE49-F238E27FC236}">
                <a16:creationId xmlns:a16="http://schemas.microsoft.com/office/drawing/2014/main" id="{B6C60D79-16F1-4C4B-B7E3-7634E7069C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39352" y="5486400"/>
            <a:ext cx="2004648"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Picture 3" descr="chart_industry_counts.png"/>
          <p:cNvPicPr>
            <a:picLocks noChangeAspect="1"/>
          </p:cNvPicPr>
          <p:nvPr/>
        </p:nvPicPr>
        <p:blipFill>
          <a:blip r:embed="rId2"/>
          <a:stretch>
            <a:fillRect/>
          </a:stretch>
        </p:blipFill>
        <p:spPr>
          <a:xfrm rot="5400000">
            <a:off x="4585618" y="1379714"/>
            <a:ext cx="4968606" cy="3244772"/>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13" name="Arc 12">
            <a:extLst>
              <a:ext uri="{FF2B5EF4-FFF2-40B4-BE49-F238E27FC236}">
                <a16:creationId xmlns:a16="http://schemas.microsoft.com/office/drawing/2014/main" id="{426B127E-6498-4C77-9C9D-4553A5113B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1537" y="650160"/>
            <a:ext cx="2240924"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0" y="0"/>
            <a:ext cx="4571999" cy="1386415"/>
          </a:xfrm>
        </p:spPr>
        <p:txBody>
          <a:bodyPr>
            <a:normAutofit/>
          </a:bodyPr>
          <a:lstStyle/>
          <a:p>
            <a:pPr>
              <a:lnSpc>
                <a:spcPct val="90000"/>
              </a:lnSpc>
            </a:pPr>
            <a:r>
              <a:rPr b="1" dirty="0">
                <a:latin typeface="Times New Roman" panose="02020603050405020304" pitchFamily="18" charset="0"/>
                <a:cs typeface="Times New Roman" panose="02020603050405020304" pitchFamily="18" charset="0"/>
              </a:rPr>
              <a:t>Key Categorical Insights</a:t>
            </a:r>
            <a:endParaRPr lang="en-IN"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2" y="1386414"/>
            <a:ext cx="5100812" cy="5471585"/>
          </a:xfrm>
        </p:spPr>
        <p:txBody>
          <a:bodyPr>
            <a:normAutofit lnSpcReduction="10000"/>
          </a:bodyPr>
          <a:lstStyle/>
          <a:p>
            <a:pPr algn="just">
              <a:lnSpc>
                <a:spcPct val="90000"/>
              </a:lnSpc>
            </a:pPr>
            <a:r>
              <a:rPr lang="en-US" sz="2000" dirty="0">
                <a:latin typeface="Times New Roman" panose="02020603050405020304" pitchFamily="18" charset="0"/>
                <a:cs typeface="Times New Roman" panose="02020603050405020304" pitchFamily="18" charset="0"/>
              </a:rPr>
              <a:t>Prominent Industries: The </a:t>
            </a:r>
            <a:r>
              <a:rPr lang="en-US" sz="2000" b="1" dirty="0">
                <a:solidFill>
                  <a:schemeClr val="accent2">
                    <a:lumMod val="75000"/>
                  </a:schemeClr>
                </a:solidFill>
                <a:latin typeface="Times New Roman" panose="02020603050405020304" pitchFamily="18" charset="0"/>
                <a:cs typeface="Times New Roman" panose="02020603050405020304" pitchFamily="18" charset="0"/>
              </a:rPr>
              <a:t>finance sector leads with 3,000 entities</a:t>
            </a:r>
            <a:r>
              <a:rPr lang="en-US" sz="2000" dirty="0">
                <a:latin typeface="Times New Roman" panose="02020603050405020304" pitchFamily="18" charset="0"/>
                <a:cs typeface="Times New Roman" panose="02020603050405020304" pitchFamily="18" charset="0"/>
              </a:rPr>
              <a:t>, highlighting its vital role in economic development. The </a:t>
            </a:r>
            <a:r>
              <a:rPr lang="en-US" sz="2000" b="1" dirty="0">
                <a:solidFill>
                  <a:schemeClr val="accent2">
                    <a:lumMod val="75000"/>
                  </a:schemeClr>
                </a:solidFill>
                <a:latin typeface="Times New Roman" panose="02020603050405020304" pitchFamily="18" charset="0"/>
                <a:cs typeface="Times New Roman" panose="02020603050405020304" pitchFamily="18" charset="0"/>
              </a:rPr>
              <a:t>technology sector, also with 3,000 entities</a:t>
            </a:r>
            <a:r>
              <a:rPr lang="en-US" sz="2000" dirty="0">
                <a:latin typeface="Times New Roman" panose="02020603050405020304" pitchFamily="18" charset="0"/>
                <a:cs typeface="Times New Roman" panose="02020603050405020304" pitchFamily="18" charset="0"/>
              </a:rPr>
              <a:t>, underscores the importance of innovation. The </a:t>
            </a:r>
            <a:r>
              <a:rPr lang="en-US" sz="2000" b="1" dirty="0">
                <a:solidFill>
                  <a:schemeClr val="accent2">
                    <a:lumMod val="75000"/>
                  </a:schemeClr>
                </a:solidFill>
                <a:latin typeface="Times New Roman" panose="02020603050405020304" pitchFamily="18" charset="0"/>
                <a:cs typeface="Times New Roman" panose="02020603050405020304" pitchFamily="18" charset="0"/>
              </a:rPr>
              <a:t>retail sector, totaling 3,000</a:t>
            </a:r>
            <a:r>
              <a:rPr lang="en-US" sz="2000" dirty="0">
                <a:latin typeface="Times New Roman" panose="02020603050405020304" pitchFamily="18" charset="0"/>
                <a:cs typeface="Times New Roman" panose="02020603050405020304" pitchFamily="18" charset="0"/>
              </a:rPr>
              <a:t>, shows the impact of consumer spending on market trends. Technology emerges as the highest- performing sector.</a:t>
            </a:r>
          </a:p>
          <a:p>
            <a:pPr algn="just">
              <a:lnSpc>
                <a:spcPct val="90000"/>
              </a:lnSpc>
            </a:pPr>
            <a:r>
              <a:rPr lang="en-US" sz="2000" dirty="0">
                <a:latin typeface="Times New Roman" panose="02020603050405020304" pitchFamily="18" charset="0"/>
                <a:cs typeface="Times New Roman" panose="02020603050405020304" pitchFamily="18" charset="0"/>
              </a:rPr>
              <a:t>Leading Countries: </a:t>
            </a:r>
            <a:r>
              <a:rPr lang="en-US" sz="2000" b="1" dirty="0">
                <a:solidFill>
                  <a:schemeClr val="accent2">
                    <a:lumMod val="75000"/>
                  </a:schemeClr>
                </a:solidFill>
                <a:latin typeface="Times New Roman" panose="02020603050405020304" pitchFamily="18" charset="0"/>
                <a:cs typeface="Times New Roman" panose="02020603050405020304" pitchFamily="18" charset="0"/>
              </a:rPr>
              <a:t>India, Germany, and Canada each contribute 3,750 entities</a:t>
            </a:r>
            <a:r>
              <a:rPr lang="en-US" sz="2000" dirty="0">
                <a:latin typeface="Times New Roman" panose="02020603050405020304" pitchFamily="18" charset="0"/>
                <a:cs typeface="Times New Roman" panose="02020603050405020304" pitchFamily="18" charset="0"/>
              </a:rPr>
              <a:t>, reflecting rapid economic growth in India, engineering strength in Germany, and economic diversity in Canada.</a:t>
            </a:r>
          </a:p>
          <a:p>
            <a:pPr algn="just">
              <a:lnSpc>
                <a:spcPct val="90000"/>
              </a:lnSpc>
            </a:pPr>
            <a:r>
              <a:rPr lang="en-US" sz="2000" dirty="0">
                <a:latin typeface="Times New Roman" panose="02020603050405020304" pitchFamily="18" charset="0"/>
                <a:cs typeface="Times New Roman" panose="02020603050405020304" pitchFamily="18" charset="0"/>
              </a:rPr>
              <a:t> Key Regions: </a:t>
            </a:r>
            <a:r>
              <a:rPr lang="en-US" sz="2000" b="1" dirty="0">
                <a:solidFill>
                  <a:schemeClr val="accent2">
                    <a:lumMod val="75000"/>
                  </a:schemeClr>
                </a:solidFill>
                <a:latin typeface="Times New Roman" panose="02020603050405020304" pitchFamily="18" charset="0"/>
                <a:cs typeface="Times New Roman" panose="02020603050405020304" pitchFamily="18" charset="0"/>
              </a:rPr>
              <a:t>North America </a:t>
            </a:r>
            <a:r>
              <a:rPr lang="en-US" sz="2000" dirty="0">
                <a:latin typeface="Times New Roman" panose="02020603050405020304" pitchFamily="18" charset="0"/>
                <a:cs typeface="Times New Roman" panose="02020603050405020304" pitchFamily="18" charset="0"/>
              </a:rPr>
              <a:t>has </a:t>
            </a:r>
            <a:r>
              <a:rPr lang="en-US" sz="2000" b="1" dirty="0">
                <a:solidFill>
                  <a:schemeClr val="accent2">
                    <a:lumMod val="75000"/>
                  </a:schemeClr>
                </a:solidFill>
                <a:latin typeface="Times New Roman" panose="02020603050405020304" pitchFamily="18" charset="0"/>
                <a:cs typeface="Times New Roman" panose="02020603050405020304" pitchFamily="18" charset="0"/>
              </a:rPr>
              <a:t>7,500 entities</a:t>
            </a:r>
            <a:r>
              <a:rPr lang="en-US" sz="2000" dirty="0">
                <a:latin typeface="Times New Roman" panose="02020603050405020304" pitchFamily="18" charset="0"/>
                <a:cs typeface="Times New Roman" panose="02020603050405020304" pitchFamily="18" charset="0"/>
              </a:rPr>
              <a:t>, driven by technological advancements and diverse financial services. </a:t>
            </a:r>
            <a:r>
              <a:rPr lang="en-US" sz="2000" b="1" dirty="0">
                <a:solidFill>
                  <a:schemeClr val="accent2">
                    <a:lumMod val="75000"/>
                  </a:schemeClr>
                </a:solidFill>
                <a:latin typeface="Times New Roman" panose="02020603050405020304" pitchFamily="18" charset="0"/>
                <a:cs typeface="Times New Roman" panose="02020603050405020304" pitchFamily="18" charset="0"/>
              </a:rPr>
              <a:t>Asia and Europe </a:t>
            </a:r>
            <a:r>
              <a:rPr lang="en-US" sz="2000" dirty="0">
                <a:latin typeface="Times New Roman" panose="02020603050405020304" pitchFamily="18" charset="0"/>
                <a:cs typeface="Times New Roman" panose="02020603050405020304" pitchFamily="18" charset="0"/>
              </a:rPr>
              <a:t>each contribute </a:t>
            </a:r>
            <a:r>
              <a:rPr lang="en-US" sz="2000" b="1" dirty="0">
                <a:solidFill>
                  <a:schemeClr val="accent2">
                    <a:lumMod val="75000"/>
                  </a:schemeClr>
                </a:solidFill>
                <a:latin typeface="Times New Roman" panose="02020603050405020304" pitchFamily="18" charset="0"/>
                <a:cs typeface="Times New Roman" panose="02020603050405020304" pitchFamily="18" charset="0"/>
              </a:rPr>
              <a:t>3,750 entities</a:t>
            </a:r>
            <a:r>
              <a:rPr lang="en-US" sz="2000" dirty="0">
                <a:latin typeface="Times New Roman" panose="02020603050405020304" pitchFamily="18" charset="0"/>
                <a:cs typeface="Times New Roman" panose="02020603050405020304" pitchFamily="18" charset="0"/>
              </a:rPr>
              <a:t>, showcasing dynamic economies and historical significance in global finance.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F837543A-6020-4505-A233-C9DB4BF740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F3EABD-9054-90A3-AF6D-8A6114D821B6}"/>
              </a:ext>
            </a:extLst>
          </p:cNvPr>
          <p:cNvSpPr>
            <a:spLocks noGrp="1"/>
          </p:cNvSpPr>
          <p:nvPr>
            <p:ph type="title"/>
          </p:nvPr>
        </p:nvSpPr>
        <p:spPr>
          <a:xfrm>
            <a:off x="2286" y="0"/>
            <a:ext cx="5113696" cy="1016657"/>
          </a:xfrm>
        </p:spPr>
        <p:txBody>
          <a:bodyPr>
            <a:normAutofit/>
          </a:bodyPr>
          <a:lstStyle/>
          <a:p>
            <a:r>
              <a:rPr lang="en-IN" b="1" dirty="0">
                <a:latin typeface="Times New Roman" panose="02020603050405020304" pitchFamily="18" charset="0"/>
                <a:cs typeface="Times New Roman" panose="02020603050405020304" pitchFamily="18" charset="0"/>
              </a:rPr>
              <a:t>Key Insights</a:t>
            </a:r>
          </a:p>
        </p:txBody>
      </p:sp>
      <p:sp>
        <p:nvSpPr>
          <p:cNvPr id="16" name="Freeform: Shape 15">
            <a:extLst>
              <a:ext uri="{FF2B5EF4-FFF2-40B4-BE49-F238E27FC236}">
                <a16:creationId xmlns:a16="http://schemas.microsoft.com/office/drawing/2014/main" id="{35B16301-FB18-48BA-A6DD-C37CAF6F9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656521" y="1"/>
            <a:ext cx="851299"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a:extLst>
              <a:ext uri="{FF2B5EF4-FFF2-40B4-BE49-F238E27FC236}">
                <a16:creationId xmlns:a16="http://schemas.microsoft.com/office/drawing/2014/main" id="{C429DCF2-1375-9921-AFF9-ED99AA2EE669}"/>
              </a:ext>
            </a:extLst>
          </p:cNvPr>
          <p:cNvSpPr>
            <a:spLocks noGrp="1"/>
          </p:cNvSpPr>
          <p:nvPr>
            <p:ph idx="1"/>
          </p:nvPr>
        </p:nvSpPr>
        <p:spPr>
          <a:xfrm>
            <a:off x="2286" y="1016656"/>
            <a:ext cx="5113696" cy="5841343"/>
          </a:xfrm>
        </p:spPr>
        <p:txBody>
          <a:bodyPr>
            <a:normAutofit lnSpcReduction="10000"/>
          </a:bodyPr>
          <a:lstStyle/>
          <a:p>
            <a:pPr algn="just">
              <a:lnSpc>
                <a:spcPct val="90000"/>
              </a:lnSpc>
            </a:pPr>
            <a:r>
              <a:rPr lang="en-US" sz="1900" dirty="0">
                <a:latin typeface="Times New Roman" panose="02020603050405020304" pitchFamily="18" charset="0"/>
                <a:cs typeface="Times New Roman" panose="02020603050405020304" pitchFamily="18" charset="0"/>
              </a:rPr>
              <a:t>Revenue distribution </a:t>
            </a:r>
            <a:r>
              <a:rPr lang="en-US" sz="1900" dirty="0">
                <a:solidFill>
                  <a:schemeClr val="accent2">
                    <a:lumMod val="75000"/>
                  </a:schemeClr>
                </a:solidFill>
                <a:latin typeface="Times New Roman" panose="02020603050405020304" pitchFamily="18" charset="0"/>
                <a:cs typeface="Times New Roman" panose="02020603050405020304" pitchFamily="18" charset="0"/>
              </a:rPr>
              <a:t>is </a:t>
            </a:r>
            <a:r>
              <a:rPr lang="en-US" sz="1900" b="1" dirty="0">
                <a:solidFill>
                  <a:schemeClr val="accent2">
                    <a:lumMod val="75000"/>
                  </a:schemeClr>
                </a:solidFill>
                <a:latin typeface="Times New Roman" panose="02020603050405020304" pitchFamily="18" charset="0"/>
                <a:cs typeface="Times New Roman" panose="02020603050405020304" pitchFamily="18" charset="0"/>
              </a:rPr>
              <a:t>highly skewed, with a mean ≈ 520M and a median ≈ 290M</a:t>
            </a:r>
            <a:r>
              <a:rPr lang="en-US" sz="1900" dirty="0">
                <a:latin typeface="Times New Roman" panose="02020603050405020304" pitchFamily="18" charset="0"/>
                <a:cs typeface="Times New Roman" panose="02020603050405020304" pitchFamily="18" charset="0"/>
              </a:rPr>
              <a:t>, showing that few companies dominate the market. Profit margins vary widely, with an </a:t>
            </a:r>
            <a:r>
              <a:rPr lang="en-US" sz="1900" b="1" dirty="0">
                <a:solidFill>
                  <a:schemeClr val="accent2">
                    <a:lumMod val="75000"/>
                  </a:schemeClr>
                </a:solidFill>
                <a:latin typeface="Times New Roman" panose="02020603050405020304" pitchFamily="18" charset="0"/>
                <a:cs typeface="Times New Roman" panose="02020603050405020304" pitchFamily="18" charset="0"/>
              </a:rPr>
              <a:t>average ≈ 14.6% and a maximum ≈ 48.2%,</a:t>
            </a:r>
            <a:r>
              <a:rPr lang="en-US" sz="1900" b="1" dirty="0">
                <a:latin typeface="Times New Roman" panose="02020603050405020304" pitchFamily="18" charset="0"/>
                <a:cs typeface="Times New Roman" panose="02020603050405020304" pitchFamily="18" charset="0"/>
              </a:rPr>
              <a:t> </a:t>
            </a:r>
            <a:r>
              <a:rPr lang="en-US" sz="1900" dirty="0">
                <a:latin typeface="Times New Roman" panose="02020603050405020304" pitchFamily="18" charset="0"/>
                <a:cs typeface="Times New Roman" panose="02020603050405020304" pitchFamily="18" charset="0"/>
              </a:rPr>
              <a:t>indicating big differences in operational efficiency</a:t>
            </a:r>
          </a:p>
          <a:p>
            <a:pPr algn="just">
              <a:lnSpc>
                <a:spcPct val="90000"/>
              </a:lnSpc>
            </a:pPr>
            <a:r>
              <a:rPr lang="en-US" sz="1900" dirty="0">
                <a:latin typeface="Times New Roman" panose="02020603050405020304" pitchFamily="18" charset="0"/>
                <a:cs typeface="Times New Roman" panose="02020603050405020304" pitchFamily="18" charset="0"/>
              </a:rPr>
              <a:t>Customer count shows a </a:t>
            </a:r>
            <a:r>
              <a:rPr lang="en-US" sz="1900" b="1" dirty="0">
                <a:solidFill>
                  <a:schemeClr val="accent2">
                    <a:lumMod val="75000"/>
                  </a:schemeClr>
                </a:solidFill>
                <a:latin typeface="Times New Roman" panose="02020603050405020304" pitchFamily="18" charset="0"/>
                <a:cs typeface="Times New Roman" panose="02020603050405020304" pitchFamily="18" charset="0"/>
              </a:rPr>
              <a:t>strong correlation with revenue (≈ 0.76), </a:t>
            </a:r>
            <a:r>
              <a:rPr lang="en-US" sz="1900" dirty="0">
                <a:latin typeface="Times New Roman" panose="02020603050405020304" pitchFamily="18" charset="0"/>
                <a:cs typeface="Times New Roman" panose="02020603050405020304" pitchFamily="18" charset="0"/>
              </a:rPr>
              <a:t>meaning customer growth directly drives business performance.</a:t>
            </a:r>
          </a:p>
          <a:p>
            <a:pPr algn="just">
              <a:lnSpc>
                <a:spcPct val="90000"/>
              </a:lnSpc>
            </a:pPr>
            <a:r>
              <a:rPr lang="en-US" sz="1900" dirty="0">
                <a:latin typeface="Times New Roman" panose="02020603050405020304" pitchFamily="18" charset="0"/>
                <a:cs typeface="Times New Roman" panose="02020603050405020304" pitchFamily="18" charset="0"/>
              </a:rPr>
              <a:t>Employee count has a </a:t>
            </a:r>
            <a:r>
              <a:rPr lang="en-US" sz="1900" b="1" dirty="0">
                <a:solidFill>
                  <a:schemeClr val="accent2">
                    <a:lumMod val="75000"/>
                  </a:schemeClr>
                </a:solidFill>
                <a:latin typeface="Times New Roman" panose="02020603050405020304" pitchFamily="18" charset="0"/>
                <a:cs typeface="Times New Roman" panose="02020603050405020304" pitchFamily="18" charset="0"/>
              </a:rPr>
              <a:t>very high correlation with revenue (≈ 0.82)</a:t>
            </a:r>
            <a:r>
              <a:rPr lang="en-US" sz="1900" dirty="0">
                <a:latin typeface="Times New Roman" panose="02020603050405020304" pitchFamily="18" charset="0"/>
                <a:cs typeface="Times New Roman" panose="02020603050405020304" pitchFamily="18" charset="0"/>
              </a:rPr>
              <a:t>, showing that a larger workforce generally leads to higher output.</a:t>
            </a:r>
          </a:p>
          <a:p>
            <a:pPr algn="just">
              <a:lnSpc>
                <a:spcPct val="90000"/>
              </a:lnSpc>
            </a:pPr>
            <a:r>
              <a:rPr lang="en-US" sz="1900" dirty="0">
                <a:latin typeface="Times New Roman" panose="02020603050405020304" pitchFamily="18" charset="0"/>
                <a:cs typeface="Times New Roman" panose="02020603050405020304" pitchFamily="18" charset="0"/>
              </a:rPr>
              <a:t>The boxplots reveal multiple outliers, including up to </a:t>
            </a:r>
            <a:r>
              <a:rPr lang="en-US" sz="1900" b="1" dirty="0">
                <a:solidFill>
                  <a:schemeClr val="accent2">
                    <a:lumMod val="75000"/>
                  </a:schemeClr>
                </a:solidFill>
                <a:latin typeface="Times New Roman" panose="02020603050405020304" pitchFamily="18" charset="0"/>
                <a:cs typeface="Times New Roman" panose="02020603050405020304" pitchFamily="18" charset="0"/>
              </a:rPr>
              <a:t>18 extreme revenue observations</a:t>
            </a:r>
            <a:r>
              <a:rPr lang="en-US" sz="1900" dirty="0">
                <a:latin typeface="Times New Roman" panose="02020603050405020304" pitchFamily="18" charset="0"/>
                <a:cs typeface="Times New Roman" panose="02020603050405020304" pitchFamily="18" charset="0"/>
              </a:rPr>
              <a:t>, indicating market dominance by a few firms.</a:t>
            </a:r>
          </a:p>
          <a:p>
            <a:pPr algn="just">
              <a:lnSpc>
                <a:spcPct val="90000"/>
              </a:lnSpc>
            </a:pPr>
            <a:r>
              <a:rPr lang="en-US" sz="1900" dirty="0">
                <a:latin typeface="Times New Roman" panose="02020603050405020304" pitchFamily="18" charset="0"/>
                <a:cs typeface="Times New Roman" panose="02020603050405020304" pitchFamily="18" charset="0"/>
              </a:rPr>
              <a:t>Pie chart analysis shows uneven category distribution, with top sectors (e.g., Technology) contributing around </a:t>
            </a:r>
            <a:r>
              <a:rPr lang="en-US" sz="1900" b="1" dirty="0">
                <a:solidFill>
                  <a:schemeClr val="accent2">
                    <a:lumMod val="75000"/>
                  </a:schemeClr>
                </a:solidFill>
                <a:latin typeface="Times New Roman" panose="02020603050405020304" pitchFamily="18" charset="0"/>
                <a:cs typeface="Times New Roman" panose="02020603050405020304" pitchFamily="18" charset="0"/>
              </a:rPr>
              <a:t>32% share</a:t>
            </a:r>
            <a:r>
              <a:rPr lang="en-US" sz="1900" dirty="0">
                <a:solidFill>
                  <a:schemeClr val="accent2">
                    <a:lumMod val="75000"/>
                  </a:schemeClr>
                </a:solidFill>
                <a:latin typeface="Times New Roman" panose="02020603050405020304" pitchFamily="18" charset="0"/>
                <a:cs typeface="Times New Roman" panose="02020603050405020304" pitchFamily="18" charset="0"/>
              </a:rPr>
              <a:t>. </a:t>
            </a:r>
          </a:p>
          <a:p>
            <a:pPr algn="just">
              <a:lnSpc>
                <a:spcPct val="90000"/>
              </a:lnSpc>
            </a:pPr>
            <a:r>
              <a:rPr lang="en-US" sz="1900" dirty="0">
                <a:latin typeface="Times New Roman" panose="02020603050405020304" pitchFamily="18" charset="0"/>
                <a:cs typeface="Times New Roman" panose="02020603050405020304" pitchFamily="18" charset="0"/>
              </a:rPr>
              <a:t>Time-series trend analysis shows steady upward </a:t>
            </a:r>
            <a:r>
              <a:rPr lang="en-US" sz="1900" b="1" dirty="0">
                <a:solidFill>
                  <a:schemeClr val="accent2">
                    <a:lumMod val="75000"/>
                  </a:schemeClr>
                </a:solidFill>
                <a:latin typeface="Times New Roman" panose="02020603050405020304" pitchFamily="18" charset="0"/>
                <a:cs typeface="Times New Roman" panose="02020603050405020304" pitchFamily="18" charset="0"/>
              </a:rPr>
              <a:t>growth, with revenue increasing approximately 15–20% over time</a:t>
            </a:r>
            <a:r>
              <a:rPr lang="en-US" sz="1900" dirty="0">
                <a:solidFill>
                  <a:schemeClr val="accent2">
                    <a:lumMod val="75000"/>
                  </a:schemeClr>
                </a:solidFill>
                <a:latin typeface="Times New Roman" panose="02020603050405020304" pitchFamily="18" charset="0"/>
                <a:cs typeface="Times New Roman" panose="02020603050405020304" pitchFamily="18" charset="0"/>
              </a:rPr>
              <a:t>.</a:t>
            </a:r>
          </a:p>
          <a:p>
            <a:pPr>
              <a:lnSpc>
                <a:spcPct val="90000"/>
              </a:lnSpc>
            </a:pPr>
            <a:endParaRPr lang="en-US" sz="1300" dirty="0"/>
          </a:p>
        </p:txBody>
      </p:sp>
      <p:sp>
        <p:nvSpPr>
          <p:cNvPr id="18" name="Oval 17">
            <a:extLst>
              <a:ext uri="{FF2B5EF4-FFF2-40B4-BE49-F238E27FC236}">
                <a16:creationId xmlns:a16="http://schemas.microsoft.com/office/drawing/2014/main" id="{C3C0D90E-074A-4F52-9B11-B52BEF4BC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15982" y="2624479"/>
            <a:ext cx="609320"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Block Arc 19">
            <a:extLst>
              <a:ext uri="{FF2B5EF4-FFF2-40B4-BE49-F238E27FC236}">
                <a16:creationId xmlns:a16="http://schemas.microsoft.com/office/drawing/2014/main" id="{CABBD4C1-E6F8-46F6-8152-A8A97490B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6385863" y="1516981"/>
            <a:ext cx="2387600" cy="17907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2" name="Freeform: Shape 21">
            <a:extLst>
              <a:ext uri="{FF2B5EF4-FFF2-40B4-BE49-F238E27FC236}">
                <a16:creationId xmlns:a16="http://schemas.microsoft.com/office/drawing/2014/main" id="{83BA5EF5-1FE9-4BF9-83BB-269BCDDF61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15982" y="0"/>
            <a:ext cx="1736438"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24" name="Straight Connector 23">
            <a:extLst>
              <a:ext uri="{FF2B5EF4-FFF2-40B4-BE49-F238E27FC236}">
                <a16:creationId xmlns:a16="http://schemas.microsoft.com/office/drawing/2014/main" id="{4B3BCACB-5880-460B-9606-8C433A9AF99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79347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6" name="Freeform: Shape 25">
            <a:extLst>
              <a:ext uri="{FF2B5EF4-FFF2-40B4-BE49-F238E27FC236}">
                <a16:creationId xmlns:a16="http://schemas.microsoft.com/office/drawing/2014/main" id="{88853921-7BC9-4BDE-ACAB-133C683C8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54162" y="4112081"/>
            <a:ext cx="889838"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8" name="Arc 27">
            <a:extLst>
              <a:ext uri="{FF2B5EF4-FFF2-40B4-BE49-F238E27FC236}">
                <a16:creationId xmlns:a16="http://schemas.microsoft.com/office/drawing/2014/main" id="{09192968-3AE7-4470-A61C-97294BB927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4565205" y="4145122"/>
            <a:ext cx="3062574"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0" name="Freeform: Shape 29">
            <a:extLst>
              <a:ext uri="{FF2B5EF4-FFF2-40B4-BE49-F238E27FC236}">
                <a16:creationId xmlns:a16="http://schemas.microsoft.com/office/drawing/2014/main" id="{3AB72E55-43E4-4356-BFE8-E2102CB0B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15982" y="4962670"/>
            <a:ext cx="1982514"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797401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E51BA4DF-2BD4-4EC2-B1DB-B27C8AC71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147372" y="0"/>
            <a:ext cx="5996628" cy="870333"/>
          </a:xfrm>
        </p:spPr>
        <p:txBody>
          <a:bodyPr anchor="t">
            <a:normAutofit/>
          </a:bodyPr>
          <a:lstStyle/>
          <a:p>
            <a:r>
              <a:rPr lang="en-IN" sz="3500" b="1" dirty="0">
                <a:latin typeface="Times New Roman" panose="02020603050405020304" pitchFamily="18" charset="0"/>
                <a:cs typeface="Times New Roman" panose="02020603050405020304" pitchFamily="18" charset="0"/>
              </a:rPr>
              <a:t>Business Recommendations</a:t>
            </a:r>
          </a:p>
        </p:txBody>
      </p:sp>
      <p:pic>
        <p:nvPicPr>
          <p:cNvPr id="31" name="Picture 30">
            <a:extLst>
              <a:ext uri="{FF2B5EF4-FFF2-40B4-BE49-F238E27FC236}">
                <a16:creationId xmlns:a16="http://schemas.microsoft.com/office/drawing/2014/main" id="{387BC113-3B04-C03B-9144-B7BC89B9C477}"/>
              </a:ext>
            </a:extLst>
          </p:cNvPr>
          <p:cNvPicPr>
            <a:picLocks noChangeAspect="1"/>
          </p:cNvPicPr>
          <p:nvPr/>
        </p:nvPicPr>
        <p:blipFill>
          <a:blip r:embed="rId2"/>
          <a:srcRect l="26113" r="48072"/>
          <a:stretch>
            <a:fillRect/>
          </a:stretch>
        </p:blipFill>
        <p:spPr>
          <a:xfrm>
            <a:off x="20" y="10"/>
            <a:ext cx="3147352" cy="6857990"/>
          </a:xfrm>
          <a:prstGeom prst="rect">
            <a:avLst/>
          </a:prstGeom>
          <a:effectLst/>
        </p:spPr>
      </p:pic>
      <p:sp>
        <p:nvSpPr>
          <p:cNvPr id="4" name="Content Placeholder 3">
            <a:extLst>
              <a:ext uri="{FF2B5EF4-FFF2-40B4-BE49-F238E27FC236}">
                <a16:creationId xmlns:a16="http://schemas.microsoft.com/office/drawing/2014/main" id="{C65EE695-35AC-0DBB-64E5-37A8E72F80FA}"/>
              </a:ext>
            </a:extLst>
          </p:cNvPr>
          <p:cNvSpPr>
            <a:spLocks noGrp="1"/>
          </p:cNvSpPr>
          <p:nvPr>
            <p:ph idx="1"/>
          </p:nvPr>
        </p:nvSpPr>
        <p:spPr>
          <a:xfrm>
            <a:off x="3147371" y="870332"/>
            <a:ext cx="5994341" cy="5987668"/>
          </a:xfrm>
        </p:spPr>
        <p:txBody>
          <a:bodyPr>
            <a:normAutofit fontScale="92500" lnSpcReduction="10000"/>
          </a:bodyPr>
          <a:lstStyle/>
          <a:p>
            <a:pPr algn="just">
              <a:lnSpc>
                <a:spcPct val="90000"/>
              </a:lnSpc>
            </a:pPr>
            <a:r>
              <a:rPr lang="en-US" sz="1800" dirty="0">
                <a:latin typeface="Times New Roman" panose="02020603050405020304" pitchFamily="18" charset="0"/>
                <a:cs typeface="Times New Roman" panose="02020603050405020304" pitchFamily="18" charset="0"/>
              </a:rPr>
              <a:t>Focus on Customer-Centric Expansion- Customer count is the primary driver of revenue, indicating organizations should prioritize acquisition and retention strategies, invest in customer relationship management (CRM) systems, and enhance marketing in high-growth regions like Asia and North America.</a:t>
            </a:r>
          </a:p>
          <a:p>
            <a:pPr algn="just">
              <a:lnSpc>
                <a:spcPct val="90000"/>
              </a:lnSpc>
            </a:pPr>
            <a:r>
              <a:rPr lang="en-US" sz="1800" dirty="0">
                <a:latin typeface="Times New Roman" panose="02020603050405020304" pitchFamily="18" charset="0"/>
                <a:cs typeface="Times New Roman" panose="02020603050405020304" pitchFamily="18" charset="0"/>
              </a:rPr>
              <a:t>Scale Workforce Strategically-While employee count correlates with revenue, diminishing returns occur beyond a certain size. Therefore, organizations should optimize productivity, avoid uncontrolled expansion, and invest in automation and AI. </a:t>
            </a:r>
          </a:p>
          <a:p>
            <a:pPr algn="just">
              <a:lnSpc>
                <a:spcPct val="90000"/>
              </a:lnSpc>
            </a:pPr>
            <a:r>
              <a:rPr lang="en-US" sz="1800" dirty="0">
                <a:latin typeface="Times New Roman" panose="02020603050405020304" pitchFamily="18" charset="0"/>
                <a:cs typeface="Times New Roman" panose="02020603050405020304" pitchFamily="18" charset="0"/>
              </a:rPr>
              <a:t>Strengthen Market Reputation- Market rating correlates with profit margins. Organizations should enhance brand perception and product quality to achieve stable and higher profit margins.</a:t>
            </a:r>
          </a:p>
          <a:p>
            <a:pPr algn="just">
              <a:lnSpc>
                <a:spcPct val="90000"/>
              </a:lnSpc>
            </a:pPr>
            <a:r>
              <a:rPr lang="en-US" sz="1800" dirty="0">
                <a:latin typeface="Times New Roman" panose="02020603050405020304" pitchFamily="18" charset="0"/>
                <a:cs typeface="Times New Roman" panose="02020603050405020304" pitchFamily="18" charset="0"/>
              </a:rPr>
              <a:t>Leverage Industry Growth Opportunities- High-performing firms predominantly exist in the Technology and Retail sectors. Organizations should invest in these high-growth areas and modernize manufacturing through digital transformation.</a:t>
            </a:r>
          </a:p>
          <a:p>
            <a:pPr algn="just">
              <a:lnSpc>
                <a:spcPct val="90000"/>
              </a:lnSpc>
            </a:pPr>
            <a:r>
              <a:rPr lang="en-US" sz="1800" dirty="0">
                <a:latin typeface="Times New Roman" panose="02020603050405020304" pitchFamily="18" charset="0"/>
                <a:cs typeface="Times New Roman" panose="02020603050405020304" pitchFamily="18" charset="0"/>
              </a:rPr>
              <a:t>Employ Data-Driven Segmentation- Three business tiers have been identified through clustering analysis. High-tier firms should focus on global expansion, mid-tier on operational scaling, and low-tier on efficiency for optimized revenue. </a:t>
            </a:r>
          </a:p>
          <a:p>
            <a:pPr algn="just">
              <a:lnSpc>
                <a:spcPct val="90000"/>
              </a:lnSpc>
            </a:pPr>
            <a:r>
              <a:rPr lang="en-US" sz="1800" dirty="0">
                <a:latin typeface="Times New Roman" panose="02020603050405020304" pitchFamily="18" charset="0"/>
                <a:cs typeface="Times New Roman" panose="02020603050405020304" pitchFamily="18" charset="0"/>
              </a:rPr>
              <a:t>Manage Extreme Outliers as Strategic Assets- Outlier firms wield considerable market influence. Benchmarking against the top 1 to 2 percent of these companies can provide valuable insights into operational success and market dynamics.</a:t>
            </a:r>
            <a:endParaRPr lang="en-IN" sz="18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advTm="1000">
        <p159:morph option="byObject"/>
      </p:transition>
    </mc:Choice>
    <mc:Fallback>
      <p:transition spd="slow" advClick="0" advTm="10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1056</TotalTime>
  <Words>1574</Words>
  <Application>Microsoft Office PowerPoint</Application>
  <PresentationFormat>On-screen Show (4:3)</PresentationFormat>
  <Paragraphs>59</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Times New Roman</vt:lpstr>
      <vt:lpstr>Office Theme</vt:lpstr>
      <vt:lpstr>Industry Analytics &amp; Forecasting -By Riya Goel</vt:lpstr>
      <vt:lpstr>About The Project</vt:lpstr>
      <vt:lpstr>Results of Functions</vt:lpstr>
      <vt:lpstr>PowerPoint Presentation</vt:lpstr>
      <vt:lpstr>Correlation Insights</vt:lpstr>
      <vt:lpstr>Clustering &amp; Anomaly Detection</vt:lpstr>
      <vt:lpstr>Resuts Comparison</vt:lpstr>
      <vt:lpstr>Forecasting Summary</vt:lpstr>
      <vt:lpstr>Executive Summary</vt:lpstr>
      <vt:lpstr>Key Categorical Insights</vt:lpstr>
      <vt:lpstr>Key Insights</vt:lpstr>
      <vt:lpstr>Business Recommendations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Riya Goel</cp:lastModifiedBy>
  <cp:revision>8</cp:revision>
  <dcterms:created xsi:type="dcterms:W3CDTF">2013-01-27T09:14:16Z</dcterms:created>
  <dcterms:modified xsi:type="dcterms:W3CDTF">2026-05-19T17:12:56Z</dcterms:modified>
  <cp:category/>
</cp:coreProperties>
</file>