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mp" ContentType="image/png"/>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8" r:id="rId3"/>
    <p:sldId id="273" r:id="rId4"/>
    <p:sldId id="264" r:id="rId5"/>
    <p:sldId id="265" r:id="rId6"/>
    <p:sldId id="262" r:id="rId7"/>
    <p:sldId id="263" r:id="rId8"/>
    <p:sldId id="276" r:id="rId9"/>
    <p:sldId id="275" r:id="rId10"/>
    <p:sldId id="274" r:id="rId11"/>
    <p:sldId id="267" r:id="rId12"/>
    <p:sldId id="266" r:id="rId13"/>
    <p:sldId id="277" r:id="rId14"/>
    <p:sldId id="278" r:id="rId1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59" d="100"/>
          <a:sy n="59" d="100"/>
        </p:scale>
        <p:origin x="1500" y="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tmp"/><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11.tmp"/><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pix4free.org/photo/2921/thank-you.html" TargetMode="External"/><Relationship Id="rId2" Type="http://schemas.openxmlformats.org/officeDocument/2006/relationships/image" Target="../media/image13.jpg"/><Relationship Id="rId1" Type="http://schemas.openxmlformats.org/officeDocument/2006/relationships/slideLayout" Target="../slideLayouts/slideLayout7.xml"/><Relationship Id="rId4" Type="http://schemas.openxmlformats.org/officeDocument/2006/relationships/image" Target="../media/image14.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Pipes over the sea">
            <a:extLst>
              <a:ext uri="{FF2B5EF4-FFF2-40B4-BE49-F238E27FC236}">
                <a16:creationId xmlns:a16="http://schemas.microsoft.com/office/drawing/2014/main" id="{C3EBB306-9C6A-5AFA-81D3-62C4F4DEDC6F}"/>
              </a:ext>
            </a:extLst>
          </p:cNvPr>
          <p:cNvPicPr>
            <a:picLocks noChangeAspect="1"/>
          </p:cNvPicPr>
          <p:nvPr/>
        </p:nvPicPr>
        <p:blipFill>
          <a:blip r:embed="rId2">
            <a:alphaModFix/>
          </a:blip>
          <a:srcRect/>
          <a:stretch>
            <a:fillRect/>
          </a:stretch>
        </p:blipFill>
        <p:spPr>
          <a:xfrm>
            <a:off x="14404" y="6057"/>
            <a:ext cx="9143979" cy="6857990"/>
          </a:xfrm>
          <a:prstGeom prst="rect">
            <a:avLst/>
          </a:prstGeom>
        </p:spPr>
      </p:pic>
      <p:sp>
        <p:nvSpPr>
          <p:cNvPr id="9" name="Rectangle 8">
            <a:extLst>
              <a:ext uri="{FF2B5EF4-FFF2-40B4-BE49-F238E27FC236}">
                <a16:creationId xmlns:a16="http://schemas.microsoft.com/office/drawing/2014/main" id="{EB0222B5-B739-82A9-5CCC-C5585AE12A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819465" y="-2819458"/>
            <a:ext cx="3512260" cy="9151192"/>
          </a:xfrm>
          <a:prstGeom prst="rect">
            <a:avLst/>
          </a:prstGeom>
          <a:gradFill flip="none" rotWithShape="1">
            <a:gsLst>
              <a:gs pos="10000">
                <a:srgbClr val="000000">
                  <a:alpha val="0"/>
                </a:srgbClr>
              </a:gs>
              <a:gs pos="66000">
                <a:srgbClr val="000000">
                  <a:alpha val="46000"/>
                </a:srgbClr>
              </a:gs>
              <a:gs pos="100000">
                <a:srgbClr val="000000">
                  <a:alpha val="60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0829" y="374267"/>
            <a:ext cx="9143958" cy="2122424"/>
          </a:xfrm>
        </p:spPr>
        <p:txBody>
          <a:bodyPr anchor="ctr">
            <a:normAutofit/>
          </a:bodyPr>
          <a:lstStyle/>
          <a:p>
            <a:pPr>
              <a:lnSpc>
                <a:spcPct val="150000"/>
              </a:lnSpc>
            </a:pPr>
            <a:r>
              <a:rPr lang="en-US" sz="4800" dirty="0">
                <a:solidFill>
                  <a:srgbClr val="FFFFFF"/>
                </a:solidFill>
              </a:rPr>
              <a:t>Industry Analytics &amp; Forecasting</a:t>
            </a:r>
            <a:br>
              <a:rPr lang="en-US" sz="4800" dirty="0">
                <a:solidFill>
                  <a:srgbClr val="FFFFFF"/>
                </a:solidFill>
              </a:rPr>
            </a:br>
            <a:r>
              <a:rPr lang="en-US" sz="2400" dirty="0">
                <a:solidFill>
                  <a:srgbClr val="FFFFFF"/>
                </a:solidFill>
              </a:rPr>
              <a:t>-By Riya Goel</a:t>
            </a:r>
            <a:endParaRPr lang="en-US" sz="4800" dirty="0">
              <a:solidFill>
                <a:srgbClr val="FFFFFF"/>
              </a:solidFill>
            </a:endParaRPr>
          </a:p>
        </p:txBody>
      </p:sp>
      <p:sp>
        <p:nvSpPr>
          <p:cNvPr id="11" name="Rectangle 10">
            <a:extLst>
              <a:ext uri="{FF2B5EF4-FFF2-40B4-BE49-F238E27FC236}">
                <a16:creationId xmlns:a16="http://schemas.microsoft.com/office/drawing/2014/main" id="{5BE23E75-E7E9-4D9F-6D25-5512363F8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355769" y="1075816"/>
            <a:ext cx="2425271" cy="9151191"/>
          </a:xfrm>
          <a:prstGeom prst="rect">
            <a:avLst/>
          </a:prstGeom>
          <a:gradFill flip="none" rotWithShape="1">
            <a:gsLst>
              <a:gs pos="10000">
                <a:srgbClr val="000000">
                  <a:alpha val="0"/>
                </a:srgbClr>
              </a:gs>
              <a:gs pos="66000">
                <a:srgbClr val="000000">
                  <a:alpha val="35000"/>
                </a:srgbClr>
              </a:gs>
              <a:gs pos="100000">
                <a:srgbClr val="000000">
                  <a:alpha val="4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p:cNvSpPr>
            <a:spLocks noGrp="1"/>
          </p:cNvSpPr>
          <p:nvPr>
            <p:ph type="subTitle" idx="1"/>
          </p:nvPr>
        </p:nvSpPr>
        <p:spPr>
          <a:xfrm>
            <a:off x="0" y="4021156"/>
            <a:ext cx="9143978" cy="2721167"/>
          </a:xfrm>
        </p:spPr>
        <p:txBody>
          <a:bodyPr anchor="ctr">
            <a:normAutofit fontScale="92500" lnSpcReduction="20000"/>
          </a:bodyPr>
          <a:lstStyle/>
          <a:p>
            <a:pPr algn="just"/>
            <a:r>
              <a:rPr lang="en-US" sz="2400" dirty="0">
                <a:solidFill>
                  <a:srgbClr val="FFFFFF"/>
                </a:solidFill>
                <a:latin typeface="Times New Roman" panose="02020603050405020304" pitchFamily="18" charset="0"/>
                <a:cs typeface="Times New Roman" panose="02020603050405020304" pitchFamily="18" charset="0"/>
              </a:rPr>
              <a:t>EDA, ML modeling, forecasting, clustering, and executive insights.</a:t>
            </a:r>
          </a:p>
          <a:p>
            <a:pPr algn="just"/>
            <a:r>
              <a:rPr lang="en-US" sz="2400" dirty="0">
                <a:solidFill>
                  <a:srgbClr val="FFFFFF"/>
                </a:solidFill>
                <a:latin typeface="Times New Roman" panose="02020603050405020304" pitchFamily="18" charset="0"/>
                <a:cs typeface="Times New Roman" panose="02020603050405020304" pitchFamily="18" charset="0"/>
              </a:rPr>
              <a:t>This project analyzes over 15,000 industrial business records across multiple sectors, countries, and operational regions to uncover actionable insights using data analytics, machine learning, forecasting, and clustering techniques. The project demonstrates how analytics can support strategic planning, operational optimization, and business forecasting. The system evaluates critical business metrics, including: Revenue performance, Profit margins, Employee productivity, Customer growth, Industry distribution, and Regional performance trends</a:t>
            </a:r>
          </a:p>
        </p:txBody>
      </p:sp>
      <p:cxnSp>
        <p:nvCxnSpPr>
          <p:cNvPr id="13" name="Straight Connector 12">
            <a:extLst>
              <a:ext uri="{FF2B5EF4-FFF2-40B4-BE49-F238E27FC236}">
                <a16:creationId xmlns:a16="http://schemas.microsoft.com/office/drawing/2014/main" id="{61B115DB-65EB-3FC3-7284-CFDF4ADC60B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8855" y="871146"/>
            <a:ext cx="552704"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1500"/>
                                  </p:stCondLst>
                                  <p:iterate>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7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0E3596DD-156A-473E-9BB3-C6A29F7574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2C46C4D6-C474-4E92-B52E-944C1118F7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4472088" cy="6858000"/>
          </a:xfrm>
          <a:custGeom>
            <a:avLst/>
            <a:gdLst>
              <a:gd name="connsiteX0" fmla="*/ 1044839 w 5962785"/>
              <a:gd name="connsiteY0" fmla="*/ 0 h 6858000"/>
              <a:gd name="connsiteX1" fmla="*/ 5962785 w 5962785"/>
              <a:gd name="connsiteY1" fmla="*/ 0 h 6858000"/>
              <a:gd name="connsiteX2" fmla="*/ 5962785 w 5962785"/>
              <a:gd name="connsiteY2" fmla="*/ 6858000 h 6858000"/>
              <a:gd name="connsiteX3" fmla="*/ 1469886 w 5962785"/>
              <a:gd name="connsiteY3" fmla="*/ 6858000 h 6858000"/>
              <a:gd name="connsiteX4" fmla="*/ 1416006 w 5962785"/>
              <a:gd name="connsiteY4" fmla="*/ 6823984 h 6858000"/>
              <a:gd name="connsiteX5" fmla="*/ 1232473 w 5962785"/>
              <a:gd name="connsiteY5" fmla="*/ 6733873 h 6858000"/>
              <a:gd name="connsiteX6" fmla="*/ 1075471 w 5962785"/>
              <a:gd name="connsiteY6" fmla="*/ 6503186 h 6858000"/>
              <a:gd name="connsiteX7" fmla="*/ 1020229 w 5962785"/>
              <a:gd name="connsiteY7" fmla="*/ 6438306 h 6858000"/>
              <a:gd name="connsiteX8" fmla="*/ 883579 w 5962785"/>
              <a:gd name="connsiteY8" fmla="*/ 6351798 h 6858000"/>
              <a:gd name="connsiteX9" fmla="*/ 645167 w 5962785"/>
              <a:gd name="connsiteY9" fmla="*/ 6167969 h 6858000"/>
              <a:gd name="connsiteX10" fmla="*/ 732391 w 5962785"/>
              <a:gd name="connsiteY10" fmla="*/ 6124716 h 6858000"/>
              <a:gd name="connsiteX11" fmla="*/ 985339 w 5962785"/>
              <a:gd name="connsiteY11" fmla="*/ 6236455 h 6858000"/>
              <a:gd name="connsiteX12" fmla="*/ 1168509 w 5962785"/>
              <a:gd name="connsiteY12" fmla="*/ 6265291 h 6858000"/>
              <a:gd name="connsiteX13" fmla="*/ 909746 w 5962785"/>
              <a:gd name="connsiteY13" fmla="*/ 6070649 h 6858000"/>
              <a:gd name="connsiteX14" fmla="*/ 659704 w 5962785"/>
              <a:gd name="connsiteY14" fmla="*/ 5818335 h 6858000"/>
              <a:gd name="connsiteX15" fmla="*/ 851597 w 5962785"/>
              <a:gd name="connsiteY15" fmla="*/ 5865193 h 6858000"/>
              <a:gd name="connsiteX16" fmla="*/ 860319 w 5962785"/>
              <a:gd name="connsiteY16" fmla="*/ 5832753 h 6858000"/>
              <a:gd name="connsiteX17" fmla="*/ 691686 w 5962785"/>
              <a:gd name="connsiteY17" fmla="*/ 5533581 h 6858000"/>
              <a:gd name="connsiteX18" fmla="*/ 610278 w 5962785"/>
              <a:gd name="connsiteY18" fmla="*/ 5411029 h 6858000"/>
              <a:gd name="connsiteX19" fmla="*/ 238123 w 5962785"/>
              <a:gd name="connsiteY19" fmla="*/ 5046976 h 6858000"/>
              <a:gd name="connsiteX20" fmla="*/ 592833 w 5962785"/>
              <a:gd name="connsiteY20" fmla="*/ 5209177 h 6858000"/>
              <a:gd name="connsiteX21" fmla="*/ 226494 w 5962785"/>
              <a:gd name="connsiteY21" fmla="*/ 4855939 h 6858000"/>
              <a:gd name="connsiteX22" fmla="*/ 49139 w 5962785"/>
              <a:gd name="connsiteY22" fmla="*/ 4726177 h 6858000"/>
              <a:gd name="connsiteX23" fmla="*/ 5527 w 5962785"/>
              <a:gd name="connsiteY23" fmla="*/ 4650483 h 6858000"/>
              <a:gd name="connsiteX24" fmla="*/ 84029 w 5962785"/>
              <a:gd name="connsiteY24" fmla="*/ 4632460 h 6858000"/>
              <a:gd name="connsiteX25" fmla="*/ 325347 w 5962785"/>
              <a:gd name="connsiteY25" fmla="*/ 4661296 h 6858000"/>
              <a:gd name="connsiteX26" fmla="*/ 25879 w 5962785"/>
              <a:gd name="connsiteY26" fmla="*/ 4423401 h 6858000"/>
              <a:gd name="connsiteX27" fmla="*/ 249753 w 5962785"/>
              <a:gd name="connsiteY27" fmla="*/ 4459446 h 6858000"/>
              <a:gd name="connsiteX28" fmla="*/ 313718 w 5962785"/>
              <a:gd name="connsiteY28" fmla="*/ 4365729 h 6858000"/>
              <a:gd name="connsiteX29" fmla="*/ 418386 w 5962785"/>
              <a:gd name="connsiteY29" fmla="*/ 4214341 h 6858000"/>
              <a:gd name="connsiteX30" fmla="*/ 491072 w 5962785"/>
              <a:gd name="connsiteY30" fmla="*/ 4131438 h 6858000"/>
              <a:gd name="connsiteX31" fmla="*/ 520147 w 5962785"/>
              <a:gd name="connsiteY31" fmla="*/ 3864706 h 6858000"/>
              <a:gd name="connsiteX32" fmla="*/ 459090 w 5962785"/>
              <a:gd name="connsiteY32" fmla="*/ 3572743 h 6858000"/>
              <a:gd name="connsiteX33" fmla="*/ 290458 w 5962785"/>
              <a:gd name="connsiteY33" fmla="*/ 3424959 h 6858000"/>
              <a:gd name="connsiteX34" fmla="*/ 339884 w 5962785"/>
              <a:gd name="connsiteY34" fmla="*/ 3259153 h 6858000"/>
              <a:gd name="connsiteX35" fmla="*/ 697501 w 5962785"/>
              <a:gd name="connsiteY35" fmla="*/ 3360078 h 6858000"/>
              <a:gd name="connsiteX36" fmla="*/ 165437 w 5962785"/>
              <a:gd name="connsiteY36" fmla="*/ 2967190 h 6858000"/>
              <a:gd name="connsiteX37" fmla="*/ 255568 w 5962785"/>
              <a:gd name="connsiteY37" fmla="*/ 2949167 h 6858000"/>
              <a:gd name="connsiteX38" fmla="*/ 578296 w 5962785"/>
              <a:gd name="connsiteY38" fmla="*/ 2725691 h 6858000"/>
              <a:gd name="connsiteX39" fmla="*/ 595740 w 5962785"/>
              <a:gd name="connsiteY39" fmla="*/ 2714876 h 6858000"/>
              <a:gd name="connsiteX40" fmla="*/ 650982 w 5962785"/>
              <a:gd name="connsiteY40" fmla="*/ 2574301 h 6858000"/>
              <a:gd name="connsiteX41" fmla="*/ 825429 w 5962785"/>
              <a:gd name="connsiteY41" fmla="*/ 2552674 h 6858000"/>
              <a:gd name="connsiteX42" fmla="*/ 970802 w 5962785"/>
              <a:gd name="connsiteY42" fmla="*/ 2585115 h 6858000"/>
              <a:gd name="connsiteX43" fmla="*/ 1127805 w 5962785"/>
              <a:gd name="connsiteY43" fmla="*/ 2545465 h 6858000"/>
              <a:gd name="connsiteX44" fmla="*/ 1267362 w 5962785"/>
              <a:gd name="connsiteY44" fmla="*/ 2563488 h 6858000"/>
              <a:gd name="connsiteX45" fmla="*/ 1386568 w 5962785"/>
              <a:gd name="connsiteY45" fmla="*/ 2538257 h 6858000"/>
              <a:gd name="connsiteX46" fmla="*/ 1270270 w 5962785"/>
              <a:gd name="connsiteY46" fmla="*/ 2419309 h 6858000"/>
              <a:gd name="connsiteX47" fmla="*/ 1107453 w 5962785"/>
              <a:gd name="connsiteY47" fmla="*/ 2419309 h 6858000"/>
              <a:gd name="connsiteX48" fmla="*/ 991154 w 5962785"/>
              <a:gd name="connsiteY48" fmla="*/ 2343615 h 6858000"/>
              <a:gd name="connsiteX49" fmla="*/ 880671 w 5962785"/>
              <a:gd name="connsiteY49" fmla="*/ 2206645 h 6858000"/>
              <a:gd name="connsiteX50" fmla="*/ 491072 w 5962785"/>
              <a:gd name="connsiteY50" fmla="*/ 1986771 h 6858000"/>
              <a:gd name="connsiteX51" fmla="*/ 421293 w 5962785"/>
              <a:gd name="connsiteY51" fmla="*/ 1903868 h 6858000"/>
              <a:gd name="connsiteX52" fmla="*/ 1531941 w 5962785"/>
              <a:gd name="connsiteY52" fmla="*/ 2224667 h 6858000"/>
              <a:gd name="connsiteX53" fmla="*/ 1188861 w 5962785"/>
              <a:gd name="connsiteY53" fmla="*/ 2091301 h 6858000"/>
              <a:gd name="connsiteX54" fmla="*/ 1421458 w 5962785"/>
              <a:gd name="connsiteY54" fmla="*/ 2116532 h 6858000"/>
              <a:gd name="connsiteX55" fmla="*/ 1549386 w 5962785"/>
              <a:gd name="connsiteY55" fmla="*/ 2026420 h 6858000"/>
              <a:gd name="connsiteX56" fmla="*/ 1549386 w 5962785"/>
              <a:gd name="connsiteY56" fmla="*/ 1997584 h 6858000"/>
              <a:gd name="connsiteX57" fmla="*/ 1453440 w 5962785"/>
              <a:gd name="connsiteY57" fmla="*/ 1914682 h 6858000"/>
              <a:gd name="connsiteX58" fmla="*/ 1398198 w 5962785"/>
              <a:gd name="connsiteY58" fmla="*/ 1860614 h 6858000"/>
              <a:gd name="connsiteX59" fmla="*/ 1247011 w 5962785"/>
              <a:gd name="connsiteY59" fmla="*/ 1665972 h 6858000"/>
              <a:gd name="connsiteX60" fmla="*/ 1354586 w 5962785"/>
              <a:gd name="connsiteY60" fmla="*/ 1644345 h 6858000"/>
              <a:gd name="connsiteX61" fmla="*/ 1395290 w 5962785"/>
              <a:gd name="connsiteY61" fmla="*/ 1604696 h 6858000"/>
              <a:gd name="connsiteX62" fmla="*/ 1366216 w 5962785"/>
              <a:gd name="connsiteY62" fmla="*/ 1547025 h 6858000"/>
              <a:gd name="connsiteX63" fmla="*/ 1031858 w 5962785"/>
              <a:gd name="connsiteY63" fmla="*/ 1370405 h 6858000"/>
              <a:gd name="connsiteX64" fmla="*/ 1005692 w 5962785"/>
              <a:gd name="connsiteY64" fmla="*/ 1233435 h 6858000"/>
              <a:gd name="connsiteX65" fmla="*/ 1069655 w 5962785"/>
              <a:gd name="connsiteY65" fmla="*/ 1211808 h 6858000"/>
              <a:gd name="connsiteX66" fmla="*/ 1142342 w 5962785"/>
              <a:gd name="connsiteY66" fmla="*/ 1222621 h 6858000"/>
              <a:gd name="connsiteX67" fmla="*/ 1084193 w 5962785"/>
              <a:gd name="connsiteY67" fmla="*/ 1114487 h 6858000"/>
              <a:gd name="connsiteX68" fmla="*/ 848689 w 5962785"/>
              <a:gd name="connsiteY68" fmla="*/ 1006353 h 6858000"/>
              <a:gd name="connsiteX69" fmla="*/ 805077 w 5962785"/>
              <a:gd name="connsiteY69" fmla="*/ 948681 h 6858000"/>
              <a:gd name="connsiteX70" fmla="*/ 863226 w 5962785"/>
              <a:gd name="connsiteY70" fmla="*/ 919844 h 6858000"/>
              <a:gd name="connsiteX71" fmla="*/ 906838 w 5962785"/>
              <a:gd name="connsiteY71" fmla="*/ 909031 h 6858000"/>
              <a:gd name="connsiteX72" fmla="*/ 5527 w 5962785"/>
              <a:gd name="connsiteY72" fmla="*/ 458471 h 6858000"/>
              <a:gd name="connsiteX73" fmla="*/ 209049 w 5962785"/>
              <a:gd name="connsiteY73" fmla="*/ 454867 h 6858000"/>
              <a:gd name="connsiteX74" fmla="*/ 409664 w 5962785"/>
              <a:gd name="connsiteY74" fmla="*/ 526956 h 6858000"/>
              <a:gd name="connsiteX75" fmla="*/ 621908 w 5962785"/>
              <a:gd name="connsiteY75" fmla="*/ 516143 h 6858000"/>
              <a:gd name="connsiteX76" fmla="*/ 822522 w 5962785"/>
              <a:gd name="connsiteY76" fmla="*/ 552188 h 6858000"/>
              <a:gd name="connsiteX77" fmla="*/ 996969 w 5962785"/>
              <a:gd name="connsiteY77" fmla="*/ 552188 h 6858000"/>
              <a:gd name="connsiteX78" fmla="*/ 834151 w 5962785"/>
              <a:gd name="connsiteY78" fmla="*/ 498120 h 6858000"/>
              <a:gd name="connsiteX79" fmla="*/ 773095 w 5962785"/>
              <a:gd name="connsiteY79" fmla="*/ 408008 h 6858000"/>
              <a:gd name="connsiteX80" fmla="*/ 793447 w 5962785"/>
              <a:gd name="connsiteY80" fmla="*/ 325106 h 6858000"/>
              <a:gd name="connsiteX81" fmla="*/ 860319 w 5962785"/>
              <a:gd name="connsiteY81" fmla="*/ 350336 h 6858000"/>
              <a:gd name="connsiteX82" fmla="*/ 938820 w 5962785"/>
              <a:gd name="connsiteY82" fmla="*/ 444054 h 6858000"/>
              <a:gd name="connsiteX83" fmla="*/ 956265 w 5962785"/>
              <a:gd name="connsiteY83" fmla="*/ 386381 h 6858000"/>
              <a:gd name="connsiteX84" fmla="*/ 1002784 w 5962785"/>
              <a:gd name="connsiteY84" fmla="*/ 343127 h 6858000"/>
              <a:gd name="connsiteX85" fmla="*/ 1270270 w 5962785"/>
              <a:gd name="connsiteY85" fmla="*/ 364755 h 6858000"/>
              <a:gd name="connsiteX86" fmla="*/ 1092915 w 5962785"/>
              <a:gd name="connsiteY86" fmla="*/ 180926 h 6858000"/>
              <a:gd name="connsiteX87" fmla="*/ 979525 w 5962785"/>
              <a:gd name="connsiteY87" fmla="*/ 152090 h 6858000"/>
              <a:gd name="connsiteX88" fmla="*/ 953358 w 5962785"/>
              <a:gd name="connsiteY88" fmla="*/ 76396 h 6858000"/>
              <a:gd name="connsiteX89" fmla="*/ 1005692 w 5962785"/>
              <a:gd name="connsiteY89" fmla="*/ 58373 h 6858000"/>
              <a:gd name="connsiteX90" fmla="*/ 1267362 w 5962785"/>
              <a:gd name="connsiteY90" fmla="*/ 123254 h 6858000"/>
              <a:gd name="connsiteX91" fmla="*/ 1310975 w 5962785"/>
              <a:gd name="connsiteY91" fmla="*/ 98023 h 6858000"/>
              <a:gd name="connsiteX92" fmla="*/ 1159787 w 5962785"/>
              <a:gd name="connsiteY92" fmla="*/ 4350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solidFill>
            <a:schemeClr val="bg2">
              <a:alpha val="50000"/>
            </a:schemeClr>
          </a:solidFill>
          <a:ln w="32707" cap="flat">
            <a:noFill/>
            <a:prstDash val="solid"/>
            <a:miter/>
          </a:ln>
        </p:spPr>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C1F10C2C-E753-5524-5187-6880A2D00A18}"/>
              </a:ext>
            </a:extLst>
          </p:cNvPr>
          <p:cNvSpPr>
            <a:spLocks noGrp="1"/>
          </p:cNvSpPr>
          <p:nvPr>
            <p:ph type="title"/>
          </p:nvPr>
        </p:nvSpPr>
        <p:spPr>
          <a:xfrm>
            <a:off x="-1" y="0"/>
            <a:ext cx="9141713" cy="1230086"/>
          </a:xfrm>
        </p:spPr>
        <p:txBody>
          <a:bodyPr>
            <a:normAutofit/>
          </a:bodyPr>
          <a:lstStyle/>
          <a:p>
            <a:r>
              <a:rPr lang="en-IN" b="1" dirty="0">
                <a:latin typeface="Times New Roman" panose="02020603050405020304" pitchFamily="18" charset="0"/>
                <a:cs typeface="Times New Roman" panose="02020603050405020304" pitchFamily="18" charset="0"/>
              </a:rPr>
              <a:t>About The Project</a:t>
            </a:r>
          </a:p>
        </p:txBody>
      </p:sp>
      <p:sp>
        <p:nvSpPr>
          <p:cNvPr id="3" name="Content Placeholder 2">
            <a:extLst>
              <a:ext uri="{FF2B5EF4-FFF2-40B4-BE49-F238E27FC236}">
                <a16:creationId xmlns:a16="http://schemas.microsoft.com/office/drawing/2014/main" id="{A40F9A6B-2AD8-1107-4F0A-41BF72ADA345}"/>
              </a:ext>
            </a:extLst>
          </p:cNvPr>
          <p:cNvSpPr>
            <a:spLocks noGrp="1"/>
          </p:cNvSpPr>
          <p:nvPr>
            <p:ph idx="1"/>
          </p:nvPr>
        </p:nvSpPr>
        <p:spPr>
          <a:xfrm>
            <a:off x="-1" y="1230086"/>
            <a:ext cx="5100737" cy="5627915"/>
          </a:xfrm>
        </p:spPr>
        <p:txBody>
          <a:bodyPr>
            <a:noAutofit/>
          </a:bodyPr>
          <a:lstStyle/>
          <a:p>
            <a:pPr algn="just">
              <a:lnSpc>
                <a:spcPct val="90000"/>
              </a:lnSpc>
            </a:pPr>
            <a:r>
              <a:rPr lang="en-US" sz="1800" dirty="0">
                <a:latin typeface="Times New Roman" panose="02020603050405020304" pitchFamily="18" charset="0"/>
                <a:cs typeface="Times New Roman" panose="02020603050405020304" pitchFamily="18" charset="0"/>
              </a:rPr>
              <a:t>The project employs </a:t>
            </a:r>
            <a:r>
              <a:rPr lang="en-US" sz="1800" b="1" dirty="0">
                <a:solidFill>
                  <a:schemeClr val="accent2">
                    <a:lumMod val="75000"/>
                  </a:schemeClr>
                </a:solidFill>
                <a:latin typeface="Times New Roman" panose="02020603050405020304" pitchFamily="18" charset="0"/>
                <a:cs typeface="Times New Roman" panose="02020603050405020304" pitchFamily="18" charset="0"/>
              </a:rPr>
              <a:t>Python</a:t>
            </a:r>
            <a:r>
              <a:rPr lang="en-US" sz="1800" dirty="0">
                <a:latin typeface="Times New Roman" panose="02020603050405020304" pitchFamily="18" charset="0"/>
                <a:cs typeface="Times New Roman" panose="02020603050405020304" pitchFamily="18" charset="0"/>
              </a:rPr>
              <a:t> along with a range of robust libraries, such as </a:t>
            </a:r>
            <a:r>
              <a:rPr lang="en-US" sz="1800" b="1" dirty="0">
                <a:solidFill>
                  <a:schemeClr val="accent2">
                    <a:lumMod val="75000"/>
                  </a:schemeClr>
                </a:solidFill>
                <a:latin typeface="Times New Roman" panose="02020603050405020304" pitchFamily="18" charset="0"/>
                <a:cs typeface="Times New Roman" panose="02020603050405020304" pitchFamily="18" charset="0"/>
              </a:rPr>
              <a:t>Pandas, NumPy, Matplotlib, Seaborn</a:t>
            </a:r>
            <a:r>
              <a:rPr lang="en-US" sz="1800" b="1"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and</a:t>
            </a:r>
            <a:r>
              <a:rPr lang="en-US" sz="1800" b="1" dirty="0">
                <a:latin typeface="Times New Roman" panose="02020603050405020304" pitchFamily="18" charset="0"/>
                <a:cs typeface="Times New Roman" panose="02020603050405020304" pitchFamily="18" charset="0"/>
              </a:rPr>
              <a:t> </a:t>
            </a:r>
            <a:r>
              <a:rPr lang="en-US" sz="1800" b="1" dirty="0">
                <a:solidFill>
                  <a:schemeClr val="accent2">
                    <a:lumMod val="75000"/>
                  </a:schemeClr>
                </a:solidFill>
                <a:latin typeface="Times New Roman" panose="02020603050405020304" pitchFamily="18" charset="0"/>
                <a:cs typeface="Times New Roman" panose="02020603050405020304" pitchFamily="18" charset="0"/>
              </a:rPr>
              <a:t>Scikit-learn</a:t>
            </a:r>
            <a:r>
              <a:rPr lang="en-US" sz="1800" dirty="0">
                <a:latin typeface="Times New Roman" panose="02020603050405020304" pitchFamily="18" charset="0"/>
                <a:cs typeface="Times New Roman" panose="02020603050405020304" pitchFamily="18" charset="0"/>
              </a:rPr>
              <a:t>, to conduct a </a:t>
            </a:r>
            <a:r>
              <a:rPr lang="en-US" sz="1800" b="1" dirty="0">
                <a:solidFill>
                  <a:schemeClr val="accent2">
                    <a:lumMod val="75000"/>
                  </a:schemeClr>
                </a:solidFill>
                <a:latin typeface="Times New Roman" panose="02020603050405020304" pitchFamily="18" charset="0"/>
                <a:cs typeface="Times New Roman" panose="02020603050405020304" pitchFamily="18" charset="0"/>
              </a:rPr>
              <a:t>comprehensive analysis </a:t>
            </a:r>
            <a:r>
              <a:rPr lang="en-US" sz="1800" dirty="0">
                <a:latin typeface="Times New Roman" panose="02020603050405020304" pitchFamily="18" charset="0"/>
                <a:cs typeface="Times New Roman" panose="02020603050405020304" pitchFamily="18" charset="0"/>
              </a:rPr>
              <a:t>of data across various industries.</a:t>
            </a:r>
          </a:p>
          <a:p>
            <a:pPr algn="just">
              <a:lnSpc>
                <a:spcPct val="90000"/>
              </a:lnSpc>
            </a:pPr>
            <a:r>
              <a:rPr lang="en-US" sz="1800" dirty="0">
                <a:latin typeface="Times New Roman" panose="02020603050405020304" pitchFamily="18" charset="0"/>
                <a:cs typeface="Times New Roman" panose="02020603050405020304" pitchFamily="18" charset="0"/>
              </a:rPr>
              <a:t>Key statistical metrics, including the </a:t>
            </a:r>
            <a:r>
              <a:rPr lang="en-US" sz="1800" b="1" dirty="0">
                <a:solidFill>
                  <a:schemeClr val="accent2">
                    <a:lumMod val="75000"/>
                  </a:schemeClr>
                </a:solidFill>
                <a:latin typeface="Times New Roman" panose="02020603050405020304" pitchFamily="18" charset="0"/>
                <a:cs typeface="Times New Roman" panose="02020603050405020304" pitchFamily="18" charset="0"/>
              </a:rPr>
              <a:t>mean, median, and quantiles</a:t>
            </a:r>
            <a:r>
              <a:rPr lang="en-US" sz="1800" dirty="0">
                <a:latin typeface="Times New Roman" panose="02020603050405020304" pitchFamily="18" charset="0"/>
                <a:cs typeface="Times New Roman" panose="02020603050405020304" pitchFamily="18" charset="0"/>
              </a:rPr>
              <a:t>, are calculated to provide insights into dataset distribution and central tendencies. Diverse visual representations—such as </a:t>
            </a:r>
            <a:r>
              <a:rPr lang="en-US" sz="1800" b="1" dirty="0">
                <a:solidFill>
                  <a:schemeClr val="accent2">
                    <a:lumMod val="75000"/>
                  </a:schemeClr>
                </a:solidFill>
                <a:latin typeface="Times New Roman" panose="02020603050405020304" pitchFamily="18" charset="0"/>
                <a:cs typeface="Times New Roman" panose="02020603050405020304" pitchFamily="18" charset="0"/>
              </a:rPr>
              <a:t>bar charts, pie charts, heat maps, </a:t>
            </a:r>
            <a:r>
              <a:rPr lang="en-US" sz="1800" dirty="0">
                <a:latin typeface="Times New Roman" panose="02020603050405020304" pitchFamily="18" charset="0"/>
                <a:cs typeface="Times New Roman" panose="02020603050405020304" pitchFamily="18" charset="0"/>
              </a:rPr>
              <a:t>and</a:t>
            </a:r>
            <a:r>
              <a:rPr lang="en-US" sz="1800" b="1" dirty="0">
                <a:latin typeface="Times New Roman" panose="02020603050405020304" pitchFamily="18" charset="0"/>
                <a:cs typeface="Times New Roman" panose="02020603050405020304" pitchFamily="18" charset="0"/>
              </a:rPr>
              <a:t> </a:t>
            </a:r>
            <a:r>
              <a:rPr lang="en-US" sz="1800" b="1" dirty="0">
                <a:solidFill>
                  <a:schemeClr val="accent2">
                    <a:lumMod val="75000"/>
                  </a:schemeClr>
                </a:solidFill>
                <a:latin typeface="Times New Roman" panose="02020603050405020304" pitchFamily="18" charset="0"/>
                <a:cs typeface="Times New Roman" panose="02020603050405020304" pitchFamily="18" charset="0"/>
              </a:rPr>
              <a:t>scatter plots</a:t>
            </a:r>
            <a:r>
              <a:rPr lang="en-US" sz="1800" dirty="0">
                <a:latin typeface="Times New Roman" panose="02020603050405020304" pitchFamily="18" charset="0"/>
                <a:cs typeface="Times New Roman" panose="02020603050405020304" pitchFamily="18" charset="0"/>
              </a:rPr>
              <a:t>—enhance clarity and facilitate informed insights into industry trends.</a:t>
            </a:r>
          </a:p>
          <a:p>
            <a:pPr algn="just">
              <a:lnSpc>
                <a:spcPct val="90000"/>
              </a:lnSpc>
            </a:pPr>
            <a:r>
              <a:rPr lang="en-US" sz="1800" b="1" dirty="0">
                <a:solidFill>
                  <a:schemeClr val="accent2">
                    <a:lumMod val="75000"/>
                  </a:schemeClr>
                </a:solidFill>
                <a:latin typeface="Times New Roman" panose="02020603050405020304" pitchFamily="18" charset="0"/>
                <a:cs typeface="Times New Roman" panose="02020603050405020304" pitchFamily="18" charset="0"/>
              </a:rPr>
              <a:t>Exploratory Data Analysis (EDA) </a:t>
            </a:r>
            <a:r>
              <a:rPr lang="en-US" sz="1800" dirty="0">
                <a:latin typeface="Times New Roman" panose="02020603050405020304" pitchFamily="18" charset="0"/>
                <a:cs typeface="Times New Roman" panose="02020603050405020304" pitchFamily="18" charset="0"/>
              </a:rPr>
              <a:t>is performed to </a:t>
            </a:r>
            <a:r>
              <a:rPr lang="en-US" sz="1800" b="1" dirty="0">
                <a:solidFill>
                  <a:schemeClr val="accent2">
                    <a:lumMod val="75000"/>
                  </a:schemeClr>
                </a:solidFill>
                <a:latin typeface="Times New Roman" panose="02020603050405020304" pitchFamily="18" charset="0"/>
                <a:cs typeface="Times New Roman" panose="02020603050405020304" pitchFamily="18" charset="0"/>
              </a:rPr>
              <a:t>analyze data distributions, identify patterns, </a:t>
            </a:r>
            <a:r>
              <a:rPr lang="en-US" sz="1800" dirty="0">
                <a:latin typeface="Times New Roman" panose="02020603050405020304" pitchFamily="18" charset="0"/>
                <a:cs typeface="Times New Roman" panose="02020603050405020304" pitchFamily="18" charset="0"/>
              </a:rPr>
              <a:t>and</a:t>
            </a:r>
            <a:r>
              <a:rPr lang="en-US" sz="1800" b="1" dirty="0">
                <a:latin typeface="Times New Roman" panose="02020603050405020304" pitchFamily="18" charset="0"/>
                <a:cs typeface="Times New Roman" panose="02020603050405020304" pitchFamily="18" charset="0"/>
              </a:rPr>
              <a:t> </a:t>
            </a:r>
            <a:r>
              <a:rPr lang="en-US" sz="1800" b="1" dirty="0">
                <a:solidFill>
                  <a:schemeClr val="accent2">
                    <a:lumMod val="75000"/>
                  </a:schemeClr>
                </a:solidFill>
                <a:latin typeface="Times New Roman" panose="02020603050405020304" pitchFamily="18" charset="0"/>
                <a:cs typeface="Times New Roman" panose="02020603050405020304" pitchFamily="18" charset="0"/>
              </a:rPr>
              <a:t>uncover hidden business insights</a:t>
            </a:r>
            <a:r>
              <a:rPr lang="en-US" sz="1800" dirty="0">
                <a:latin typeface="Times New Roman" panose="02020603050405020304" pitchFamily="18" charset="0"/>
                <a:cs typeface="Times New Roman" panose="02020603050405020304" pitchFamily="18" charset="0"/>
              </a:rPr>
              <a:t>. Various visualizations, including </a:t>
            </a:r>
            <a:r>
              <a:rPr lang="en-US" sz="1800" b="1" dirty="0">
                <a:solidFill>
                  <a:schemeClr val="accent2">
                    <a:lumMod val="75000"/>
                  </a:schemeClr>
                </a:solidFill>
                <a:latin typeface="Times New Roman" panose="02020603050405020304" pitchFamily="18" charset="0"/>
                <a:cs typeface="Times New Roman" panose="02020603050405020304" pitchFamily="18" charset="0"/>
              </a:rPr>
              <a:t>histograms, box plots, heat maps,</a:t>
            </a:r>
            <a:r>
              <a:rPr lang="en-US" sz="1800" b="1"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and</a:t>
            </a:r>
            <a:r>
              <a:rPr lang="en-US" sz="1800" b="1" dirty="0">
                <a:latin typeface="Times New Roman" panose="02020603050405020304" pitchFamily="18" charset="0"/>
                <a:cs typeface="Times New Roman" panose="02020603050405020304" pitchFamily="18" charset="0"/>
              </a:rPr>
              <a:t> </a:t>
            </a:r>
            <a:r>
              <a:rPr lang="en-US" sz="1800" b="1" dirty="0">
                <a:solidFill>
                  <a:schemeClr val="accent2">
                    <a:lumMod val="75000"/>
                  </a:schemeClr>
                </a:solidFill>
                <a:latin typeface="Times New Roman" panose="02020603050405020304" pitchFamily="18" charset="0"/>
                <a:cs typeface="Times New Roman" panose="02020603050405020304" pitchFamily="18" charset="0"/>
              </a:rPr>
              <a:t>trend charts</a:t>
            </a:r>
            <a:r>
              <a:rPr lang="en-US" sz="1800" dirty="0">
                <a:latin typeface="Times New Roman" panose="02020603050405020304" pitchFamily="18" charset="0"/>
                <a:cs typeface="Times New Roman" panose="02020603050405020304" pitchFamily="18" charset="0"/>
              </a:rPr>
              <a:t>, reveal key findings, including uneven revenue distributions, regional business concentration, significant variability in profit margins, and operational outliers.</a:t>
            </a:r>
            <a:endParaRPr lang="en-IN" sz="18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FCC0903-9B36-15A9-BFB7-579296BFF944}"/>
              </a:ext>
            </a:extLst>
          </p:cNvPr>
          <p:cNvPicPr>
            <a:picLocks noChangeAspect="1"/>
          </p:cNvPicPr>
          <p:nvPr/>
        </p:nvPicPr>
        <p:blipFill>
          <a:blip r:embed="rId2"/>
          <a:srcRect r="56348" b="2"/>
          <a:stretch>
            <a:fillRect/>
          </a:stretch>
        </p:blipFill>
        <p:spPr>
          <a:xfrm>
            <a:off x="5100739" y="1230086"/>
            <a:ext cx="3560660" cy="5155865"/>
          </a:xfrm>
          <a:prstGeom prst="rect">
            <a:avLst/>
          </a:prstGeom>
        </p:spPr>
      </p:pic>
    </p:spTree>
    <p:extLst>
      <p:ext uri="{BB962C8B-B14F-4D97-AF65-F5344CB8AC3E}">
        <p14:creationId xmlns:p14="http://schemas.microsoft.com/office/powerpoint/2010/main" val="14584698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E3FBC17-33DB-E8A8-A9C9-A82741050FB1}"/>
              </a:ext>
            </a:extLst>
          </p:cNvPr>
          <p:cNvSpPr>
            <a:spLocks noGrp="1"/>
          </p:cNvSpPr>
          <p:nvPr>
            <p:ph type="title"/>
          </p:nvPr>
        </p:nvSpPr>
        <p:spPr>
          <a:xfrm>
            <a:off x="0" y="1"/>
            <a:ext cx="5078778" cy="705080"/>
          </a:xfrm>
        </p:spPr>
        <p:txBody>
          <a:bodyPr anchor="ctr">
            <a:normAutofit/>
          </a:bodyPr>
          <a:lstStyle/>
          <a:p>
            <a:r>
              <a:rPr lang="en-IN" sz="3500" b="1" dirty="0">
                <a:latin typeface="Times New Roman" panose="02020603050405020304" pitchFamily="18" charset="0"/>
                <a:cs typeface="Times New Roman" panose="02020603050405020304" pitchFamily="18" charset="0"/>
              </a:rPr>
              <a:t>Executive Summary</a:t>
            </a:r>
          </a:p>
        </p:txBody>
      </p:sp>
      <p:sp>
        <p:nvSpPr>
          <p:cNvPr id="3" name="Content Placeholder 2">
            <a:extLst>
              <a:ext uri="{FF2B5EF4-FFF2-40B4-BE49-F238E27FC236}">
                <a16:creationId xmlns:a16="http://schemas.microsoft.com/office/drawing/2014/main" id="{22575478-92AD-1BD9-3DAF-0914B4913498}"/>
              </a:ext>
            </a:extLst>
          </p:cNvPr>
          <p:cNvSpPr>
            <a:spLocks noGrp="1"/>
          </p:cNvSpPr>
          <p:nvPr>
            <p:ph idx="1"/>
          </p:nvPr>
        </p:nvSpPr>
        <p:spPr>
          <a:xfrm>
            <a:off x="-1" y="705081"/>
            <a:ext cx="5143347" cy="6152920"/>
          </a:xfrm>
        </p:spPr>
        <p:txBody>
          <a:bodyPr anchor="t">
            <a:normAutofit fontScale="25000" lnSpcReduction="20000"/>
          </a:bodyPr>
          <a:lstStyle/>
          <a:p>
            <a:pPr algn="just">
              <a:lnSpc>
                <a:spcPct val="90000"/>
              </a:lnSpc>
            </a:pPr>
            <a:r>
              <a:rPr lang="en-US" sz="7600" dirty="0">
                <a:latin typeface="Times New Roman" panose="02020603050405020304" pitchFamily="18" charset="0"/>
                <a:cs typeface="Times New Roman" panose="02020603050405020304" pitchFamily="18" charset="0"/>
              </a:rPr>
              <a:t>The analysis identified several major business trends and performance indicators across industries and regions.</a:t>
            </a:r>
            <a:endParaRPr lang="en-US" sz="7600" b="1" dirty="0">
              <a:latin typeface="Times New Roman" panose="02020603050405020304" pitchFamily="18" charset="0"/>
              <a:cs typeface="Times New Roman" panose="02020603050405020304" pitchFamily="18" charset="0"/>
            </a:endParaRPr>
          </a:p>
          <a:p>
            <a:pPr algn="just">
              <a:lnSpc>
                <a:spcPct val="90000"/>
              </a:lnSpc>
            </a:pPr>
            <a:r>
              <a:rPr lang="en-US" sz="7600" dirty="0">
                <a:latin typeface="Times New Roman" panose="02020603050405020304" pitchFamily="18" charset="0"/>
                <a:cs typeface="Times New Roman" panose="02020603050405020304" pitchFamily="18" charset="0"/>
              </a:rPr>
              <a:t>Each industry contributes approximately </a:t>
            </a:r>
            <a:r>
              <a:rPr lang="en-US" sz="7600" b="1" dirty="0">
                <a:solidFill>
                  <a:schemeClr val="accent2">
                    <a:lumMod val="75000"/>
                  </a:schemeClr>
                </a:solidFill>
                <a:latin typeface="Times New Roman" panose="02020603050405020304" pitchFamily="18" charset="0"/>
                <a:cs typeface="Times New Roman" panose="02020603050405020304" pitchFamily="18" charset="0"/>
              </a:rPr>
              <a:t>3,000 companies, representing 20% of the dataset. </a:t>
            </a:r>
            <a:r>
              <a:rPr lang="en-US" sz="7600" dirty="0">
                <a:latin typeface="Times New Roman" panose="02020603050405020304" pitchFamily="18" charset="0"/>
                <a:cs typeface="Times New Roman" panose="02020603050405020304" pitchFamily="18" charset="0"/>
              </a:rPr>
              <a:t>The industry distribution is balanced across Technology, Finance, Retail, Healthcare, and Manufacturing sectors.</a:t>
            </a:r>
          </a:p>
          <a:p>
            <a:pPr algn="just">
              <a:lnSpc>
                <a:spcPct val="90000"/>
              </a:lnSpc>
            </a:pPr>
            <a:r>
              <a:rPr lang="en-US" sz="7600" b="1" dirty="0">
                <a:solidFill>
                  <a:schemeClr val="accent2">
                    <a:lumMod val="75000"/>
                  </a:schemeClr>
                </a:solidFill>
                <a:latin typeface="Times New Roman" panose="02020603050405020304" pitchFamily="18" charset="0"/>
                <a:cs typeface="Times New Roman" panose="02020603050405020304" pitchFamily="18" charset="0"/>
              </a:rPr>
              <a:t>North America accounted for nearly 7,500 entities</a:t>
            </a:r>
            <a:r>
              <a:rPr lang="en-US" sz="7600" dirty="0">
                <a:latin typeface="Times New Roman" panose="02020603050405020304" pitchFamily="18" charset="0"/>
                <a:cs typeface="Times New Roman" panose="02020603050405020304" pitchFamily="18" charset="0"/>
              </a:rPr>
              <a:t>, emerging as the most dominant operational region. </a:t>
            </a:r>
          </a:p>
          <a:p>
            <a:pPr algn="just">
              <a:lnSpc>
                <a:spcPct val="90000"/>
              </a:lnSpc>
            </a:pPr>
            <a:r>
              <a:rPr lang="en-US" sz="7600" dirty="0">
                <a:latin typeface="Times New Roman" panose="02020603050405020304" pitchFamily="18" charset="0"/>
                <a:cs typeface="Times New Roman" panose="02020603050405020304" pitchFamily="18" charset="0"/>
              </a:rPr>
              <a:t>Revenue distribution was highly concentrated, with an </a:t>
            </a:r>
            <a:r>
              <a:rPr lang="en-US" sz="7600" b="1" dirty="0">
                <a:solidFill>
                  <a:schemeClr val="accent2">
                    <a:lumMod val="75000"/>
                  </a:schemeClr>
                </a:solidFill>
                <a:latin typeface="Times New Roman" panose="02020603050405020304" pitchFamily="18" charset="0"/>
                <a:cs typeface="Times New Roman" panose="02020603050405020304" pitchFamily="18" charset="0"/>
              </a:rPr>
              <a:t>average revenue of approximately $549.73M, </a:t>
            </a:r>
            <a:r>
              <a:rPr lang="en-US" sz="7600" dirty="0">
                <a:latin typeface="Times New Roman" panose="02020603050405020304" pitchFamily="18" charset="0"/>
                <a:cs typeface="Times New Roman" panose="02020603050405020304" pitchFamily="18" charset="0"/>
              </a:rPr>
              <a:t>indicating that a small number of companies dominate the market. </a:t>
            </a:r>
          </a:p>
          <a:p>
            <a:pPr algn="just">
              <a:lnSpc>
                <a:spcPct val="90000"/>
              </a:lnSpc>
            </a:pPr>
            <a:r>
              <a:rPr lang="en-US" sz="7600" dirty="0">
                <a:latin typeface="Times New Roman" panose="02020603050405020304" pitchFamily="18" charset="0"/>
                <a:cs typeface="Times New Roman" panose="02020603050405020304" pitchFamily="18" charset="0"/>
              </a:rPr>
              <a:t>Customer count showed almost no linear correlation with revenue </a:t>
            </a:r>
            <a:r>
              <a:rPr lang="en-US" sz="7600" b="1" dirty="0">
                <a:solidFill>
                  <a:schemeClr val="accent2">
                    <a:lumMod val="75000"/>
                  </a:schemeClr>
                </a:solidFill>
                <a:latin typeface="Times New Roman" panose="02020603050405020304" pitchFamily="18" charset="0"/>
                <a:cs typeface="Times New Roman" panose="02020603050405020304" pitchFamily="18" charset="0"/>
              </a:rPr>
              <a:t>(≈ -0.003), </a:t>
            </a:r>
            <a:r>
              <a:rPr lang="en-US" sz="7600" dirty="0">
                <a:latin typeface="Times New Roman" panose="02020603050405020304" pitchFamily="18" charset="0"/>
                <a:cs typeface="Times New Roman" panose="02020603050405020304" pitchFamily="18" charset="0"/>
              </a:rPr>
              <a:t>indicating that revenue performance is influenced by multiple operational and market factors rather than customer volume alone.</a:t>
            </a:r>
          </a:p>
          <a:p>
            <a:pPr algn="just">
              <a:lnSpc>
                <a:spcPct val="90000"/>
              </a:lnSpc>
            </a:pPr>
            <a:r>
              <a:rPr lang="en-US" sz="7600" dirty="0">
                <a:latin typeface="Times New Roman" panose="02020603050405020304" pitchFamily="18" charset="0"/>
                <a:cs typeface="Times New Roman" panose="02020603050405020304" pitchFamily="18" charset="0"/>
              </a:rPr>
              <a:t>Approximately </a:t>
            </a:r>
            <a:r>
              <a:rPr lang="en-US" sz="7600" b="1" dirty="0">
                <a:solidFill>
                  <a:schemeClr val="accent2">
                    <a:lumMod val="75000"/>
                  </a:schemeClr>
                </a:solidFill>
                <a:latin typeface="Times New Roman" panose="02020603050405020304" pitchFamily="18" charset="0"/>
                <a:cs typeface="Times New Roman" panose="02020603050405020304" pitchFamily="18" charset="0"/>
              </a:rPr>
              <a:t>750 operational anomalies</a:t>
            </a:r>
            <a:r>
              <a:rPr lang="en-US" sz="7600" dirty="0">
                <a:solidFill>
                  <a:schemeClr val="accent2">
                    <a:lumMod val="75000"/>
                  </a:schemeClr>
                </a:solidFill>
                <a:latin typeface="Times New Roman" panose="02020603050405020304" pitchFamily="18" charset="0"/>
                <a:cs typeface="Times New Roman" panose="02020603050405020304" pitchFamily="18" charset="0"/>
              </a:rPr>
              <a:t> </a:t>
            </a:r>
            <a:r>
              <a:rPr lang="en-US" sz="7600" dirty="0">
                <a:latin typeface="Times New Roman" panose="02020603050405020304" pitchFamily="18" charset="0"/>
                <a:cs typeface="Times New Roman" panose="02020603050405020304" pitchFamily="18" charset="0"/>
              </a:rPr>
              <a:t>were detected through Isolation Forest algorithms. </a:t>
            </a:r>
          </a:p>
          <a:p>
            <a:pPr algn="just">
              <a:lnSpc>
                <a:spcPct val="90000"/>
              </a:lnSpc>
            </a:pPr>
            <a:r>
              <a:rPr lang="en-US" sz="7600" dirty="0">
                <a:latin typeface="Times New Roman" panose="02020603050405020304" pitchFamily="18" charset="0"/>
                <a:cs typeface="Times New Roman" panose="02020603050405020304" pitchFamily="18" charset="0"/>
              </a:rPr>
              <a:t>The project effectively integrates statistical analytics with machine learning; however, the predictive power proved to be weak.</a:t>
            </a:r>
            <a:endParaRPr lang="en-IN" sz="1100" dirty="0"/>
          </a:p>
        </p:txBody>
      </p:sp>
      <p:pic>
        <p:nvPicPr>
          <p:cNvPr id="5" name="Picture 4" descr="Digital financial graph">
            <a:extLst>
              <a:ext uri="{FF2B5EF4-FFF2-40B4-BE49-F238E27FC236}">
                <a16:creationId xmlns:a16="http://schemas.microsoft.com/office/drawing/2014/main" id="{8690098E-168A-5640-A266-737A97AA7549}"/>
              </a:ext>
            </a:extLst>
          </p:cNvPr>
          <p:cNvPicPr>
            <a:picLocks noChangeAspect="1"/>
          </p:cNvPicPr>
          <p:nvPr/>
        </p:nvPicPr>
        <p:blipFill>
          <a:blip r:embed="rId2"/>
          <a:srcRect l="41263" r="25975" b="-1"/>
          <a:stretch>
            <a:fillRect/>
          </a:stretch>
        </p:blipFill>
        <p:spPr>
          <a:xfrm>
            <a:off x="5143347" y="-10886"/>
            <a:ext cx="4000653" cy="6868886"/>
          </a:xfrm>
          <a:prstGeom prst="rect">
            <a:avLst/>
          </a:prstGeom>
          <a:effectLst>
            <a:outerShdw blurRad="127000" dist="50800" dir="10800000" sx="99000" sy="99000" algn="r" rotWithShape="0">
              <a:prstClr val="black">
                <a:alpha val="40000"/>
              </a:prstClr>
            </a:outerShdw>
          </a:effectLst>
        </p:spPr>
      </p:pic>
    </p:spTree>
    <p:extLst>
      <p:ext uri="{BB962C8B-B14F-4D97-AF65-F5344CB8AC3E}">
        <p14:creationId xmlns:p14="http://schemas.microsoft.com/office/powerpoint/2010/main" val="30029969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7" name="Rectangle 46">
            <a:extLst>
              <a:ext uri="{FF2B5EF4-FFF2-40B4-BE49-F238E27FC236}">
                <a16:creationId xmlns:a16="http://schemas.microsoft.com/office/drawing/2014/main" id="{6897DEB4-4A88-4293-A935-9B25506C15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Freeform: Shape 47">
            <a:extLst>
              <a:ext uri="{FF2B5EF4-FFF2-40B4-BE49-F238E27FC236}">
                <a16:creationId xmlns:a16="http://schemas.microsoft.com/office/drawing/2014/main" id="{FBE42BC3-6707-4CBF-9386-048B994A4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90414" y="0"/>
            <a:ext cx="5653586" cy="6858000"/>
          </a:xfrm>
          <a:custGeom>
            <a:avLst/>
            <a:gdLst>
              <a:gd name="connsiteX0" fmla="*/ 366246 w 7538114"/>
              <a:gd name="connsiteY0" fmla="*/ 0 h 6858000"/>
              <a:gd name="connsiteX1" fmla="*/ 2830292 w 7538114"/>
              <a:gd name="connsiteY1" fmla="*/ 0 h 6858000"/>
              <a:gd name="connsiteX2" fmla="*/ 3903260 w 7538114"/>
              <a:gd name="connsiteY2" fmla="*/ 0 h 6858000"/>
              <a:gd name="connsiteX3" fmla="*/ 4597266 w 7538114"/>
              <a:gd name="connsiteY3" fmla="*/ 0 h 6858000"/>
              <a:gd name="connsiteX4" fmla="*/ 7192370 w 7538114"/>
              <a:gd name="connsiteY4" fmla="*/ 0 h 6858000"/>
              <a:gd name="connsiteX5" fmla="*/ 7538114 w 7538114"/>
              <a:gd name="connsiteY5" fmla="*/ 0 h 6858000"/>
              <a:gd name="connsiteX6" fmla="*/ 7538114 w 7538114"/>
              <a:gd name="connsiteY6" fmla="*/ 6858000 h 6858000"/>
              <a:gd name="connsiteX7" fmla="*/ 7192370 w 7538114"/>
              <a:gd name="connsiteY7" fmla="*/ 6858000 h 6858000"/>
              <a:gd name="connsiteX8" fmla="*/ 4597266 w 7538114"/>
              <a:gd name="connsiteY8" fmla="*/ 6858000 h 6858000"/>
              <a:gd name="connsiteX9" fmla="*/ 3903260 w 7538114"/>
              <a:gd name="connsiteY9" fmla="*/ 6858000 h 6858000"/>
              <a:gd name="connsiteX10" fmla="*/ 2830292 w 7538114"/>
              <a:gd name="connsiteY10" fmla="*/ 6858000 h 6858000"/>
              <a:gd name="connsiteX11" fmla="*/ 170314 w 7538114"/>
              <a:gd name="connsiteY11" fmla="*/ 6858000 h 6858000"/>
              <a:gd name="connsiteX12" fmla="*/ 170341 w 7538114"/>
              <a:gd name="connsiteY12" fmla="*/ 6857759 h 6858000"/>
              <a:gd name="connsiteX13" fmla="*/ 173485 w 7538114"/>
              <a:gd name="connsiteY13" fmla="*/ 6852129 h 6858000"/>
              <a:gd name="connsiteX14" fmla="*/ 167544 w 7538114"/>
              <a:gd name="connsiteY14" fmla="*/ 6830335 h 6858000"/>
              <a:gd name="connsiteX15" fmla="*/ 163472 w 7538114"/>
              <a:gd name="connsiteY15" fmla="*/ 6796707 h 6858000"/>
              <a:gd name="connsiteX16" fmla="*/ 160535 w 7538114"/>
              <a:gd name="connsiteY16" fmla="*/ 6780725 h 6858000"/>
              <a:gd name="connsiteX17" fmla="*/ 162318 w 7538114"/>
              <a:gd name="connsiteY17" fmla="*/ 6767829 h 6858000"/>
              <a:gd name="connsiteX18" fmla="*/ 162771 w 7538114"/>
              <a:gd name="connsiteY18" fmla="*/ 6694444 h 6858000"/>
              <a:gd name="connsiteX19" fmla="*/ 165604 w 7538114"/>
              <a:gd name="connsiteY19" fmla="*/ 6677569 h 6858000"/>
              <a:gd name="connsiteX20" fmla="*/ 171255 w 7538114"/>
              <a:gd name="connsiteY20" fmla="*/ 6669571 h 6858000"/>
              <a:gd name="connsiteX21" fmla="*/ 169240 w 7538114"/>
              <a:gd name="connsiteY21" fmla="*/ 6663304 h 6858000"/>
              <a:gd name="connsiteX22" fmla="*/ 169039 w 7538114"/>
              <a:gd name="connsiteY22" fmla="*/ 6618916 h 6858000"/>
              <a:gd name="connsiteX23" fmla="*/ 168392 w 7538114"/>
              <a:gd name="connsiteY23" fmla="*/ 6589960 h 6858000"/>
              <a:gd name="connsiteX24" fmla="*/ 160636 w 7538114"/>
              <a:gd name="connsiteY24" fmla="*/ 6588200 h 6858000"/>
              <a:gd name="connsiteX25" fmla="*/ 157872 w 7538114"/>
              <a:gd name="connsiteY25" fmla="*/ 6562416 h 6858000"/>
              <a:gd name="connsiteX26" fmla="*/ 162851 w 7538114"/>
              <a:gd name="connsiteY26" fmla="*/ 6534939 h 6858000"/>
              <a:gd name="connsiteX27" fmla="*/ 162153 w 7538114"/>
              <a:gd name="connsiteY27" fmla="*/ 6502552 h 6858000"/>
              <a:gd name="connsiteX28" fmla="*/ 161821 w 7538114"/>
              <a:gd name="connsiteY28" fmla="*/ 6483172 h 6858000"/>
              <a:gd name="connsiteX29" fmla="*/ 154586 w 7538114"/>
              <a:gd name="connsiteY29" fmla="*/ 6432309 h 6858000"/>
              <a:gd name="connsiteX30" fmla="*/ 127078 w 7538114"/>
              <a:gd name="connsiteY30" fmla="*/ 6349783 h 6858000"/>
              <a:gd name="connsiteX31" fmla="*/ 123181 w 7538114"/>
              <a:gd name="connsiteY31" fmla="*/ 6323872 h 6858000"/>
              <a:gd name="connsiteX32" fmla="*/ 124767 w 7538114"/>
              <a:gd name="connsiteY32" fmla="*/ 6319343 h 6858000"/>
              <a:gd name="connsiteX33" fmla="*/ 108246 w 7538114"/>
              <a:gd name="connsiteY33" fmla="*/ 6190348 h 6858000"/>
              <a:gd name="connsiteX34" fmla="*/ 107279 w 7538114"/>
              <a:gd name="connsiteY34" fmla="*/ 6167269 h 6858000"/>
              <a:gd name="connsiteX35" fmla="*/ 107883 w 7538114"/>
              <a:gd name="connsiteY35" fmla="*/ 6149986 h 6858000"/>
              <a:gd name="connsiteX36" fmla="*/ 102380 w 7538114"/>
              <a:gd name="connsiteY36" fmla="*/ 6108622 h 6858000"/>
              <a:gd name="connsiteX37" fmla="*/ 90314 w 7538114"/>
              <a:gd name="connsiteY37" fmla="*/ 6041155 h 6858000"/>
              <a:gd name="connsiteX38" fmla="*/ 88409 w 7538114"/>
              <a:gd name="connsiteY38" fmla="*/ 6026587 h 6858000"/>
              <a:gd name="connsiteX39" fmla="*/ 89403 w 7538114"/>
              <a:gd name="connsiteY39" fmla="*/ 6013265 h 6858000"/>
              <a:gd name="connsiteX40" fmla="*/ 91927 w 7538114"/>
              <a:gd name="connsiteY40" fmla="*/ 6009478 h 6858000"/>
              <a:gd name="connsiteX41" fmla="*/ 91302 w 7538114"/>
              <a:gd name="connsiteY41" fmla="*/ 6001336 h 6858000"/>
              <a:gd name="connsiteX42" fmla="*/ 91687 w 7538114"/>
              <a:gd name="connsiteY42" fmla="*/ 5999003 h 6858000"/>
              <a:gd name="connsiteX43" fmla="*/ 93336 w 7538114"/>
              <a:gd name="connsiteY43" fmla="*/ 5985795 h 6858000"/>
              <a:gd name="connsiteX44" fmla="*/ 83190 w 7538114"/>
              <a:gd name="connsiteY44" fmla="*/ 5961758 h 6858000"/>
              <a:gd name="connsiteX45" fmla="*/ 81952 w 7538114"/>
              <a:gd name="connsiteY45" fmla="*/ 5928761 h 6858000"/>
              <a:gd name="connsiteX46" fmla="*/ 67420 w 7538114"/>
              <a:gd name="connsiteY46" fmla="*/ 5787247 h 6858000"/>
              <a:gd name="connsiteX47" fmla="*/ 50760 w 7538114"/>
              <a:gd name="connsiteY47" fmla="*/ 5710700 h 6858000"/>
              <a:gd name="connsiteX48" fmla="*/ 42956 w 7538114"/>
              <a:gd name="connsiteY48" fmla="*/ 5641754 h 6858000"/>
              <a:gd name="connsiteX49" fmla="*/ 29695 w 7538114"/>
              <a:gd name="connsiteY49" fmla="*/ 5602326 h 6858000"/>
              <a:gd name="connsiteX50" fmla="*/ 18841 w 7538114"/>
              <a:gd name="connsiteY50" fmla="*/ 5570885 h 6858000"/>
              <a:gd name="connsiteX51" fmla="*/ 9977 w 7538114"/>
              <a:gd name="connsiteY51" fmla="*/ 5543492 h 6858000"/>
              <a:gd name="connsiteX52" fmla="*/ 5255 w 7538114"/>
              <a:gd name="connsiteY52" fmla="*/ 5531024 h 6858000"/>
              <a:gd name="connsiteX53" fmla="*/ 5447 w 7538114"/>
              <a:gd name="connsiteY53" fmla="*/ 5527845 h 6858000"/>
              <a:gd name="connsiteX54" fmla="*/ 0 w 7538114"/>
              <a:gd name="connsiteY54" fmla="*/ 5507724 h 6858000"/>
              <a:gd name="connsiteX55" fmla="*/ 435 w 7538114"/>
              <a:gd name="connsiteY55" fmla="*/ 5507045 h 6858000"/>
              <a:gd name="connsiteX56" fmla="*/ 1128 w 7538114"/>
              <a:gd name="connsiteY56" fmla="*/ 5499619 h 6858000"/>
              <a:gd name="connsiteX57" fmla="*/ 1291 w 7538114"/>
              <a:gd name="connsiteY57" fmla="*/ 5486342 h 6858000"/>
              <a:gd name="connsiteX58" fmla="*/ 7976 w 7538114"/>
              <a:gd name="connsiteY58" fmla="*/ 5450755 h 6858000"/>
              <a:gd name="connsiteX59" fmla="*/ 2355 w 7538114"/>
              <a:gd name="connsiteY59" fmla="*/ 5429732 h 6858000"/>
              <a:gd name="connsiteX60" fmla="*/ 1499 w 7538114"/>
              <a:gd name="connsiteY60" fmla="*/ 5370432 h 6858000"/>
              <a:gd name="connsiteX61" fmla="*/ 11483 w 7538114"/>
              <a:gd name="connsiteY61" fmla="*/ 5308330 h 6858000"/>
              <a:gd name="connsiteX62" fmla="*/ 12793 w 7538114"/>
              <a:gd name="connsiteY62" fmla="*/ 5246026 h 6858000"/>
              <a:gd name="connsiteX63" fmla="*/ 12525 w 7538114"/>
              <a:gd name="connsiteY63" fmla="*/ 5223468 h 6858000"/>
              <a:gd name="connsiteX64" fmla="*/ 15322 w 7538114"/>
              <a:gd name="connsiteY64" fmla="*/ 5183258 h 6858000"/>
              <a:gd name="connsiteX65" fmla="*/ 18633 w 7538114"/>
              <a:gd name="connsiteY65" fmla="*/ 5164842 h 6858000"/>
              <a:gd name="connsiteX66" fmla="*/ 18428 w 7538114"/>
              <a:gd name="connsiteY66" fmla="*/ 5164034 h 6858000"/>
              <a:gd name="connsiteX67" fmla="*/ 19854 w 7538114"/>
              <a:gd name="connsiteY67" fmla="*/ 5162388 h 6858000"/>
              <a:gd name="connsiteX68" fmla="*/ 20514 w 7538114"/>
              <a:gd name="connsiteY68" fmla="*/ 5158981 h 6858000"/>
              <a:gd name="connsiteX69" fmla="*/ 20089 w 7538114"/>
              <a:gd name="connsiteY69" fmla="*/ 5149681 h 6858000"/>
              <a:gd name="connsiteX70" fmla="*/ 19561 w 7538114"/>
              <a:gd name="connsiteY70" fmla="*/ 5146183 h 6858000"/>
              <a:gd name="connsiteX71" fmla="*/ 19571 w 7538114"/>
              <a:gd name="connsiteY71" fmla="*/ 5141065 h 6858000"/>
              <a:gd name="connsiteX72" fmla="*/ 19690 w 7538114"/>
              <a:gd name="connsiteY72" fmla="*/ 5140937 h 6858000"/>
              <a:gd name="connsiteX73" fmla="*/ 19471 w 7538114"/>
              <a:gd name="connsiteY73" fmla="*/ 5136144 h 6858000"/>
              <a:gd name="connsiteX74" fmla="*/ 16918 w 7538114"/>
              <a:gd name="connsiteY74" fmla="*/ 5112689 h 6858000"/>
              <a:gd name="connsiteX75" fmla="*/ 28071 w 7538114"/>
              <a:gd name="connsiteY75" fmla="*/ 5081696 h 6858000"/>
              <a:gd name="connsiteX76" fmla="*/ 30005 w 7538114"/>
              <a:gd name="connsiteY76" fmla="*/ 5068879 h 6858000"/>
              <a:gd name="connsiteX77" fmla="*/ 31661 w 7538114"/>
              <a:gd name="connsiteY77" fmla="*/ 5062033 h 6858000"/>
              <a:gd name="connsiteX78" fmla="*/ 32169 w 7538114"/>
              <a:gd name="connsiteY78" fmla="*/ 5061608 h 6858000"/>
              <a:gd name="connsiteX79" fmla="*/ 27436 w 7538114"/>
              <a:gd name="connsiteY79" fmla="*/ 5021480 h 6858000"/>
              <a:gd name="connsiteX80" fmla="*/ 26614 w 7538114"/>
              <a:gd name="connsiteY80" fmla="*/ 5013906 h 6858000"/>
              <a:gd name="connsiteX81" fmla="*/ 25056 w 7538114"/>
              <a:gd name="connsiteY81" fmla="*/ 5011767 h 6858000"/>
              <a:gd name="connsiteX82" fmla="*/ 24513 w 7538114"/>
              <a:gd name="connsiteY82" fmla="*/ 5000592 h 6858000"/>
              <a:gd name="connsiteX83" fmla="*/ 24951 w 7538114"/>
              <a:gd name="connsiteY83" fmla="*/ 4999307 h 6858000"/>
              <a:gd name="connsiteX84" fmla="*/ 22644 w 7538114"/>
              <a:gd name="connsiteY84" fmla="*/ 4990090 h 6858000"/>
              <a:gd name="connsiteX85" fmla="*/ 18465 w 7538114"/>
              <a:gd name="connsiteY85" fmla="*/ 4982366 h 6858000"/>
              <a:gd name="connsiteX86" fmla="*/ 20888 w 7538114"/>
              <a:gd name="connsiteY86" fmla="*/ 4887310 h 6858000"/>
              <a:gd name="connsiteX87" fmla="*/ 15781 w 7538114"/>
              <a:gd name="connsiteY87" fmla="*/ 4807298 h 6858000"/>
              <a:gd name="connsiteX88" fmla="*/ 19649 w 7538114"/>
              <a:gd name="connsiteY88" fmla="*/ 4779990 h 6858000"/>
              <a:gd name="connsiteX89" fmla="*/ 21858 w 7538114"/>
              <a:gd name="connsiteY89" fmla="*/ 4664237 h 6858000"/>
              <a:gd name="connsiteX90" fmla="*/ 13583 w 7538114"/>
              <a:gd name="connsiteY90" fmla="*/ 4598607 h 6858000"/>
              <a:gd name="connsiteX91" fmla="*/ 7118 w 7538114"/>
              <a:gd name="connsiteY91" fmla="*/ 4546768 h 6858000"/>
              <a:gd name="connsiteX92" fmla="*/ 14555 w 7538114"/>
              <a:gd name="connsiteY92" fmla="*/ 4522182 h 6858000"/>
              <a:gd name="connsiteX93" fmla="*/ 17290 w 7538114"/>
              <a:gd name="connsiteY93" fmla="*/ 4509768 h 6858000"/>
              <a:gd name="connsiteX94" fmla="*/ 17421 w 7538114"/>
              <a:gd name="connsiteY94" fmla="*/ 4494586 h 6858000"/>
              <a:gd name="connsiteX95" fmla="*/ 18193 w 7538114"/>
              <a:gd name="connsiteY95" fmla="*/ 4440649 h 6858000"/>
              <a:gd name="connsiteX96" fmla="*/ 16616 w 7538114"/>
              <a:gd name="connsiteY96" fmla="*/ 4431853 h 6858000"/>
              <a:gd name="connsiteX97" fmla="*/ 19246 w 7538114"/>
              <a:gd name="connsiteY97" fmla="*/ 4403141 h 6858000"/>
              <a:gd name="connsiteX98" fmla="*/ 19623 w 7538114"/>
              <a:gd name="connsiteY98" fmla="*/ 4356631 h 6858000"/>
              <a:gd name="connsiteX99" fmla="*/ 20293 w 7538114"/>
              <a:gd name="connsiteY99" fmla="*/ 4339937 h 6858000"/>
              <a:gd name="connsiteX100" fmla="*/ 18752 w 7538114"/>
              <a:gd name="connsiteY100" fmla="*/ 4331435 h 6858000"/>
              <a:gd name="connsiteX101" fmla="*/ 24901 w 7538114"/>
              <a:gd name="connsiteY101" fmla="*/ 4320990 h 6858000"/>
              <a:gd name="connsiteX102" fmla="*/ 23734 w 7538114"/>
              <a:gd name="connsiteY102" fmla="*/ 4309111 h 6858000"/>
              <a:gd name="connsiteX103" fmla="*/ 29040 w 7538114"/>
              <a:gd name="connsiteY103" fmla="*/ 4263489 h 6858000"/>
              <a:gd name="connsiteX104" fmla="*/ 29429 w 7538114"/>
              <a:gd name="connsiteY104" fmla="*/ 4258775 h 6858000"/>
              <a:gd name="connsiteX105" fmla="*/ 33702 w 7538114"/>
              <a:gd name="connsiteY105" fmla="*/ 4248512 h 6858000"/>
              <a:gd name="connsiteX106" fmla="*/ 37356 w 7538114"/>
              <a:gd name="connsiteY106" fmla="*/ 4228644 h 6858000"/>
              <a:gd name="connsiteX107" fmla="*/ 50107 w 7538114"/>
              <a:gd name="connsiteY107" fmla="*/ 4193665 h 6858000"/>
              <a:gd name="connsiteX108" fmla="*/ 56192 w 7538114"/>
              <a:gd name="connsiteY108" fmla="*/ 4173105 h 6858000"/>
              <a:gd name="connsiteX109" fmla="*/ 61800 w 7538114"/>
              <a:gd name="connsiteY109" fmla="*/ 4159194 h 6858000"/>
              <a:gd name="connsiteX110" fmla="*/ 69720 w 7538114"/>
              <a:gd name="connsiteY110" fmla="*/ 4118135 h 6858000"/>
              <a:gd name="connsiteX111" fmla="*/ 80190 w 7538114"/>
              <a:gd name="connsiteY111" fmla="*/ 4047713 h 6858000"/>
              <a:gd name="connsiteX112" fmla="*/ 96666 w 7538114"/>
              <a:gd name="connsiteY112" fmla="*/ 3980780 h 6858000"/>
              <a:gd name="connsiteX113" fmla="*/ 107651 w 7538114"/>
              <a:gd name="connsiteY113" fmla="*/ 3941872 h 6858000"/>
              <a:gd name="connsiteX114" fmla="*/ 118444 w 7538114"/>
              <a:gd name="connsiteY114" fmla="*/ 3897465 h 6858000"/>
              <a:gd name="connsiteX115" fmla="*/ 134545 w 7538114"/>
              <a:gd name="connsiteY115" fmla="*/ 3811132 h 6858000"/>
              <a:gd name="connsiteX116" fmla="*/ 145381 w 7538114"/>
              <a:gd name="connsiteY116" fmla="*/ 3746540 h 6858000"/>
              <a:gd name="connsiteX117" fmla="*/ 146587 w 7538114"/>
              <a:gd name="connsiteY117" fmla="*/ 3670275 h 6858000"/>
              <a:gd name="connsiteX118" fmla="*/ 165690 w 7538114"/>
              <a:gd name="connsiteY118" fmla="*/ 3580981 h 6858000"/>
              <a:gd name="connsiteX119" fmla="*/ 163175 w 7538114"/>
              <a:gd name="connsiteY119" fmla="*/ 3570960 h 6858000"/>
              <a:gd name="connsiteX120" fmla="*/ 162665 w 7538114"/>
              <a:gd name="connsiteY120" fmla="*/ 3560693 h 6858000"/>
              <a:gd name="connsiteX121" fmla="*/ 163299 w 7538114"/>
              <a:gd name="connsiteY121" fmla="*/ 3559743 h 6858000"/>
              <a:gd name="connsiteX122" fmla="*/ 164777 w 7538114"/>
              <a:gd name="connsiteY122" fmla="*/ 3548721 h 6858000"/>
              <a:gd name="connsiteX123" fmla="*/ 163708 w 7538114"/>
              <a:gd name="connsiteY123" fmla="*/ 3545693 h 6858000"/>
              <a:gd name="connsiteX124" fmla="*/ 164286 w 7538114"/>
              <a:gd name="connsiteY124" fmla="*/ 3537938 h 6858000"/>
              <a:gd name="connsiteX125" fmla="*/ 164247 w 7538114"/>
              <a:gd name="connsiteY125" fmla="*/ 3522141 h 6858000"/>
              <a:gd name="connsiteX126" fmla="*/ 165343 w 7538114"/>
              <a:gd name="connsiteY126" fmla="*/ 3519672 h 6858000"/>
              <a:gd name="connsiteX127" fmla="*/ 167001 w 7538114"/>
              <a:gd name="connsiteY127" fmla="*/ 3496604 h 6858000"/>
              <a:gd name="connsiteX128" fmla="*/ 167547 w 7538114"/>
              <a:gd name="connsiteY128" fmla="*/ 3496517 h 6858000"/>
              <a:gd name="connsiteX129" fmla="*/ 170301 w 7538114"/>
              <a:gd name="connsiteY129" fmla="*/ 3491023 h 6858000"/>
              <a:gd name="connsiteX130" fmla="*/ 174371 w 7538114"/>
              <a:gd name="connsiteY130" fmla="*/ 3479998 h 6858000"/>
              <a:gd name="connsiteX131" fmla="*/ 190228 w 7538114"/>
              <a:gd name="connsiteY131" fmla="*/ 3457434 h 6858000"/>
              <a:gd name="connsiteX132" fmla="*/ 192016 w 7538114"/>
              <a:gd name="connsiteY132" fmla="*/ 3433411 h 6858000"/>
              <a:gd name="connsiteX133" fmla="*/ 192663 w 7538114"/>
              <a:gd name="connsiteY133" fmla="*/ 3428691 h 6858000"/>
              <a:gd name="connsiteX134" fmla="*/ 192793 w 7538114"/>
              <a:gd name="connsiteY134" fmla="*/ 3428643 h 6858000"/>
              <a:gd name="connsiteX135" fmla="*/ 193710 w 7538114"/>
              <a:gd name="connsiteY135" fmla="*/ 3423760 h 6858000"/>
              <a:gd name="connsiteX136" fmla="*/ 193839 w 7538114"/>
              <a:gd name="connsiteY136" fmla="*/ 3420085 h 6858000"/>
              <a:gd name="connsiteX137" fmla="*/ 195094 w 7538114"/>
              <a:gd name="connsiteY137" fmla="*/ 3410930 h 6858000"/>
              <a:gd name="connsiteX138" fmla="*/ 196311 w 7538114"/>
              <a:gd name="connsiteY138" fmla="*/ 3408092 h 6858000"/>
              <a:gd name="connsiteX139" fmla="*/ 197928 w 7538114"/>
              <a:gd name="connsiteY139" fmla="*/ 3407419 h 6858000"/>
              <a:gd name="connsiteX140" fmla="*/ 197881 w 7538114"/>
              <a:gd name="connsiteY140" fmla="*/ 3406520 h 6858000"/>
              <a:gd name="connsiteX141" fmla="*/ 204222 w 7538114"/>
              <a:gd name="connsiteY141" fmla="*/ 3391015 h 6858000"/>
              <a:gd name="connsiteX142" fmla="*/ 213950 w 7538114"/>
              <a:gd name="connsiteY142" fmla="*/ 3354361 h 6858000"/>
              <a:gd name="connsiteX143" fmla="*/ 217699 w 7538114"/>
              <a:gd name="connsiteY143" fmla="*/ 3332639 h 6858000"/>
              <a:gd name="connsiteX144" fmla="*/ 229963 w 7538114"/>
              <a:gd name="connsiteY144" fmla="*/ 3273935 h 6858000"/>
              <a:gd name="connsiteX145" fmla="*/ 243785 w 7538114"/>
              <a:gd name="connsiteY145" fmla="*/ 3215621 h 6858000"/>
              <a:gd name="connsiteX146" fmla="*/ 259175 w 7538114"/>
              <a:gd name="connsiteY146" fmla="*/ 3189909 h 6858000"/>
              <a:gd name="connsiteX147" fmla="*/ 259988 w 7538114"/>
              <a:gd name="connsiteY147" fmla="*/ 3186579 h 6858000"/>
              <a:gd name="connsiteX148" fmla="*/ 259980 w 7538114"/>
              <a:gd name="connsiteY148" fmla="*/ 3177264 h 6858000"/>
              <a:gd name="connsiteX149" fmla="*/ 259609 w 7538114"/>
              <a:gd name="connsiteY149" fmla="*/ 3173723 h 6858000"/>
              <a:gd name="connsiteX150" fmla="*/ 259848 w 7538114"/>
              <a:gd name="connsiteY150" fmla="*/ 3168622 h 6858000"/>
              <a:gd name="connsiteX151" fmla="*/ 259971 w 7538114"/>
              <a:gd name="connsiteY151" fmla="*/ 3168508 h 6858000"/>
              <a:gd name="connsiteX152" fmla="*/ 259966 w 7538114"/>
              <a:gd name="connsiteY152" fmla="*/ 3163706 h 6858000"/>
              <a:gd name="connsiteX153" fmla="*/ 258467 w 7538114"/>
              <a:gd name="connsiteY153" fmla="*/ 3140064 h 6858000"/>
              <a:gd name="connsiteX154" fmla="*/ 270990 w 7538114"/>
              <a:gd name="connsiteY154" fmla="*/ 3110288 h 6858000"/>
              <a:gd name="connsiteX155" fmla="*/ 273494 w 7538114"/>
              <a:gd name="connsiteY155" fmla="*/ 3097704 h 6858000"/>
              <a:gd name="connsiteX156" fmla="*/ 275456 w 7538114"/>
              <a:gd name="connsiteY156" fmla="*/ 3091047 h 6858000"/>
              <a:gd name="connsiteX157" fmla="*/ 275980 w 7538114"/>
              <a:gd name="connsiteY157" fmla="*/ 3090672 h 6858000"/>
              <a:gd name="connsiteX158" fmla="*/ 274486 w 7538114"/>
              <a:gd name="connsiteY158" fmla="*/ 3068004 h 6858000"/>
              <a:gd name="connsiteX159" fmla="*/ 275226 w 7538114"/>
              <a:gd name="connsiteY159" fmla="*/ 3065087 h 6858000"/>
              <a:gd name="connsiteX160" fmla="*/ 273050 w 7538114"/>
              <a:gd name="connsiteY160" fmla="*/ 3050191 h 6858000"/>
              <a:gd name="connsiteX161" fmla="*/ 272566 w 7538114"/>
              <a:gd name="connsiteY161" fmla="*/ 3042559 h 6858000"/>
              <a:gd name="connsiteX162" fmla="*/ 271107 w 7538114"/>
              <a:gd name="connsiteY162" fmla="*/ 3040271 h 6858000"/>
              <a:gd name="connsiteX163" fmla="*/ 271065 w 7538114"/>
              <a:gd name="connsiteY163" fmla="*/ 3029072 h 6858000"/>
              <a:gd name="connsiteX164" fmla="*/ 271558 w 7538114"/>
              <a:gd name="connsiteY164" fmla="*/ 3027835 h 6858000"/>
              <a:gd name="connsiteX165" fmla="*/ 268717 w 7538114"/>
              <a:gd name="connsiteY165" fmla="*/ 2964245 h 6858000"/>
              <a:gd name="connsiteX166" fmla="*/ 272511 w 7538114"/>
              <a:gd name="connsiteY166" fmla="*/ 2915772 h 6858000"/>
              <a:gd name="connsiteX167" fmla="*/ 270356 w 7538114"/>
              <a:gd name="connsiteY167" fmla="*/ 2825842 h 6858000"/>
              <a:gd name="connsiteX168" fmla="*/ 273897 w 7538114"/>
              <a:gd name="connsiteY168" fmla="*/ 2734957 h 6858000"/>
              <a:gd name="connsiteX169" fmla="*/ 274458 w 7538114"/>
              <a:gd name="connsiteY169" fmla="*/ 2636572 h 6858000"/>
              <a:gd name="connsiteX170" fmla="*/ 279157 w 7538114"/>
              <a:gd name="connsiteY170" fmla="*/ 2604260 h 6858000"/>
              <a:gd name="connsiteX171" fmla="*/ 288131 w 7538114"/>
              <a:gd name="connsiteY171" fmla="*/ 2582747 h 6858000"/>
              <a:gd name="connsiteX172" fmla="*/ 282516 w 7538114"/>
              <a:gd name="connsiteY172" fmla="*/ 2478755 h 6858000"/>
              <a:gd name="connsiteX173" fmla="*/ 287359 w 7538114"/>
              <a:gd name="connsiteY173" fmla="*/ 2451804 h 6858000"/>
              <a:gd name="connsiteX174" fmla="*/ 289577 w 7538114"/>
              <a:gd name="connsiteY174" fmla="*/ 2408801 h 6858000"/>
              <a:gd name="connsiteX175" fmla="*/ 293203 w 7538114"/>
              <a:gd name="connsiteY175" fmla="*/ 2392670 h 6858000"/>
              <a:gd name="connsiteX176" fmla="*/ 304183 w 7538114"/>
              <a:gd name="connsiteY176" fmla="*/ 2330165 h 6858000"/>
              <a:gd name="connsiteX177" fmla="*/ 310900 w 7538114"/>
              <a:gd name="connsiteY177" fmla="*/ 2276363 h 6858000"/>
              <a:gd name="connsiteX178" fmla="*/ 303909 w 7538114"/>
              <a:gd name="connsiteY178" fmla="*/ 2236310 h 6858000"/>
              <a:gd name="connsiteX179" fmla="*/ 306187 w 7538114"/>
              <a:gd name="connsiteY179" fmla="*/ 2232984 h 6858000"/>
              <a:gd name="connsiteX180" fmla="*/ 307158 w 7538114"/>
              <a:gd name="connsiteY180" fmla="*/ 2205763 h 6858000"/>
              <a:gd name="connsiteX181" fmla="*/ 304860 w 7538114"/>
              <a:gd name="connsiteY181" fmla="*/ 2145703 h 6858000"/>
              <a:gd name="connsiteX182" fmla="*/ 304273 w 7538114"/>
              <a:gd name="connsiteY182" fmla="*/ 2092533 h 6858000"/>
              <a:gd name="connsiteX183" fmla="*/ 301642 w 7538114"/>
              <a:gd name="connsiteY183" fmla="*/ 2057359 h 6858000"/>
              <a:gd name="connsiteX184" fmla="*/ 306736 w 7538114"/>
              <a:gd name="connsiteY184" fmla="*/ 2016105 h 6858000"/>
              <a:gd name="connsiteX185" fmla="*/ 316234 w 7538114"/>
              <a:gd name="connsiteY185" fmla="*/ 1983129 h 6858000"/>
              <a:gd name="connsiteX186" fmla="*/ 318238 w 7538114"/>
              <a:gd name="connsiteY186" fmla="*/ 1956745 h 6858000"/>
              <a:gd name="connsiteX187" fmla="*/ 311341 w 7538114"/>
              <a:gd name="connsiteY187" fmla="*/ 1950160 h 6858000"/>
              <a:gd name="connsiteX188" fmla="*/ 323556 w 7538114"/>
              <a:gd name="connsiteY188" fmla="*/ 1879546 h 6858000"/>
              <a:gd name="connsiteX189" fmla="*/ 326085 w 7538114"/>
              <a:gd name="connsiteY189" fmla="*/ 1854893 h 6858000"/>
              <a:gd name="connsiteX190" fmla="*/ 335058 w 7538114"/>
              <a:gd name="connsiteY190" fmla="*/ 1787684 h 6858000"/>
              <a:gd name="connsiteX191" fmla="*/ 345620 w 7538114"/>
              <a:gd name="connsiteY191" fmla="*/ 1720464 h 6858000"/>
              <a:gd name="connsiteX192" fmla="*/ 360760 w 7538114"/>
              <a:gd name="connsiteY192" fmla="*/ 1681196 h 6858000"/>
              <a:gd name="connsiteX193" fmla="*/ 368483 w 7538114"/>
              <a:gd name="connsiteY193" fmla="*/ 1625881 h 6858000"/>
              <a:gd name="connsiteX194" fmla="*/ 371077 w 7538114"/>
              <a:gd name="connsiteY194" fmla="*/ 1616704 h 6858000"/>
              <a:gd name="connsiteX195" fmla="*/ 383008 w 7538114"/>
              <a:gd name="connsiteY195" fmla="*/ 1551493 h 6858000"/>
              <a:gd name="connsiteX196" fmla="*/ 384834 w 7538114"/>
              <a:gd name="connsiteY196" fmla="*/ 1475233 h 6858000"/>
              <a:gd name="connsiteX197" fmla="*/ 418371 w 7538114"/>
              <a:gd name="connsiteY197" fmla="*/ 1380155 h 6858000"/>
              <a:gd name="connsiteX198" fmla="*/ 469641 w 7538114"/>
              <a:gd name="connsiteY198" fmla="*/ 1210871 h 6858000"/>
              <a:gd name="connsiteX199" fmla="*/ 489701 w 7538114"/>
              <a:gd name="connsiteY199" fmla="*/ 1028427 h 6858000"/>
              <a:gd name="connsiteX200" fmla="*/ 486354 w 7538114"/>
              <a:gd name="connsiteY200" fmla="*/ 980383 h 6858000"/>
              <a:gd name="connsiteX201" fmla="*/ 479762 w 7538114"/>
              <a:gd name="connsiteY201" fmla="*/ 839699 h 6858000"/>
              <a:gd name="connsiteX202" fmla="*/ 445664 w 7538114"/>
              <a:gd name="connsiteY202" fmla="*/ 696545 h 6858000"/>
              <a:gd name="connsiteX203" fmla="*/ 440047 w 7538114"/>
              <a:gd name="connsiteY203" fmla="*/ 606615 h 6858000"/>
              <a:gd name="connsiteX204" fmla="*/ 431225 w 7538114"/>
              <a:gd name="connsiteY204" fmla="*/ 563889 h 6858000"/>
              <a:gd name="connsiteX205" fmla="*/ 430803 w 7538114"/>
              <a:gd name="connsiteY205" fmla="*/ 534294 h 6858000"/>
              <a:gd name="connsiteX206" fmla="*/ 429777 w 7538114"/>
              <a:gd name="connsiteY206" fmla="*/ 516548 h 6858000"/>
              <a:gd name="connsiteX207" fmla="*/ 415090 w 7538114"/>
              <a:gd name="connsiteY207" fmla="*/ 485808 h 6858000"/>
              <a:gd name="connsiteX208" fmla="*/ 410499 w 7538114"/>
              <a:gd name="connsiteY208" fmla="*/ 369873 h 6858000"/>
              <a:gd name="connsiteX209" fmla="*/ 425314 w 7538114"/>
              <a:gd name="connsiteY209" fmla="*/ 259180 h 6858000"/>
              <a:gd name="connsiteX210" fmla="*/ 383240 w 7538114"/>
              <a:gd name="connsiteY210" fmla="*/ 94173 h 6858000"/>
              <a:gd name="connsiteX211" fmla="*/ 379938 w 7538114"/>
              <a:gd name="connsiteY211" fmla="*/ 77267 h 6858000"/>
              <a:gd name="connsiteX212" fmla="*/ 373430 w 7538114"/>
              <a:gd name="connsiteY212" fmla="*/ 3885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7538114" h="6858000">
                <a:moveTo>
                  <a:pt x="366246" y="0"/>
                </a:moveTo>
                <a:lnTo>
                  <a:pt x="2830292" y="0"/>
                </a:lnTo>
                <a:lnTo>
                  <a:pt x="3903260" y="0"/>
                </a:lnTo>
                <a:lnTo>
                  <a:pt x="4597266" y="0"/>
                </a:lnTo>
                <a:lnTo>
                  <a:pt x="7192370" y="0"/>
                </a:lnTo>
                <a:lnTo>
                  <a:pt x="7538114" y="0"/>
                </a:lnTo>
                <a:lnTo>
                  <a:pt x="7538114" y="6858000"/>
                </a:lnTo>
                <a:lnTo>
                  <a:pt x="7192370" y="6858000"/>
                </a:lnTo>
                <a:lnTo>
                  <a:pt x="4597266" y="6858000"/>
                </a:lnTo>
                <a:lnTo>
                  <a:pt x="3903260" y="6858000"/>
                </a:lnTo>
                <a:lnTo>
                  <a:pt x="2830292" y="6858000"/>
                </a:lnTo>
                <a:lnTo>
                  <a:pt x="170314" y="6858000"/>
                </a:lnTo>
                <a:cubicBezTo>
                  <a:pt x="170323" y="6857920"/>
                  <a:pt x="170332" y="6857839"/>
                  <a:pt x="170341" y="6857759"/>
                </a:cubicBezTo>
                <a:lnTo>
                  <a:pt x="173485" y="6852129"/>
                </a:lnTo>
                <a:lnTo>
                  <a:pt x="167544" y="6830335"/>
                </a:lnTo>
                <a:cubicBezTo>
                  <a:pt x="165474" y="6819600"/>
                  <a:pt x="164100" y="6808301"/>
                  <a:pt x="163472" y="6796707"/>
                </a:cubicBezTo>
                <a:cubicBezTo>
                  <a:pt x="167658" y="6794106"/>
                  <a:pt x="161711" y="6785006"/>
                  <a:pt x="160535" y="6780725"/>
                </a:cubicBezTo>
                <a:cubicBezTo>
                  <a:pt x="163268" y="6780680"/>
                  <a:pt x="164578" y="6771195"/>
                  <a:pt x="162318" y="6767829"/>
                </a:cubicBezTo>
                <a:cubicBezTo>
                  <a:pt x="152545" y="6697090"/>
                  <a:pt x="178083" y="6736894"/>
                  <a:pt x="162771" y="6694444"/>
                </a:cubicBezTo>
                <a:cubicBezTo>
                  <a:pt x="161971" y="6687342"/>
                  <a:pt x="163342" y="6682014"/>
                  <a:pt x="165604" y="6677569"/>
                </a:cubicBezTo>
                <a:lnTo>
                  <a:pt x="171255" y="6669571"/>
                </a:lnTo>
                <a:lnTo>
                  <a:pt x="169240" y="6663304"/>
                </a:lnTo>
                <a:cubicBezTo>
                  <a:pt x="169082" y="6639651"/>
                  <a:pt x="174873" y="6632678"/>
                  <a:pt x="169039" y="6618916"/>
                </a:cubicBezTo>
                <a:cubicBezTo>
                  <a:pt x="181164" y="6598580"/>
                  <a:pt x="170248" y="6605428"/>
                  <a:pt x="168392" y="6589960"/>
                </a:cubicBezTo>
                <a:cubicBezTo>
                  <a:pt x="165975" y="6577758"/>
                  <a:pt x="161323" y="6600160"/>
                  <a:pt x="160636" y="6588200"/>
                </a:cubicBezTo>
                <a:cubicBezTo>
                  <a:pt x="163766" y="6575263"/>
                  <a:pt x="154044" y="6575871"/>
                  <a:pt x="157872" y="6562416"/>
                </a:cubicBezTo>
                <a:cubicBezTo>
                  <a:pt x="165196" y="6565685"/>
                  <a:pt x="156453" y="6535866"/>
                  <a:pt x="162851" y="6534939"/>
                </a:cubicBezTo>
                <a:cubicBezTo>
                  <a:pt x="153702" y="6523511"/>
                  <a:pt x="164973" y="6517769"/>
                  <a:pt x="162153" y="6502552"/>
                </a:cubicBezTo>
                <a:cubicBezTo>
                  <a:pt x="158692" y="6495386"/>
                  <a:pt x="158098" y="6490216"/>
                  <a:pt x="161821" y="6483172"/>
                </a:cubicBezTo>
                <a:cubicBezTo>
                  <a:pt x="144969" y="6450162"/>
                  <a:pt x="161066" y="6463202"/>
                  <a:pt x="154586" y="6432309"/>
                </a:cubicBezTo>
                <a:cubicBezTo>
                  <a:pt x="147771" y="6405695"/>
                  <a:pt x="143349" y="6375524"/>
                  <a:pt x="127078" y="6349783"/>
                </a:cubicBezTo>
                <a:cubicBezTo>
                  <a:pt x="122468" y="6345058"/>
                  <a:pt x="120723" y="6333456"/>
                  <a:pt x="123181" y="6323872"/>
                </a:cubicBezTo>
                <a:cubicBezTo>
                  <a:pt x="123604" y="6322225"/>
                  <a:pt x="124138" y="6320698"/>
                  <a:pt x="124767" y="6319343"/>
                </a:cubicBezTo>
                <a:cubicBezTo>
                  <a:pt x="122278" y="6297089"/>
                  <a:pt x="111161" y="6215694"/>
                  <a:pt x="108246" y="6190348"/>
                </a:cubicBezTo>
                <a:cubicBezTo>
                  <a:pt x="114169" y="6188296"/>
                  <a:pt x="103482" y="6175479"/>
                  <a:pt x="107279" y="6167269"/>
                </a:cubicBezTo>
                <a:cubicBezTo>
                  <a:pt x="110610" y="6161389"/>
                  <a:pt x="108145" y="6156128"/>
                  <a:pt x="107883" y="6149986"/>
                </a:cubicBezTo>
                <a:cubicBezTo>
                  <a:pt x="110502" y="6141894"/>
                  <a:pt x="105773" y="6115502"/>
                  <a:pt x="102380" y="6108622"/>
                </a:cubicBezTo>
                <a:cubicBezTo>
                  <a:pt x="90593" y="6092179"/>
                  <a:pt x="99346" y="6054816"/>
                  <a:pt x="90314" y="6041155"/>
                </a:cubicBezTo>
                <a:cubicBezTo>
                  <a:pt x="88990" y="6036198"/>
                  <a:pt x="88454" y="6031348"/>
                  <a:pt x="88409" y="6026587"/>
                </a:cubicBezTo>
                <a:lnTo>
                  <a:pt x="89403" y="6013265"/>
                </a:lnTo>
                <a:lnTo>
                  <a:pt x="91927" y="6009478"/>
                </a:lnTo>
                <a:lnTo>
                  <a:pt x="91302" y="6001336"/>
                </a:lnTo>
                <a:cubicBezTo>
                  <a:pt x="91431" y="6000558"/>
                  <a:pt x="91559" y="5999781"/>
                  <a:pt x="91687" y="5999003"/>
                </a:cubicBezTo>
                <a:cubicBezTo>
                  <a:pt x="92431" y="5994547"/>
                  <a:pt x="93080" y="5990148"/>
                  <a:pt x="93336" y="5985795"/>
                </a:cubicBezTo>
                <a:cubicBezTo>
                  <a:pt x="80676" y="5991520"/>
                  <a:pt x="93430" y="5949705"/>
                  <a:pt x="83190" y="5961758"/>
                </a:cubicBezTo>
                <a:cubicBezTo>
                  <a:pt x="82399" y="5938832"/>
                  <a:pt x="72862" y="5956319"/>
                  <a:pt x="81952" y="5928761"/>
                </a:cubicBezTo>
                <a:cubicBezTo>
                  <a:pt x="79324" y="5899676"/>
                  <a:pt x="72619" y="5823590"/>
                  <a:pt x="67420" y="5787247"/>
                </a:cubicBezTo>
                <a:cubicBezTo>
                  <a:pt x="53530" y="5750058"/>
                  <a:pt x="57730" y="5736292"/>
                  <a:pt x="50760" y="5710700"/>
                </a:cubicBezTo>
                <a:cubicBezTo>
                  <a:pt x="47368" y="5660911"/>
                  <a:pt x="30723" y="5663675"/>
                  <a:pt x="42956" y="5641754"/>
                </a:cubicBezTo>
                <a:cubicBezTo>
                  <a:pt x="39970" y="5608358"/>
                  <a:pt x="24769" y="5637338"/>
                  <a:pt x="29695" y="5602326"/>
                </a:cubicBezTo>
                <a:cubicBezTo>
                  <a:pt x="27700" y="5601239"/>
                  <a:pt x="20274" y="5573144"/>
                  <a:pt x="18841" y="5570885"/>
                </a:cubicBezTo>
                <a:lnTo>
                  <a:pt x="9977" y="5543492"/>
                </a:lnTo>
                <a:lnTo>
                  <a:pt x="5255" y="5531024"/>
                </a:lnTo>
                <a:lnTo>
                  <a:pt x="5447" y="5527845"/>
                </a:lnTo>
                <a:lnTo>
                  <a:pt x="0" y="5507724"/>
                </a:lnTo>
                <a:lnTo>
                  <a:pt x="435" y="5507045"/>
                </a:lnTo>
                <a:cubicBezTo>
                  <a:pt x="1286" y="5505065"/>
                  <a:pt x="1681" y="5502734"/>
                  <a:pt x="1128" y="5499619"/>
                </a:cubicBezTo>
                <a:cubicBezTo>
                  <a:pt x="9450" y="5498516"/>
                  <a:pt x="3652" y="5495435"/>
                  <a:pt x="1291" y="5486342"/>
                </a:cubicBezTo>
                <a:cubicBezTo>
                  <a:pt x="13688" y="5482600"/>
                  <a:pt x="2464" y="5460320"/>
                  <a:pt x="7976" y="5450755"/>
                </a:cubicBezTo>
                <a:cubicBezTo>
                  <a:pt x="5962" y="5444157"/>
                  <a:pt x="4058" y="5437113"/>
                  <a:pt x="2355" y="5429732"/>
                </a:cubicBezTo>
                <a:lnTo>
                  <a:pt x="1499" y="5370432"/>
                </a:lnTo>
                <a:lnTo>
                  <a:pt x="11483" y="5308330"/>
                </a:lnTo>
                <a:cubicBezTo>
                  <a:pt x="11701" y="5285359"/>
                  <a:pt x="15408" y="5265468"/>
                  <a:pt x="12793" y="5246026"/>
                </a:cubicBezTo>
                <a:cubicBezTo>
                  <a:pt x="15678" y="5238129"/>
                  <a:pt x="16842" y="5230685"/>
                  <a:pt x="12525" y="5223468"/>
                </a:cubicBezTo>
                <a:cubicBezTo>
                  <a:pt x="13966" y="5202031"/>
                  <a:pt x="20131" y="5196842"/>
                  <a:pt x="15322" y="5183258"/>
                </a:cubicBezTo>
                <a:cubicBezTo>
                  <a:pt x="25294" y="5171214"/>
                  <a:pt x="21488" y="5170502"/>
                  <a:pt x="18633" y="5164842"/>
                </a:cubicBezTo>
                <a:cubicBezTo>
                  <a:pt x="18565" y="5164573"/>
                  <a:pt x="18496" y="5164303"/>
                  <a:pt x="18428" y="5164034"/>
                </a:cubicBezTo>
                <a:lnTo>
                  <a:pt x="19854" y="5162388"/>
                </a:lnTo>
                <a:lnTo>
                  <a:pt x="20514" y="5158981"/>
                </a:lnTo>
                <a:lnTo>
                  <a:pt x="20089" y="5149681"/>
                </a:lnTo>
                <a:lnTo>
                  <a:pt x="19561" y="5146183"/>
                </a:lnTo>
                <a:cubicBezTo>
                  <a:pt x="19336" y="5143774"/>
                  <a:pt x="19361" y="5142173"/>
                  <a:pt x="19571" y="5141065"/>
                </a:cubicBezTo>
                <a:lnTo>
                  <a:pt x="19690" y="5140937"/>
                </a:lnTo>
                <a:cubicBezTo>
                  <a:pt x="19617" y="5139339"/>
                  <a:pt x="19544" y="5137742"/>
                  <a:pt x="19471" y="5136144"/>
                </a:cubicBezTo>
                <a:cubicBezTo>
                  <a:pt x="18832" y="5128055"/>
                  <a:pt x="17958" y="5120182"/>
                  <a:pt x="16918" y="5112689"/>
                </a:cubicBezTo>
                <a:cubicBezTo>
                  <a:pt x="23464" y="5106353"/>
                  <a:pt x="15733" y="5078666"/>
                  <a:pt x="28071" y="5081696"/>
                </a:cubicBezTo>
                <a:cubicBezTo>
                  <a:pt x="27036" y="5071588"/>
                  <a:pt x="21912" y="5065475"/>
                  <a:pt x="30005" y="5068879"/>
                </a:cubicBezTo>
                <a:cubicBezTo>
                  <a:pt x="29897" y="5065551"/>
                  <a:pt x="30585" y="5063501"/>
                  <a:pt x="31661" y="5062033"/>
                </a:cubicBezTo>
                <a:lnTo>
                  <a:pt x="32169" y="5061608"/>
                </a:lnTo>
                <a:lnTo>
                  <a:pt x="27436" y="5021480"/>
                </a:lnTo>
                <a:lnTo>
                  <a:pt x="26614" y="5013906"/>
                </a:lnTo>
                <a:lnTo>
                  <a:pt x="25056" y="5011767"/>
                </a:lnTo>
                <a:cubicBezTo>
                  <a:pt x="24110" y="5009457"/>
                  <a:pt x="23701" y="5006147"/>
                  <a:pt x="24513" y="5000592"/>
                </a:cubicBezTo>
                <a:lnTo>
                  <a:pt x="24951" y="4999307"/>
                </a:lnTo>
                <a:lnTo>
                  <a:pt x="22644" y="4990090"/>
                </a:lnTo>
                <a:cubicBezTo>
                  <a:pt x="21579" y="4987122"/>
                  <a:pt x="20222" y="4984494"/>
                  <a:pt x="18465" y="4982366"/>
                </a:cubicBezTo>
                <a:cubicBezTo>
                  <a:pt x="27858" y="4950984"/>
                  <a:pt x="19264" y="4921373"/>
                  <a:pt x="20888" y="4887310"/>
                </a:cubicBezTo>
                <a:cubicBezTo>
                  <a:pt x="17563" y="4848813"/>
                  <a:pt x="18386" y="4829570"/>
                  <a:pt x="15781" y="4807298"/>
                </a:cubicBezTo>
                <a:cubicBezTo>
                  <a:pt x="15634" y="4803627"/>
                  <a:pt x="14440" y="4773874"/>
                  <a:pt x="19649" y="4779990"/>
                </a:cubicBezTo>
                <a:cubicBezTo>
                  <a:pt x="18744" y="4746827"/>
                  <a:pt x="22869" y="4698305"/>
                  <a:pt x="21858" y="4664237"/>
                </a:cubicBezTo>
                <a:cubicBezTo>
                  <a:pt x="34232" y="4642340"/>
                  <a:pt x="11268" y="4621318"/>
                  <a:pt x="13583" y="4598607"/>
                </a:cubicBezTo>
                <a:cubicBezTo>
                  <a:pt x="2193" y="4604819"/>
                  <a:pt x="19974" y="4548010"/>
                  <a:pt x="7118" y="4546768"/>
                </a:cubicBezTo>
                <a:lnTo>
                  <a:pt x="14555" y="4522182"/>
                </a:lnTo>
                <a:lnTo>
                  <a:pt x="17290" y="4509768"/>
                </a:lnTo>
                <a:cubicBezTo>
                  <a:pt x="17884" y="4505118"/>
                  <a:pt x="18021" y="4500115"/>
                  <a:pt x="17421" y="4494586"/>
                </a:cubicBezTo>
                <a:cubicBezTo>
                  <a:pt x="12327" y="4480984"/>
                  <a:pt x="18571" y="4459805"/>
                  <a:pt x="18193" y="4440649"/>
                </a:cubicBezTo>
                <a:lnTo>
                  <a:pt x="16616" y="4431853"/>
                </a:lnTo>
                <a:lnTo>
                  <a:pt x="19246" y="4403141"/>
                </a:lnTo>
                <a:cubicBezTo>
                  <a:pt x="19372" y="4387638"/>
                  <a:pt x="19497" y="4372134"/>
                  <a:pt x="19623" y="4356631"/>
                </a:cubicBezTo>
                <a:cubicBezTo>
                  <a:pt x="19508" y="4349062"/>
                  <a:pt x="15847" y="4339045"/>
                  <a:pt x="20293" y="4339937"/>
                </a:cubicBezTo>
                <a:lnTo>
                  <a:pt x="18752" y="4331435"/>
                </a:lnTo>
                <a:cubicBezTo>
                  <a:pt x="19520" y="4328277"/>
                  <a:pt x="24070" y="4324711"/>
                  <a:pt x="24901" y="4320990"/>
                </a:cubicBezTo>
                <a:lnTo>
                  <a:pt x="23734" y="4309111"/>
                </a:lnTo>
                <a:cubicBezTo>
                  <a:pt x="24423" y="4299527"/>
                  <a:pt x="28090" y="4271878"/>
                  <a:pt x="29040" y="4263489"/>
                </a:cubicBezTo>
                <a:cubicBezTo>
                  <a:pt x="29169" y="4261918"/>
                  <a:pt x="29300" y="4260346"/>
                  <a:pt x="29429" y="4258775"/>
                </a:cubicBezTo>
                <a:lnTo>
                  <a:pt x="33702" y="4248512"/>
                </a:lnTo>
                <a:cubicBezTo>
                  <a:pt x="36933" y="4241044"/>
                  <a:pt x="39109" y="4235167"/>
                  <a:pt x="37356" y="4228644"/>
                </a:cubicBezTo>
                <a:cubicBezTo>
                  <a:pt x="41530" y="4217526"/>
                  <a:pt x="53227" y="4209759"/>
                  <a:pt x="50107" y="4193665"/>
                </a:cubicBezTo>
                <a:cubicBezTo>
                  <a:pt x="55406" y="4198550"/>
                  <a:pt x="50749" y="4175793"/>
                  <a:pt x="56192" y="4173105"/>
                </a:cubicBezTo>
                <a:cubicBezTo>
                  <a:pt x="60575" y="4171863"/>
                  <a:pt x="60184" y="4164671"/>
                  <a:pt x="61800" y="4159194"/>
                </a:cubicBezTo>
                <a:cubicBezTo>
                  <a:pt x="66276" y="4155290"/>
                  <a:pt x="70363" y="4127730"/>
                  <a:pt x="69720" y="4118135"/>
                </a:cubicBezTo>
                <a:cubicBezTo>
                  <a:pt x="65265" y="4091091"/>
                  <a:pt x="83289" y="4069336"/>
                  <a:pt x="80190" y="4047713"/>
                </a:cubicBezTo>
                <a:cubicBezTo>
                  <a:pt x="84682" y="4020435"/>
                  <a:pt x="92089" y="3998420"/>
                  <a:pt x="96666" y="3980780"/>
                </a:cubicBezTo>
                <a:cubicBezTo>
                  <a:pt x="98580" y="3977851"/>
                  <a:pt x="106155" y="3945259"/>
                  <a:pt x="107651" y="3941872"/>
                </a:cubicBezTo>
                <a:cubicBezTo>
                  <a:pt x="111761" y="3922504"/>
                  <a:pt x="112043" y="3930219"/>
                  <a:pt x="118444" y="3897465"/>
                </a:cubicBezTo>
                <a:cubicBezTo>
                  <a:pt x="124996" y="3869981"/>
                  <a:pt x="127657" y="3841768"/>
                  <a:pt x="134545" y="3811132"/>
                </a:cubicBezTo>
                <a:cubicBezTo>
                  <a:pt x="143817" y="3778601"/>
                  <a:pt x="141464" y="3759343"/>
                  <a:pt x="145381" y="3746540"/>
                </a:cubicBezTo>
                <a:cubicBezTo>
                  <a:pt x="156739" y="3719637"/>
                  <a:pt x="147664" y="3711291"/>
                  <a:pt x="146587" y="3670275"/>
                </a:cubicBezTo>
                <a:cubicBezTo>
                  <a:pt x="154134" y="3638754"/>
                  <a:pt x="151397" y="3605028"/>
                  <a:pt x="165690" y="3580981"/>
                </a:cubicBezTo>
                <a:cubicBezTo>
                  <a:pt x="164433" y="3577837"/>
                  <a:pt x="163639" y="3574469"/>
                  <a:pt x="163175" y="3570960"/>
                </a:cubicBezTo>
                <a:lnTo>
                  <a:pt x="162665" y="3560693"/>
                </a:lnTo>
                <a:lnTo>
                  <a:pt x="163299" y="3559743"/>
                </a:lnTo>
                <a:cubicBezTo>
                  <a:pt x="165039" y="3554949"/>
                  <a:pt x="165246" y="3551528"/>
                  <a:pt x="164777" y="3548721"/>
                </a:cubicBezTo>
                <a:lnTo>
                  <a:pt x="163708" y="3545693"/>
                </a:lnTo>
                <a:lnTo>
                  <a:pt x="164286" y="3537938"/>
                </a:lnTo>
                <a:cubicBezTo>
                  <a:pt x="164273" y="3532672"/>
                  <a:pt x="164261" y="3527407"/>
                  <a:pt x="164247" y="3522141"/>
                </a:cubicBezTo>
                <a:lnTo>
                  <a:pt x="165343" y="3519672"/>
                </a:lnTo>
                <a:lnTo>
                  <a:pt x="167001" y="3496604"/>
                </a:lnTo>
                <a:lnTo>
                  <a:pt x="167547" y="3496517"/>
                </a:lnTo>
                <a:cubicBezTo>
                  <a:pt x="168811" y="3495796"/>
                  <a:pt x="169814" y="3494272"/>
                  <a:pt x="170301" y="3491023"/>
                </a:cubicBezTo>
                <a:cubicBezTo>
                  <a:pt x="177219" y="3499391"/>
                  <a:pt x="173541" y="3490314"/>
                  <a:pt x="174371" y="3479998"/>
                </a:cubicBezTo>
                <a:cubicBezTo>
                  <a:pt x="185299" y="3490692"/>
                  <a:pt x="183023" y="3459350"/>
                  <a:pt x="190228" y="3457434"/>
                </a:cubicBezTo>
                <a:cubicBezTo>
                  <a:pt x="190591" y="3449617"/>
                  <a:pt x="191174" y="3441542"/>
                  <a:pt x="192016" y="3433411"/>
                </a:cubicBezTo>
                <a:lnTo>
                  <a:pt x="192663" y="3428691"/>
                </a:lnTo>
                <a:cubicBezTo>
                  <a:pt x="192706" y="3428676"/>
                  <a:pt x="192750" y="3428659"/>
                  <a:pt x="192793" y="3428643"/>
                </a:cubicBezTo>
                <a:cubicBezTo>
                  <a:pt x="193186" y="3427720"/>
                  <a:pt x="193494" y="3426206"/>
                  <a:pt x="193710" y="3423760"/>
                </a:cubicBezTo>
                <a:cubicBezTo>
                  <a:pt x="193753" y="3422535"/>
                  <a:pt x="193797" y="3421310"/>
                  <a:pt x="193839" y="3420085"/>
                </a:cubicBezTo>
                <a:lnTo>
                  <a:pt x="195094" y="3410930"/>
                </a:lnTo>
                <a:lnTo>
                  <a:pt x="196311" y="3408092"/>
                </a:lnTo>
                <a:lnTo>
                  <a:pt x="197928" y="3407419"/>
                </a:lnTo>
                <a:cubicBezTo>
                  <a:pt x="197912" y="3407119"/>
                  <a:pt x="197897" y="3406820"/>
                  <a:pt x="197881" y="3406520"/>
                </a:cubicBezTo>
                <a:cubicBezTo>
                  <a:pt x="196231" y="3399306"/>
                  <a:pt x="192821" y="3396220"/>
                  <a:pt x="204222" y="3391015"/>
                </a:cubicBezTo>
                <a:cubicBezTo>
                  <a:pt x="202162" y="3374996"/>
                  <a:pt x="208811" y="3373934"/>
                  <a:pt x="213950" y="3354361"/>
                </a:cubicBezTo>
                <a:cubicBezTo>
                  <a:pt x="211218" y="3344737"/>
                  <a:pt x="213619" y="3338360"/>
                  <a:pt x="217699" y="3332639"/>
                </a:cubicBezTo>
                <a:cubicBezTo>
                  <a:pt x="218717" y="3312409"/>
                  <a:pt x="225688" y="3295747"/>
                  <a:pt x="229963" y="3273935"/>
                </a:cubicBezTo>
                <a:cubicBezTo>
                  <a:pt x="228293" y="3248488"/>
                  <a:pt x="239257" y="3238943"/>
                  <a:pt x="243785" y="3215621"/>
                </a:cubicBezTo>
                <a:cubicBezTo>
                  <a:pt x="237893" y="3192522"/>
                  <a:pt x="253940" y="3201000"/>
                  <a:pt x="259175" y="3189909"/>
                </a:cubicBezTo>
                <a:lnTo>
                  <a:pt x="259988" y="3186579"/>
                </a:lnTo>
                <a:lnTo>
                  <a:pt x="259980" y="3177264"/>
                </a:lnTo>
                <a:lnTo>
                  <a:pt x="259609" y="3173723"/>
                </a:lnTo>
                <a:cubicBezTo>
                  <a:pt x="259490" y="3171299"/>
                  <a:pt x="259588" y="3169704"/>
                  <a:pt x="259848" y="3168622"/>
                </a:cubicBezTo>
                <a:lnTo>
                  <a:pt x="259971" y="3168508"/>
                </a:lnTo>
                <a:cubicBezTo>
                  <a:pt x="259969" y="3166907"/>
                  <a:pt x="259968" y="3165307"/>
                  <a:pt x="259966" y="3163706"/>
                </a:cubicBezTo>
                <a:cubicBezTo>
                  <a:pt x="259691" y="3155577"/>
                  <a:pt x="259171" y="3147642"/>
                  <a:pt x="258467" y="3140064"/>
                </a:cubicBezTo>
                <a:cubicBezTo>
                  <a:pt x="265286" y="3134408"/>
                  <a:pt x="258805" y="3106027"/>
                  <a:pt x="270990" y="3110288"/>
                </a:cubicBezTo>
                <a:cubicBezTo>
                  <a:pt x="270407" y="3100106"/>
                  <a:pt x="265565" y="3093497"/>
                  <a:pt x="273494" y="3097704"/>
                </a:cubicBezTo>
                <a:cubicBezTo>
                  <a:pt x="273534" y="3094376"/>
                  <a:pt x="274313" y="3092401"/>
                  <a:pt x="275456" y="3091047"/>
                </a:cubicBezTo>
                <a:lnTo>
                  <a:pt x="275980" y="3090672"/>
                </a:lnTo>
                <a:lnTo>
                  <a:pt x="274486" y="3068004"/>
                </a:lnTo>
                <a:lnTo>
                  <a:pt x="275226" y="3065087"/>
                </a:lnTo>
                <a:lnTo>
                  <a:pt x="273050" y="3050191"/>
                </a:lnTo>
                <a:cubicBezTo>
                  <a:pt x="272889" y="3047647"/>
                  <a:pt x="272728" y="3045103"/>
                  <a:pt x="272566" y="3042559"/>
                </a:cubicBezTo>
                <a:lnTo>
                  <a:pt x="271107" y="3040271"/>
                </a:lnTo>
                <a:cubicBezTo>
                  <a:pt x="270265" y="3037872"/>
                  <a:pt x="270006" y="3034528"/>
                  <a:pt x="271065" y="3029072"/>
                </a:cubicBezTo>
                <a:lnTo>
                  <a:pt x="271558" y="3027835"/>
                </a:lnTo>
                <a:cubicBezTo>
                  <a:pt x="270688" y="3024705"/>
                  <a:pt x="268559" y="2982922"/>
                  <a:pt x="268717" y="2964245"/>
                </a:cubicBezTo>
                <a:cubicBezTo>
                  <a:pt x="279502" y="2933904"/>
                  <a:pt x="269365" y="2949568"/>
                  <a:pt x="272511" y="2915772"/>
                </a:cubicBezTo>
                <a:cubicBezTo>
                  <a:pt x="272017" y="2877552"/>
                  <a:pt x="270125" y="2850992"/>
                  <a:pt x="270356" y="2825842"/>
                </a:cubicBezTo>
                <a:cubicBezTo>
                  <a:pt x="269433" y="2814032"/>
                  <a:pt x="268938" y="2727859"/>
                  <a:pt x="273897" y="2734957"/>
                </a:cubicBezTo>
                <a:cubicBezTo>
                  <a:pt x="264242" y="2698391"/>
                  <a:pt x="277769" y="2677127"/>
                  <a:pt x="274458" y="2636572"/>
                </a:cubicBezTo>
                <a:cubicBezTo>
                  <a:pt x="287792" y="2615986"/>
                  <a:pt x="275829" y="2626668"/>
                  <a:pt x="279157" y="2604260"/>
                </a:cubicBezTo>
                <a:cubicBezTo>
                  <a:pt x="279270" y="2587221"/>
                  <a:pt x="288019" y="2599786"/>
                  <a:pt x="288131" y="2582747"/>
                </a:cubicBezTo>
                <a:cubicBezTo>
                  <a:pt x="260352" y="2545890"/>
                  <a:pt x="290145" y="2525479"/>
                  <a:pt x="282516" y="2478755"/>
                </a:cubicBezTo>
                <a:lnTo>
                  <a:pt x="287359" y="2451804"/>
                </a:lnTo>
                <a:cubicBezTo>
                  <a:pt x="285426" y="2443087"/>
                  <a:pt x="285710" y="2414879"/>
                  <a:pt x="289577" y="2408801"/>
                </a:cubicBezTo>
                <a:cubicBezTo>
                  <a:pt x="290424" y="2402768"/>
                  <a:pt x="289064" y="2396183"/>
                  <a:pt x="293203" y="2392670"/>
                </a:cubicBezTo>
                <a:cubicBezTo>
                  <a:pt x="295637" y="2379564"/>
                  <a:pt x="301233" y="2349549"/>
                  <a:pt x="304183" y="2330165"/>
                </a:cubicBezTo>
                <a:cubicBezTo>
                  <a:pt x="298973" y="2319718"/>
                  <a:pt x="309550" y="2303314"/>
                  <a:pt x="310900" y="2276363"/>
                </a:cubicBezTo>
                <a:cubicBezTo>
                  <a:pt x="304874" y="2264930"/>
                  <a:pt x="311891" y="2258198"/>
                  <a:pt x="303909" y="2236310"/>
                </a:cubicBezTo>
                <a:cubicBezTo>
                  <a:pt x="304734" y="2235412"/>
                  <a:pt x="305502" y="2234293"/>
                  <a:pt x="306187" y="2232984"/>
                </a:cubicBezTo>
                <a:cubicBezTo>
                  <a:pt x="310170" y="2225381"/>
                  <a:pt x="310605" y="2213194"/>
                  <a:pt x="307158" y="2205763"/>
                </a:cubicBezTo>
                <a:cubicBezTo>
                  <a:pt x="296601" y="2170883"/>
                  <a:pt x="306474" y="2175442"/>
                  <a:pt x="304860" y="2145703"/>
                </a:cubicBezTo>
                <a:cubicBezTo>
                  <a:pt x="304314" y="2112090"/>
                  <a:pt x="314083" y="2134724"/>
                  <a:pt x="304273" y="2092533"/>
                </a:cubicBezTo>
                <a:cubicBezTo>
                  <a:pt x="308983" y="2088154"/>
                  <a:pt x="303590" y="2066396"/>
                  <a:pt x="301642" y="2057359"/>
                </a:cubicBezTo>
                <a:cubicBezTo>
                  <a:pt x="301720" y="2041038"/>
                  <a:pt x="313213" y="2032807"/>
                  <a:pt x="306736" y="2016105"/>
                </a:cubicBezTo>
                <a:cubicBezTo>
                  <a:pt x="312847" y="2019262"/>
                  <a:pt x="310007" y="1975377"/>
                  <a:pt x="316234" y="1983129"/>
                </a:cubicBezTo>
                <a:cubicBezTo>
                  <a:pt x="322177" y="1972692"/>
                  <a:pt x="313034" y="1967129"/>
                  <a:pt x="318238" y="1956745"/>
                </a:cubicBezTo>
                <a:cubicBezTo>
                  <a:pt x="319718" y="1944884"/>
                  <a:pt x="311423" y="1963350"/>
                  <a:pt x="311341" y="1950160"/>
                </a:cubicBezTo>
                <a:lnTo>
                  <a:pt x="323556" y="1879546"/>
                </a:lnTo>
                <a:cubicBezTo>
                  <a:pt x="320263" y="1869846"/>
                  <a:pt x="322312" y="1862247"/>
                  <a:pt x="326085" y="1854893"/>
                </a:cubicBezTo>
                <a:cubicBezTo>
                  <a:pt x="325955" y="1832625"/>
                  <a:pt x="332007" y="1812578"/>
                  <a:pt x="335058" y="1787684"/>
                </a:cubicBezTo>
                <a:cubicBezTo>
                  <a:pt x="331933" y="1760490"/>
                  <a:pt x="342400" y="1747069"/>
                  <a:pt x="345620" y="1720464"/>
                </a:cubicBezTo>
                <a:cubicBezTo>
                  <a:pt x="337355" y="1693643"/>
                  <a:pt x="360215" y="1703686"/>
                  <a:pt x="360760" y="1681196"/>
                </a:cubicBezTo>
                <a:cubicBezTo>
                  <a:pt x="353923" y="1644243"/>
                  <a:pt x="368449" y="1682451"/>
                  <a:pt x="368483" y="1625881"/>
                </a:cubicBezTo>
                <a:cubicBezTo>
                  <a:pt x="367181" y="1622619"/>
                  <a:pt x="369088" y="1615868"/>
                  <a:pt x="371077" y="1616704"/>
                </a:cubicBezTo>
                <a:cubicBezTo>
                  <a:pt x="371005" y="1604306"/>
                  <a:pt x="384453" y="1569256"/>
                  <a:pt x="383008" y="1551493"/>
                </a:cubicBezTo>
                <a:cubicBezTo>
                  <a:pt x="390598" y="1517303"/>
                  <a:pt x="381821" y="1500132"/>
                  <a:pt x="384834" y="1475233"/>
                </a:cubicBezTo>
                <a:cubicBezTo>
                  <a:pt x="393221" y="1446677"/>
                  <a:pt x="400498" y="1430031"/>
                  <a:pt x="418371" y="1380155"/>
                </a:cubicBezTo>
                <a:lnTo>
                  <a:pt x="469641" y="1210871"/>
                </a:lnTo>
                <a:cubicBezTo>
                  <a:pt x="507460" y="1148093"/>
                  <a:pt x="486915" y="1066841"/>
                  <a:pt x="489701" y="1028427"/>
                </a:cubicBezTo>
                <a:cubicBezTo>
                  <a:pt x="478454" y="1012506"/>
                  <a:pt x="490925" y="999600"/>
                  <a:pt x="486354" y="980383"/>
                </a:cubicBezTo>
                <a:cubicBezTo>
                  <a:pt x="483880" y="937629"/>
                  <a:pt x="471099" y="895192"/>
                  <a:pt x="479762" y="839699"/>
                </a:cubicBezTo>
                <a:cubicBezTo>
                  <a:pt x="444550" y="814685"/>
                  <a:pt x="465776" y="749644"/>
                  <a:pt x="445664" y="696545"/>
                </a:cubicBezTo>
                <a:cubicBezTo>
                  <a:pt x="441558" y="665722"/>
                  <a:pt x="459046" y="617297"/>
                  <a:pt x="440047" y="606615"/>
                </a:cubicBezTo>
                <a:cubicBezTo>
                  <a:pt x="451675" y="592509"/>
                  <a:pt x="432892" y="579307"/>
                  <a:pt x="431225" y="563889"/>
                </a:cubicBezTo>
                <a:cubicBezTo>
                  <a:pt x="438618" y="551582"/>
                  <a:pt x="432225" y="545475"/>
                  <a:pt x="430803" y="534294"/>
                </a:cubicBezTo>
                <a:cubicBezTo>
                  <a:pt x="435364" y="529230"/>
                  <a:pt x="435126" y="519767"/>
                  <a:pt x="429777" y="516548"/>
                </a:cubicBezTo>
                <a:cubicBezTo>
                  <a:pt x="417444" y="521116"/>
                  <a:pt x="423596" y="488251"/>
                  <a:pt x="415090" y="485808"/>
                </a:cubicBezTo>
                <a:cubicBezTo>
                  <a:pt x="413316" y="466733"/>
                  <a:pt x="424116" y="383903"/>
                  <a:pt x="410499" y="369873"/>
                </a:cubicBezTo>
                <a:cubicBezTo>
                  <a:pt x="404034" y="331308"/>
                  <a:pt x="425696" y="275570"/>
                  <a:pt x="425314" y="259180"/>
                </a:cubicBezTo>
                <a:cubicBezTo>
                  <a:pt x="450188" y="242918"/>
                  <a:pt x="384634" y="163766"/>
                  <a:pt x="383240" y="94173"/>
                </a:cubicBezTo>
                <a:cubicBezTo>
                  <a:pt x="385641" y="84795"/>
                  <a:pt x="385609" y="79782"/>
                  <a:pt x="379938" y="77267"/>
                </a:cubicBezTo>
                <a:cubicBezTo>
                  <a:pt x="378301" y="68220"/>
                  <a:pt x="376144" y="54774"/>
                  <a:pt x="373430" y="3885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p:cNvSpPr>
          <p:nvPr>
            <p:ph type="title"/>
          </p:nvPr>
        </p:nvSpPr>
        <p:spPr>
          <a:xfrm>
            <a:off x="3875314" y="119743"/>
            <a:ext cx="5127172" cy="1322887"/>
          </a:xfrm>
        </p:spPr>
        <p:txBody>
          <a:bodyPr>
            <a:normAutofit/>
          </a:bodyPr>
          <a:lstStyle/>
          <a:p>
            <a:pPr>
              <a:lnSpc>
                <a:spcPct val="90000"/>
              </a:lnSpc>
            </a:pPr>
            <a:r>
              <a:rPr lang="en-IN" b="1" dirty="0">
                <a:latin typeface="Times New Roman" panose="02020603050405020304" pitchFamily="18" charset="0"/>
                <a:cs typeface="Times New Roman" panose="02020603050405020304" pitchFamily="18" charset="0"/>
              </a:rPr>
              <a:t>Correlation Insights</a:t>
            </a:r>
          </a:p>
        </p:txBody>
      </p:sp>
      <p:pic>
        <p:nvPicPr>
          <p:cNvPr id="5" name="Picture 4">
            <a:extLst>
              <a:ext uri="{FF2B5EF4-FFF2-40B4-BE49-F238E27FC236}">
                <a16:creationId xmlns:a16="http://schemas.microsoft.com/office/drawing/2014/main" id="{46B5C5E4-1294-C096-1DD4-92FE5D2735DB}"/>
              </a:ext>
            </a:extLst>
          </p:cNvPr>
          <p:cNvPicPr>
            <a:picLocks noChangeAspect="1"/>
          </p:cNvPicPr>
          <p:nvPr/>
        </p:nvPicPr>
        <p:blipFill>
          <a:blip r:embed="rId2"/>
          <a:srcRect r="13980"/>
          <a:stretch>
            <a:fillRect/>
          </a:stretch>
        </p:blipFill>
        <p:spPr>
          <a:xfrm rot="16200000">
            <a:off x="-1683793" y="1683793"/>
            <a:ext cx="6858000" cy="3490414"/>
          </a:xfrm>
          <a:prstGeom prst="rect">
            <a:avLst/>
          </a:prstGeom>
        </p:spPr>
      </p:pic>
      <p:sp>
        <p:nvSpPr>
          <p:cNvPr id="3" name="Content Placeholder 2"/>
          <p:cNvSpPr>
            <a:spLocks noGrp="1"/>
          </p:cNvSpPr>
          <p:nvPr>
            <p:ph idx="1"/>
          </p:nvPr>
        </p:nvSpPr>
        <p:spPr>
          <a:xfrm>
            <a:off x="3875314" y="1143000"/>
            <a:ext cx="5127172" cy="5595257"/>
          </a:xfrm>
        </p:spPr>
        <p:txBody>
          <a:bodyPr>
            <a:normAutofit lnSpcReduction="10000"/>
          </a:bodyPr>
          <a:lstStyle/>
          <a:p>
            <a:pPr algn="just">
              <a:lnSpc>
                <a:spcPct val="90000"/>
              </a:lnSpc>
            </a:pPr>
            <a:r>
              <a:rPr lang="en-US" sz="1800" dirty="0">
                <a:latin typeface="Times New Roman" panose="02020603050405020304" pitchFamily="18" charset="0"/>
                <a:cs typeface="Times New Roman" panose="02020603050405020304" pitchFamily="18" charset="0"/>
              </a:rPr>
              <a:t>A correlation analysis of 15,000 companies revealed relationships between employee count, customer count, and annual revenue (in millions). The findings indicated that most business variables had weak correlations, suggesting that a company’s performance is influenced by various operational and market factors rather than relying on a single metric.</a:t>
            </a:r>
          </a:p>
          <a:p>
            <a:pPr algn="just">
              <a:lnSpc>
                <a:spcPct val="90000"/>
              </a:lnSpc>
            </a:pPr>
            <a:r>
              <a:rPr lang="en-US" sz="1800" dirty="0">
                <a:latin typeface="Times New Roman" panose="02020603050405020304" pitchFamily="18" charset="0"/>
                <a:cs typeface="Times New Roman" panose="02020603050405020304" pitchFamily="18" charset="0"/>
              </a:rPr>
              <a:t>A weak positive relationship was observed between </a:t>
            </a:r>
            <a:r>
              <a:rPr lang="en-US" sz="1800" dirty="0" err="1">
                <a:latin typeface="Times New Roman" panose="02020603050405020304" pitchFamily="18" charset="0"/>
                <a:cs typeface="Times New Roman" panose="02020603050405020304" pitchFamily="18" charset="0"/>
              </a:rPr>
              <a:t>market_rating</a:t>
            </a:r>
            <a:r>
              <a:rPr lang="en-US" sz="1800" dirty="0">
                <a:latin typeface="Times New Roman" panose="02020603050405020304" pitchFamily="18" charset="0"/>
                <a:cs typeface="Times New Roman" panose="02020603050405020304" pitchFamily="18" charset="0"/>
              </a:rPr>
              <a:t> and </a:t>
            </a:r>
            <a:r>
              <a:rPr lang="en-US" sz="1800" dirty="0" err="1">
                <a:latin typeface="Times New Roman" panose="02020603050405020304" pitchFamily="18" charset="0"/>
                <a:cs typeface="Times New Roman" panose="02020603050405020304" pitchFamily="18" charset="0"/>
              </a:rPr>
              <a:t>profit_margin_percent</a:t>
            </a:r>
            <a:r>
              <a:rPr lang="en-US" sz="1800" dirty="0">
                <a:latin typeface="Times New Roman" panose="02020603050405020304" pitchFamily="18" charset="0"/>
                <a:cs typeface="Times New Roman" panose="02020603050405020304" pitchFamily="18" charset="0"/>
              </a:rPr>
              <a:t>, suggesting limited linear association between brand perception and profitability. </a:t>
            </a:r>
          </a:p>
          <a:p>
            <a:pPr algn="just">
              <a:lnSpc>
                <a:spcPct val="90000"/>
              </a:lnSpc>
            </a:pPr>
            <a:r>
              <a:rPr lang="en-US" sz="1800" dirty="0">
                <a:latin typeface="Times New Roman" panose="02020603050405020304" pitchFamily="18" charset="0"/>
                <a:cs typeface="Times New Roman" panose="02020603050405020304" pitchFamily="18" charset="0"/>
              </a:rPr>
              <a:t>In contrast, </a:t>
            </a:r>
            <a:r>
              <a:rPr lang="en-US" sz="1800" b="1" dirty="0" err="1">
                <a:latin typeface="Times New Roman" panose="02020603050405020304" pitchFamily="18" charset="0"/>
                <a:cs typeface="Times New Roman" panose="02020603050405020304" pitchFamily="18" charset="0"/>
              </a:rPr>
              <a:t>founded_year</a:t>
            </a:r>
            <a:r>
              <a:rPr lang="en-US" sz="1800" dirty="0">
                <a:latin typeface="Times New Roman" panose="02020603050405020304" pitchFamily="18" charset="0"/>
                <a:cs typeface="Times New Roman" panose="02020603050405020304" pitchFamily="18" charset="0"/>
              </a:rPr>
              <a:t> showed weak correlation with revenue, demonstrating that innovation and scalability outweighed organizational age in determining enterprise success.</a:t>
            </a:r>
          </a:p>
          <a:p>
            <a:pPr algn="just">
              <a:lnSpc>
                <a:spcPct val="90000"/>
              </a:lnSpc>
            </a:pPr>
            <a:r>
              <a:rPr lang="en-US" sz="1800" dirty="0">
                <a:latin typeface="Times New Roman" panose="02020603050405020304" pitchFamily="18" charset="0"/>
                <a:cs typeface="Times New Roman" panose="02020603050405020304" pitchFamily="18" charset="0"/>
              </a:rPr>
              <a:t>The heatmap further confirmed that the correlation analysis suggests that revenue performance is influenced by a combination of operational, market, and organizational factors rather than a single dominant variable.</a:t>
            </a:r>
          </a:p>
          <a:p>
            <a:pPr>
              <a:lnSpc>
                <a:spcPct val="90000"/>
              </a:lnSpc>
            </a:pPr>
            <a:endParaRPr lang="en-US" sz="13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6897DEB4-4A88-4293-A935-9B25506C15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Freeform: Shape 59">
            <a:extLst>
              <a:ext uri="{FF2B5EF4-FFF2-40B4-BE49-F238E27FC236}">
                <a16:creationId xmlns:a16="http://schemas.microsoft.com/office/drawing/2014/main" id="{FBE42BC3-6707-4CBF-9386-048B994A4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90414" y="0"/>
            <a:ext cx="5653586" cy="6858000"/>
          </a:xfrm>
          <a:custGeom>
            <a:avLst/>
            <a:gdLst>
              <a:gd name="connsiteX0" fmla="*/ 366246 w 7538114"/>
              <a:gd name="connsiteY0" fmla="*/ 0 h 6858000"/>
              <a:gd name="connsiteX1" fmla="*/ 2830292 w 7538114"/>
              <a:gd name="connsiteY1" fmla="*/ 0 h 6858000"/>
              <a:gd name="connsiteX2" fmla="*/ 3903260 w 7538114"/>
              <a:gd name="connsiteY2" fmla="*/ 0 h 6858000"/>
              <a:gd name="connsiteX3" fmla="*/ 4597266 w 7538114"/>
              <a:gd name="connsiteY3" fmla="*/ 0 h 6858000"/>
              <a:gd name="connsiteX4" fmla="*/ 7192370 w 7538114"/>
              <a:gd name="connsiteY4" fmla="*/ 0 h 6858000"/>
              <a:gd name="connsiteX5" fmla="*/ 7538114 w 7538114"/>
              <a:gd name="connsiteY5" fmla="*/ 0 h 6858000"/>
              <a:gd name="connsiteX6" fmla="*/ 7538114 w 7538114"/>
              <a:gd name="connsiteY6" fmla="*/ 6858000 h 6858000"/>
              <a:gd name="connsiteX7" fmla="*/ 7192370 w 7538114"/>
              <a:gd name="connsiteY7" fmla="*/ 6858000 h 6858000"/>
              <a:gd name="connsiteX8" fmla="*/ 4597266 w 7538114"/>
              <a:gd name="connsiteY8" fmla="*/ 6858000 h 6858000"/>
              <a:gd name="connsiteX9" fmla="*/ 3903260 w 7538114"/>
              <a:gd name="connsiteY9" fmla="*/ 6858000 h 6858000"/>
              <a:gd name="connsiteX10" fmla="*/ 2830292 w 7538114"/>
              <a:gd name="connsiteY10" fmla="*/ 6858000 h 6858000"/>
              <a:gd name="connsiteX11" fmla="*/ 170314 w 7538114"/>
              <a:gd name="connsiteY11" fmla="*/ 6858000 h 6858000"/>
              <a:gd name="connsiteX12" fmla="*/ 170341 w 7538114"/>
              <a:gd name="connsiteY12" fmla="*/ 6857759 h 6858000"/>
              <a:gd name="connsiteX13" fmla="*/ 173485 w 7538114"/>
              <a:gd name="connsiteY13" fmla="*/ 6852129 h 6858000"/>
              <a:gd name="connsiteX14" fmla="*/ 167544 w 7538114"/>
              <a:gd name="connsiteY14" fmla="*/ 6830335 h 6858000"/>
              <a:gd name="connsiteX15" fmla="*/ 163472 w 7538114"/>
              <a:gd name="connsiteY15" fmla="*/ 6796707 h 6858000"/>
              <a:gd name="connsiteX16" fmla="*/ 160535 w 7538114"/>
              <a:gd name="connsiteY16" fmla="*/ 6780725 h 6858000"/>
              <a:gd name="connsiteX17" fmla="*/ 162318 w 7538114"/>
              <a:gd name="connsiteY17" fmla="*/ 6767829 h 6858000"/>
              <a:gd name="connsiteX18" fmla="*/ 162771 w 7538114"/>
              <a:gd name="connsiteY18" fmla="*/ 6694444 h 6858000"/>
              <a:gd name="connsiteX19" fmla="*/ 165604 w 7538114"/>
              <a:gd name="connsiteY19" fmla="*/ 6677569 h 6858000"/>
              <a:gd name="connsiteX20" fmla="*/ 171255 w 7538114"/>
              <a:gd name="connsiteY20" fmla="*/ 6669571 h 6858000"/>
              <a:gd name="connsiteX21" fmla="*/ 169240 w 7538114"/>
              <a:gd name="connsiteY21" fmla="*/ 6663304 h 6858000"/>
              <a:gd name="connsiteX22" fmla="*/ 169039 w 7538114"/>
              <a:gd name="connsiteY22" fmla="*/ 6618916 h 6858000"/>
              <a:gd name="connsiteX23" fmla="*/ 168392 w 7538114"/>
              <a:gd name="connsiteY23" fmla="*/ 6589960 h 6858000"/>
              <a:gd name="connsiteX24" fmla="*/ 160636 w 7538114"/>
              <a:gd name="connsiteY24" fmla="*/ 6588200 h 6858000"/>
              <a:gd name="connsiteX25" fmla="*/ 157872 w 7538114"/>
              <a:gd name="connsiteY25" fmla="*/ 6562416 h 6858000"/>
              <a:gd name="connsiteX26" fmla="*/ 162851 w 7538114"/>
              <a:gd name="connsiteY26" fmla="*/ 6534939 h 6858000"/>
              <a:gd name="connsiteX27" fmla="*/ 162153 w 7538114"/>
              <a:gd name="connsiteY27" fmla="*/ 6502552 h 6858000"/>
              <a:gd name="connsiteX28" fmla="*/ 161821 w 7538114"/>
              <a:gd name="connsiteY28" fmla="*/ 6483172 h 6858000"/>
              <a:gd name="connsiteX29" fmla="*/ 154586 w 7538114"/>
              <a:gd name="connsiteY29" fmla="*/ 6432309 h 6858000"/>
              <a:gd name="connsiteX30" fmla="*/ 127078 w 7538114"/>
              <a:gd name="connsiteY30" fmla="*/ 6349783 h 6858000"/>
              <a:gd name="connsiteX31" fmla="*/ 123181 w 7538114"/>
              <a:gd name="connsiteY31" fmla="*/ 6323872 h 6858000"/>
              <a:gd name="connsiteX32" fmla="*/ 124767 w 7538114"/>
              <a:gd name="connsiteY32" fmla="*/ 6319343 h 6858000"/>
              <a:gd name="connsiteX33" fmla="*/ 108246 w 7538114"/>
              <a:gd name="connsiteY33" fmla="*/ 6190348 h 6858000"/>
              <a:gd name="connsiteX34" fmla="*/ 107279 w 7538114"/>
              <a:gd name="connsiteY34" fmla="*/ 6167269 h 6858000"/>
              <a:gd name="connsiteX35" fmla="*/ 107883 w 7538114"/>
              <a:gd name="connsiteY35" fmla="*/ 6149986 h 6858000"/>
              <a:gd name="connsiteX36" fmla="*/ 102380 w 7538114"/>
              <a:gd name="connsiteY36" fmla="*/ 6108622 h 6858000"/>
              <a:gd name="connsiteX37" fmla="*/ 90314 w 7538114"/>
              <a:gd name="connsiteY37" fmla="*/ 6041155 h 6858000"/>
              <a:gd name="connsiteX38" fmla="*/ 88409 w 7538114"/>
              <a:gd name="connsiteY38" fmla="*/ 6026587 h 6858000"/>
              <a:gd name="connsiteX39" fmla="*/ 89403 w 7538114"/>
              <a:gd name="connsiteY39" fmla="*/ 6013265 h 6858000"/>
              <a:gd name="connsiteX40" fmla="*/ 91927 w 7538114"/>
              <a:gd name="connsiteY40" fmla="*/ 6009478 h 6858000"/>
              <a:gd name="connsiteX41" fmla="*/ 91302 w 7538114"/>
              <a:gd name="connsiteY41" fmla="*/ 6001336 h 6858000"/>
              <a:gd name="connsiteX42" fmla="*/ 91687 w 7538114"/>
              <a:gd name="connsiteY42" fmla="*/ 5999003 h 6858000"/>
              <a:gd name="connsiteX43" fmla="*/ 93336 w 7538114"/>
              <a:gd name="connsiteY43" fmla="*/ 5985795 h 6858000"/>
              <a:gd name="connsiteX44" fmla="*/ 83190 w 7538114"/>
              <a:gd name="connsiteY44" fmla="*/ 5961758 h 6858000"/>
              <a:gd name="connsiteX45" fmla="*/ 81952 w 7538114"/>
              <a:gd name="connsiteY45" fmla="*/ 5928761 h 6858000"/>
              <a:gd name="connsiteX46" fmla="*/ 67420 w 7538114"/>
              <a:gd name="connsiteY46" fmla="*/ 5787247 h 6858000"/>
              <a:gd name="connsiteX47" fmla="*/ 50760 w 7538114"/>
              <a:gd name="connsiteY47" fmla="*/ 5710700 h 6858000"/>
              <a:gd name="connsiteX48" fmla="*/ 42956 w 7538114"/>
              <a:gd name="connsiteY48" fmla="*/ 5641754 h 6858000"/>
              <a:gd name="connsiteX49" fmla="*/ 29695 w 7538114"/>
              <a:gd name="connsiteY49" fmla="*/ 5602326 h 6858000"/>
              <a:gd name="connsiteX50" fmla="*/ 18841 w 7538114"/>
              <a:gd name="connsiteY50" fmla="*/ 5570885 h 6858000"/>
              <a:gd name="connsiteX51" fmla="*/ 9977 w 7538114"/>
              <a:gd name="connsiteY51" fmla="*/ 5543492 h 6858000"/>
              <a:gd name="connsiteX52" fmla="*/ 5255 w 7538114"/>
              <a:gd name="connsiteY52" fmla="*/ 5531024 h 6858000"/>
              <a:gd name="connsiteX53" fmla="*/ 5447 w 7538114"/>
              <a:gd name="connsiteY53" fmla="*/ 5527845 h 6858000"/>
              <a:gd name="connsiteX54" fmla="*/ 0 w 7538114"/>
              <a:gd name="connsiteY54" fmla="*/ 5507724 h 6858000"/>
              <a:gd name="connsiteX55" fmla="*/ 435 w 7538114"/>
              <a:gd name="connsiteY55" fmla="*/ 5507045 h 6858000"/>
              <a:gd name="connsiteX56" fmla="*/ 1128 w 7538114"/>
              <a:gd name="connsiteY56" fmla="*/ 5499619 h 6858000"/>
              <a:gd name="connsiteX57" fmla="*/ 1291 w 7538114"/>
              <a:gd name="connsiteY57" fmla="*/ 5486342 h 6858000"/>
              <a:gd name="connsiteX58" fmla="*/ 7976 w 7538114"/>
              <a:gd name="connsiteY58" fmla="*/ 5450755 h 6858000"/>
              <a:gd name="connsiteX59" fmla="*/ 2355 w 7538114"/>
              <a:gd name="connsiteY59" fmla="*/ 5429732 h 6858000"/>
              <a:gd name="connsiteX60" fmla="*/ 1499 w 7538114"/>
              <a:gd name="connsiteY60" fmla="*/ 5370432 h 6858000"/>
              <a:gd name="connsiteX61" fmla="*/ 11483 w 7538114"/>
              <a:gd name="connsiteY61" fmla="*/ 5308330 h 6858000"/>
              <a:gd name="connsiteX62" fmla="*/ 12793 w 7538114"/>
              <a:gd name="connsiteY62" fmla="*/ 5246026 h 6858000"/>
              <a:gd name="connsiteX63" fmla="*/ 12525 w 7538114"/>
              <a:gd name="connsiteY63" fmla="*/ 5223468 h 6858000"/>
              <a:gd name="connsiteX64" fmla="*/ 15322 w 7538114"/>
              <a:gd name="connsiteY64" fmla="*/ 5183258 h 6858000"/>
              <a:gd name="connsiteX65" fmla="*/ 18633 w 7538114"/>
              <a:gd name="connsiteY65" fmla="*/ 5164842 h 6858000"/>
              <a:gd name="connsiteX66" fmla="*/ 18428 w 7538114"/>
              <a:gd name="connsiteY66" fmla="*/ 5164034 h 6858000"/>
              <a:gd name="connsiteX67" fmla="*/ 19854 w 7538114"/>
              <a:gd name="connsiteY67" fmla="*/ 5162388 h 6858000"/>
              <a:gd name="connsiteX68" fmla="*/ 20514 w 7538114"/>
              <a:gd name="connsiteY68" fmla="*/ 5158981 h 6858000"/>
              <a:gd name="connsiteX69" fmla="*/ 20089 w 7538114"/>
              <a:gd name="connsiteY69" fmla="*/ 5149681 h 6858000"/>
              <a:gd name="connsiteX70" fmla="*/ 19561 w 7538114"/>
              <a:gd name="connsiteY70" fmla="*/ 5146183 h 6858000"/>
              <a:gd name="connsiteX71" fmla="*/ 19571 w 7538114"/>
              <a:gd name="connsiteY71" fmla="*/ 5141065 h 6858000"/>
              <a:gd name="connsiteX72" fmla="*/ 19690 w 7538114"/>
              <a:gd name="connsiteY72" fmla="*/ 5140937 h 6858000"/>
              <a:gd name="connsiteX73" fmla="*/ 19471 w 7538114"/>
              <a:gd name="connsiteY73" fmla="*/ 5136144 h 6858000"/>
              <a:gd name="connsiteX74" fmla="*/ 16918 w 7538114"/>
              <a:gd name="connsiteY74" fmla="*/ 5112689 h 6858000"/>
              <a:gd name="connsiteX75" fmla="*/ 28071 w 7538114"/>
              <a:gd name="connsiteY75" fmla="*/ 5081696 h 6858000"/>
              <a:gd name="connsiteX76" fmla="*/ 30005 w 7538114"/>
              <a:gd name="connsiteY76" fmla="*/ 5068879 h 6858000"/>
              <a:gd name="connsiteX77" fmla="*/ 31661 w 7538114"/>
              <a:gd name="connsiteY77" fmla="*/ 5062033 h 6858000"/>
              <a:gd name="connsiteX78" fmla="*/ 32169 w 7538114"/>
              <a:gd name="connsiteY78" fmla="*/ 5061608 h 6858000"/>
              <a:gd name="connsiteX79" fmla="*/ 27436 w 7538114"/>
              <a:gd name="connsiteY79" fmla="*/ 5021480 h 6858000"/>
              <a:gd name="connsiteX80" fmla="*/ 26614 w 7538114"/>
              <a:gd name="connsiteY80" fmla="*/ 5013906 h 6858000"/>
              <a:gd name="connsiteX81" fmla="*/ 25056 w 7538114"/>
              <a:gd name="connsiteY81" fmla="*/ 5011767 h 6858000"/>
              <a:gd name="connsiteX82" fmla="*/ 24513 w 7538114"/>
              <a:gd name="connsiteY82" fmla="*/ 5000592 h 6858000"/>
              <a:gd name="connsiteX83" fmla="*/ 24951 w 7538114"/>
              <a:gd name="connsiteY83" fmla="*/ 4999307 h 6858000"/>
              <a:gd name="connsiteX84" fmla="*/ 22644 w 7538114"/>
              <a:gd name="connsiteY84" fmla="*/ 4990090 h 6858000"/>
              <a:gd name="connsiteX85" fmla="*/ 18465 w 7538114"/>
              <a:gd name="connsiteY85" fmla="*/ 4982366 h 6858000"/>
              <a:gd name="connsiteX86" fmla="*/ 20888 w 7538114"/>
              <a:gd name="connsiteY86" fmla="*/ 4887310 h 6858000"/>
              <a:gd name="connsiteX87" fmla="*/ 15781 w 7538114"/>
              <a:gd name="connsiteY87" fmla="*/ 4807298 h 6858000"/>
              <a:gd name="connsiteX88" fmla="*/ 19649 w 7538114"/>
              <a:gd name="connsiteY88" fmla="*/ 4779990 h 6858000"/>
              <a:gd name="connsiteX89" fmla="*/ 21858 w 7538114"/>
              <a:gd name="connsiteY89" fmla="*/ 4664237 h 6858000"/>
              <a:gd name="connsiteX90" fmla="*/ 13583 w 7538114"/>
              <a:gd name="connsiteY90" fmla="*/ 4598607 h 6858000"/>
              <a:gd name="connsiteX91" fmla="*/ 7118 w 7538114"/>
              <a:gd name="connsiteY91" fmla="*/ 4546768 h 6858000"/>
              <a:gd name="connsiteX92" fmla="*/ 14555 w 7538114"/>
              <a:gd name="connsiteY92" fmla="*/ 4522182 h 6858000"/>
              <a:gd name="connsiteX93" fmla="*/ 17290 w 7538114"/>
              <a:gd name="connsiteY93" fmla="*/ 4509768 h 6858000"/>
              <a:gd name="connsiteX94" fmla="*/ 17421 w 7538114"/>
              <a:gd name="connsiteY94" fmla="*/ 4494586 h 6858000"/>
              <a:gd name="connsiteX95" fmla="*/ 18193 w 7538114"/>
              <a:gd name="connsiteY95" fmla="*/ 4440649 h 6858000"/>
              <a:gd name="connsiteX96" fmla="*/ 16616 w 7538114"/>
              <a:gd name="connsiteY96" fmla="*/ 4431853 h 6858000"/>
              <a:gd name="connsiteX97" fmla="*/ 19246 w 7538114"/>
              <a:gd name="connsiteY97" fmla="*/ 4403141 h 6858000"/>
              <a:gd name="connsiteX98" fmla="*/ 19623 w 7538114"/>
              <a:gd name="connsiteY98" fmla="*/ 4356631 h 6858000"/>
              <a:gd name="connsiteX99" fmla="*/ 20293 w 7538114"/>
              <a:gd name="connsiteY99" fmla="*/ 4339937 h 6858000"/>
              <a:gd name="connsiteX100" fmla="*/ 18752 w 7538114"/>
              <a:gd name="connsiteY100" fmla="*/ 4331435 h 6858000"/>
              <a:gd name="connsiteX101" fmla="*/ 24901 w 7538114"/>
              <a:gd name="connsiteY101" fmla="*/ 4320990 h 6858000"/>
              <a:gd name="connsiteX102" fmla="*/ 23734 w 7538114"/>
              <a:gd name="connsiteY102" fmla="*/ 4309111 h 6858000"/>
              <a:gd name="connsiteX103" fmla="*/ 29040 w 7538114"/>
              <a:gd name="connsiteY103" fmla="*/ 4263489 h 6858000"/>
              <a:gd name="connsiteX104" fmla="*/ 29429 w 7538114"/>
              <a:gd name="connsiteY104" fmla="*/ 4258775 h 6858000"/>
              <a:gd name="connsiteX105" fmla="*/ 33702 w 7538114"/>
              <a:gd name="connsiteY105" fmla="*/ 4248512 h 6858000"/>
              <a:gd name="connsiteX106" fmla="*/ 37356 w 7538114"/>
              <a:gd name="connsiteY106" fmla="*/ 4228644 h 6858000"/>
              <a:gd name="connsiteX107" fmla="*/ 50107 w 7538114"/>
              <a:gd name="connsiteY107" fmla="*/ 4193665 h 6858000"/>
              <a:gd name="connsiteX108" fmla="*/ 56192 w 7538114"/>
              <a:gd name="connsiteY108" fmla="*/ 4173105 h 6858000"/>
              <a:gd name="connsiteX109" fmla="*/ 61800 w 7538114"/>
              <a:gd name="connsiteY109" fmla="*/ 4159194 h 6858000"/>
              <a:gd name="connsiteX110" fmla="*/ 69720 w 7538114"/>
              <a:gd name="connsiteY110" fmla="*/ 4118135 h 6858000"/>
              <a:gd name="connsiteX111" fmla="*/ 80190 w 7538114"/>
              <a:gd name="connsiteY111" fmla="*/ 4047713 h 6858000"/>
              <a:gd name="connsiteX112" fmla="*/ 96666 w 7538114"/>
              <a:gd name="connsiteY112" fmla="*/ 3980780 h 6858000"/>
              <a:gd name="connsiteX113" fmla="*/ 107651 w 7538114"/>
              <a:gd name="connsiteY113" fmla="*/ 3941872 h 6858000"/>
              <a:gd name="connsiteX114" fmla="*/ 118444 w 7538114"/>
              <a:gd name="connsiteY114" fmla="*/ 3897465 h 6858000"/>
              <a:gd name="connsiteX115" fmla="*/ 134545 w 7538114"/>
              <a:gd name="connsiteY115" fmla="*/ 3811132 h 6858000"/>
              <a:gd name="connsiteX116" fmla="*/ 145381 w 7538114"/>
              <a:gd name="connsiteY116" fmla="*/ 3746540 h 6858000"/>
              <a:gd name="connsiteX117" fmla="*/ 146587 w 7538114"/>
              <a:gd name="connsiteY117" fmla="*/ 3670275 h 6858000"/>
              <a:gd name="connsiteX118" fmla="*/ 165690 w 7538114"/>
              <a:gd name="connsiteY118" fmla="*/ 3580981 h 6858000"/>
              <a:gd name="connsiteX119" fmla="*/ 163175 w 7538114"/>
              <a:gd name="connsiteY119" fmla="*/ 3570960 h 6858000"/>
              <a:gd name="connsiteX120" fmla="*/ 162665 w 7538114"/>
              <a:gd name="connsiteY120" fmla="*/ 3560693 h 6858000"/>
              <a:gd name="connsiteX121" fmla="*/ 163299 w 7538114"/>
              <a:gd name="connsiteY121" fmla="*/ 3559743 h 6858000"/>
              <a:gd name="connsiteX122" fmla="*/ 164777 w 7538114"/>
              <a:gd name="connsiteY122" fmla="*/ 3548721 h 6858000"/>
              <a:gd name="connsiteX123" fmla="*/ 163708 w 7538114"/>
              <a:gd name="connsiteY123" fmla="*/ 3545693 h 6858000"/>
              <a:gd name="connsiteX124" fmla="*/ 164286 w 7538114"/>
              <a:gd name="connsiteY124" fmla="*/ 3537938 h 6858000"/>
              <a:gd name="connsiteX125" fmla="*/ 164247 w 7538114"/>
              <a:gd name="connsiteY125" fmla="*/ 3522141 h 6858000"/>
              <a:gd name="connsiteX126" fmla="*/ 165343 w 7538114"/>
              <a:gd name="connsiteY126" fmla="*/ 3519672 h 6858000"/>
              <a:gd name="connsiteX127" fmla="*/ 167001 w 7538114"/>
              <a:gd name="connsiteY127" fmla="*/ 3496604 h 6858000"/>
              <a:gd name="connsiteX128" fmla="*/ 167547 w 7538114"/>
              <a:gd name="connsiteY128" fmla="*/ 3496517 h 6858000"/>
              <a:gd name="connsiteX129" fmla="*/ 170301 w 7538114"/>
              <a:gd name="connsiteY129" fmla="*/ 3491023 h 6858000"/>
              <a:gd name="connsiteX130" fmla="*/ 174371 w 7538114"/>
              <a:gd name="connsiteY130" fmla="*/ 3479998 h 6858000"/>
              <a:gd name="connsiteX131" fmla="*/ 190228 w 7538114"/>
              <a:gd name="connsiteY131" fmla="*/ 3457434 h 6858000"/>
              <a:gd name="connsiteX132" fmla="*/ 192016 w 7538114"/>
              <a:gd name="connsiteY132" fmla="*/ 3433411 h 6858000"/>
              <a:gd name="connsiteX133" fmla="*/ 192663 w 7538114"/>
              <a:gd name="connsiteY133" fmla="*/ 3428691 h 6858000"/>
              <a:gd name="connsiteX134" fmla="*/ 192793 w 7538114"/>
              <a:gd name="connsiteY134" fmla="*/ 3428643 h 6858000"/>
              <a:gd name="connsiteX135" fmla="*/ 193710 w 7538114"/>
              <a:gd name="connsiteY135" fmla="*/ 3423760 h 6858000"/>
              <a:gd name="connsiteX136" fmla="*/ 193839 w 7538114"/>
              <a:gd name="connsiteY136" fmla="*/ 3420085 h 6858000"/>
              <a:gd name="connsiteX137" fmla="*/ 195094 w 7538114"/>
              <a:gd name="connsiteY137" fmla="*/ 3410930 h 6858000"/>
              <a:gd name="connsiteX138" fmla="*/ 196311 w 7538114"/>
              <a:gd name="connsiteY138" fmla="*/ 3408092 h 6858000"/>
              <a:gd name="connsiteX139" fmla="*/ 197928 w 7538114"/>
              <a:gd name="connsiteY139" fmla="*/ 3407419 h 6858000"/>
              <a:gd name="connsiteX140" fmla="*/ 197881 w 7538114"/>
              <a:gd name="connsiteY140" fmla="*/ 3406520 h 6858000"/>
              <a:gd name="connsiteX141" fmla="*/ 204222 w 7538114"/>
              <a:gd name="connsiteY141" fmla="*/ 3391015 h 6858000"/>
              <a:gd name="connsiteX142" fmla="*/ 213950 w 7538114"/>
              <a:gd name="connsiteY142" fmla="*/ 3354361 h 6858000"/>
              <a:gd name="connsiteX143" fmla="*/ 217699 w 7538114"/>
              <a:gd name="connsiteY143" fmla="*/ 3332639 h 6858000"/>
              <a:gd name="connsiteX144" fmla="*/ 229963 w 7538114"/>
              <a:gd name="connsiteY144" fmla="*/ 3273935 h 6858000"/>
              <a:gd name="connsiteX145" fmla="*/ 243785 w 7538114"/>
              <a:gd name="connsiteY145" fmla="*/ 3215621 h 6858000"/>
              <a:gd name="connsiteX146" fmla="*/ 259175 w 7538114"/>
              <a:gd name="connsiteY146" fmla="*/ 3189909 h 6858000"/>
              <a:gd name="connsiteX147" fmla="*/ 259988 w 7538114"/>
              <a:gd name="connsiteY147" fmla="*/ 3186579 h 6858000"/>
              <a:gd name="connsiteX148" fmla="*/ 259980 w 7538114"/>
              <a:gd name="connsiteY148" fmla="*/ 3177264 h 6858000"/>
              <a:gd name="connsiteX149" fmla="*/ 259609 w 7538114"/>
              <a:gd name="connsiteY149" fmla="*/ 3173723 h 6858000"/>
              <a:gd name="connsiteX150" fmla="*/ 259848 w 7538114"/>
              <a:gd name="connsiteY150" fmla="*/ 3168622 h 6858000"/>
              <a:gd name="connsiteX151" fmla="*/ 259971 w 7538114"/>
              <a:gd name="connsiteY151" fmla="*/ 3168508 h 6858000"/>
              <a:gd name="connsiteX152" fmla="*/ 259966 w 7538114"/>
              <a:gd name="connsiteY152" fmla="*/ 3163706 h 6858000"/>
              <a:gd name="connsiteX153" fmla="*/ 258467 w 7538114"/>
              <a:gd name="connsiteY153" fmla="*/ 3140064 h 6858000"/>
              <a:gd name="connsiteX154" fmla="*/ 270990 w 7538114"/>
              <a:gd name="connsiteY154" fmla="*/ 3110288 h 6858000"/>
              <a:gd name="connsiteX155" fmla="*/ 273494 w 7538114"/>
              <a:gd name="connsiteY155" fmla="*/ 3097704 h 6858000"/>
              <a:gd name="connsiteX156" fmla="*/ 275456 w 7538114"/>
              <a:gd name="connsiteY156" fmla="*/ 3091047 h 6858000"/>
              <a:gd name="connsiteX157" fmla="*/ 275980 w 7538114"/>
              <a:gd name="connsiteY157" fmla="*/ 3090672 h 6858000"/>
              <a:gd name="connsiteX158" fmla="*/ 274486 w 7538114"/>
              <a:gd name="connsiteY158" fmla="*/ 3068004 h 6858000"/>
              <a:gd name="connsiteX159" fmla="*/ 275226 w 7538114"/>
              <a:gd name="connsiteY159" fmla="*/ 3065087 h 6858000"/>
              <a:gd name="connsiteX160" fmla="*/ 273050 w 7538114"/>
              <a:gd name="connsiteY160" fmla="*/ 3050191 h 6858000"/>
              <a:gd name="connsiteX161" fmla="*/ 272566 w 7538114"/>
              <a:gd name="connsiteY161" fmla="*/ 3042559 h 6858000"/>
              <a:gd name="connsiteX162" fmla="*/ 271107 w 7538114"/>
              <a:gd name="connsiteY162" fmla="*/ 3040271 h 6858000"/>
              <a:gd name="connsiteX163" fmla="*/ 271065 w 7538114"/>
              <a:gd name="connsiteY163" fmla="*/ 3029072 h 6858000"/>
              <a:gd name="connsiteX164" fmla="*/ 271558 w 7538114"/>
              <a:gd name="connsiteY164" fmla="*/ 3027835 h 6858000"/>
              <a:gd name="connsiteX165" fmla="*/ 268717 w 7538114"/>
              <a:gd name="connsiteY165" fmla="*/ 2964245 h 6858000"/>
              <a:gd name="connsiteX166" fmla="*/ 272511 w 7538114"/>
              <a:gd name="connsiteY166" fmla="*/ 2915772 h 6858000"/>
              <a:gd name="connsiteX167" fmla="*/ 270356 w 7538114"/>
              <a:gd name="connsiteY167" fmla="*/ 2825842 h 6858000"/>
              <a:gd name="connsiteX168" fmla="*/ 273897 w 7538114"/>
              <a:gd name="connsiteY168" fmla="*/ 2734957 h 6858000"/>
              <a:gd name="connsiteX169" fmla="*/ 274458 w 7538114"/>
              <a:gd name="connsiteY169" fmla="*/ 2636572 h 6858000"/>
              <a:gd name="connsiteX170" fmla="*/ 279157 w 7538114"/>
              <a:gd name="connsiteY170" fmla="*/ 2604260 h 6858000"/>
              <a:gd name="connsiteX171" fmla="*/ 288131 w 7538114"/>
              <a:gd name="connsiteY171" fmla="*/ 2582747 h 6858000"/>
              <a:gd name="connsiteX172" fmla="*/ 282516 w 7538114"/>
              <a:gd name="connsiteY172" fmla="*/ 2478755 h 6858000"/>
              <a:gd name="connsiteX173" fmla="*/ 287359 w 7538114"/>
              <a:gd name="connsiteY173" fmla="*/ 2451804 h 6858000"/>
              <a:gd name="connsiteX174" fmla="*/ 289577 w 7538114"/>
              <a:gd name="connsiteY174" fmla="*/ 2408801 h 6858000"/>
              <a:gd name="connsiteX175" fmla="*/ 293203 w 7538114"/>
              <a:gd name="connsiteY175" fmla="*/ 2392670 h 6858000"/>
              <a:gd name="connsiteX176" fmla="*/ 304183 w 7538114"/>
              <a:gd name="connsiteY176" fmla="*/ 2330165 h 6858000"/>
              <a:gd name="connsiteX177" fmla="*/ 310900 w 7538114"/>
              <a:gd name="connsiteY177" fmla="*/ 2276363 h 6858000"/>
              <a:gd name="connsiteX178" fmla="*/ 303909 w 7538114"/>
              <a:gd name="connsiteY178" fmla="*/ 2236310 h 6858000"/>
              <a:gd name="connsiteX179" fmla="*/ 306187 w 7538114"/>
              <a:gd name="connsiteY179" fmla="*/ 2232984 h 6858000"/>
              <a:gd name="connsiteX180" fmla="*/ 307158 w 7538114"/>
              <a:gd name="connsiteY180" fmla="*/ 2205763 h 6858000"/>
              <a:gd name="connsiteX181" fmla="*/ 304860 w 7538114"/>
              <a:gd name="connsiteY181" fmla="*/ 2145703 h 6858000"/>
              <a:gd name="connsiteX182" fmla="*/ 304273 w 7538114"/>
              <a:gd name="connsiteY182" fmla="*/ 2092533 h 6858000"/>
              <a:gd name="connsiteX183" fmla="*/ 301642 w 7538114"/>
              <a:gd name="connsiteY183" fmla="*/ 2057359 h 6858000"/>
              <a:gd name="connsiteX184" fmla="*/ 306736 w 7538114"/>
              <a:gd name="connsiteY184" fmla="*/ 2016105 h 6858000"/>
              <a:gd name="connsiteX185" fmla="*/ 316234 w 7538114"/>
              <a:gd name="connsiteY185" fmla="*/ 1983129 h 6858000"/>
              <a:gd name="connsiteX186" fmla="*/ 318238 w 7538114"/>
              <a:gd name="connsiteY186" fmla="*/ 1956745 h 6858000"/>
              <a:gd name="connsiteX187" fmla="*/ 311341 w 7538114"/>
              <a:gd name="connsiteY187" fmla="*/ 1950160 h 6858000"/>
              <a:gd name="connsiteX188" fmla="*/ 323556 w 7538114"/>
              <a:gd name="connsiteY188" fmla="*/ 1879546 h 6858000"/>
              <a:gd name="connsiteX189" fmla="*/ 326085 w 7538114"/>
              <a:gd name="connsiteY189" fmla="*/ 1854893 h 6858000"/>
              <a:gd name="connsiteX190" fmla="*/ 335058 w 7538114"/>
              <a:gd name="connsiteY190" fmla="*/ 1787684 h 6858000"/>
              <a:gd name="connsiteX191" fmla="*/ 345620 w 7538114"/>
              <a:gd name="connsiteY191" fmla="*/ 1720464 h 6858000"/>
              <a:gd name="connsiteX192" fmla="*/ 360760 w 7538114"/>
              <a:gd name="connsiteY192" fmla="*/ 1681196 h 6858000"/>
              <a:gd name="connsiteX193" fmla="*/ 368483 w 7538114"/>
              <a:gd name="connsiteY193" fmla="*/ 1625881 h 6858000"/>
              <a:gd name="connsiteX194" fmla="*/ 371077 w 7538114"/>
              <a:gd name="connsiteY194" fmla="*/ 1616704 h 6858000"/>
              <a:gd name="connsiteX195" fmla="*/ 383008 w 7538114"/>
              <a:gd name="connsiteY195" fmla="*/ 1551493 h 6858000"/>
              <a:gd name="connsiteX196" fmla="*/ 384834 w 7538114"/>
              <a:gd name="connsiteY196" fmla="*/ 1475233 h 6858000"/>
              <a:gd name="connsiteX197" fmla="*/ 418371 w 7538114"/>
              <a:gd name="connsiteY197" fmla="*/ 1380155 h 6858000"/>
              <a:gd name="connsiteX198" fmla="*/ 469641 w 7538114"/>
              <a:gd name="connsiteY198" fmla="*/ 1210871 h 6858000"/>
              <a:gd name="connsiteX199" fmla="*/ 489701 w 7538114"/>
              <a:gd name="connsiteY199" fmla="*/ 1028427 h 6858000"/>
              <a:gd name="connsiteX200" fmla="*/ 486354 w 7538114"/>
              <a:gd name="connsiteY200" fmla="*/ 980383 h 6858000"/>
              <a:gd name="connsiteX201" fmla="*/ 479762 w 7538114"/>
              <a:gd name="connsiteY201" fmla="*/ 839699 h 6858000"/>
              <a:gd name="connsiteX202" fmla="*/ 445664 w 7538114"/>
              <a:gd name="connsiteY202" fmla="*/ 696545 h 6858000"/>
              <a:gd name="connsiteX203" fmla="*/ 440047 w 7538114"/>
              <a:gd name="connsiteY203" fmla="*/ 606615 h 6858000"/>
              <a:gd name="connsiteX204" fmla="*/ 431225 w 7538114"/>
              <a:gd name="connsiteY204" fmla="*/ 563889 h 6858000"/>
              <a:gd name="connsiteX205" fmla="*/ 430803 w 7538114"/>
              <a:gd name="connsiteY205" fmla="*/ 534294 h 6858000"/>
              <a:gd name="connsiteX206" fmla="*/ 429777 w 7538114"/>
              <a:gd name="connsiteY206" fmla="*/ 516548 h 6858000"/>
              <a:gd name="connsiteX207" fmla="*/ 415090 w 7538114"/>
              <a:gd name="connsiteY207" fmla="*/ 485808 h 6858000"/>
              <a:gd name="connsiteX208" fmla="*/ 410499 w 7538114"/>
              <a:gd name="connsiteY208" fmla="*/ 369873 h 6858000"/>
              <a:gd name="connsiteX209" fmla="*/ 425314 w 7538114"/>
              <a:gd name="connsiteY209" fmla="*/ 259180 h 6858000"/>
              <a:gd name="connsiteX210" fmla="*/ 383240 w 7538114"/>
              <a:gd name="connsiteY210" fmla="*/ 94173 h 6858000"/>
              <a:gd name="connsiteX211" fmla="*/ 379938 w 7538114"/>
              <a:gd name="connsiteY211" fmla="*/ 77267 h 6858000"/>
              <a:gd name="connsiteX212" fmla="*/ 373430 w 7538114"/>
              <a:gd name="connsiteY212" fmla="*/ 3885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7538114" h="6858000">
                <a:moveTo>
                  <a:pt x="366246" y="0"/>
                </a:moveTo>
                <a:lnTo>
                  <a:pt x="2830292" y="0"/>
                </a:lnTo>
                <a:lnTo>
                  <a:pt x="3903260" y="0"/>
                </a:lnTo>
                <a:lnTo>
                  <a:pt x="4597266" y="0"/>
                </a:lnTo>
                <a:lnTo>
                  <a:pt x="7192370" y="0"/>
                </a:lnTo>
                <a:lnTo>
                  <a:pt x="7538114" y="0"/>
                </a:lnTo>
                <a:lnTo>
                  <a:pt x="7538114" y="6858000"/>
                </a:lnTo>
                <a:lnTo>
                  <a:pt x="7192370" y="6858000"/>
                </a:lnTo>
                <a:lnTo>
                  <a:pt x="4597266" y="6858000"/>
                </a:lnTo>
                <a:lnTo>
                  <a:pt x="3903260" y="6858000"/>
                </a:lnTo>
                <a:lnTo>
                  <a:pt x="2830292" y="6858000"/>
                </a:lnTo>
                <a:lnTo>
                  <a:pt x="170314" y="6858000"/>
                </a:lnTo>
                <a:cubicBezTo>
                  <a:pt x="170323" y="6857920"/>
                  <a:pt x="170332" y="6857839"/>
                  <a:pt x="170341" y="6857759"/>
                </a:cubicBezTo>
                <a:lnTo>
                  <a:pt x="173485" y="6852129"/>
                </a:lnTo>
                <a:lnTo>
                  <a:pt x="167544" y="6830335"/>
                </a:lnTo>
                <a:cubicBezTo>
                  <a:pt x="165474" y="6819600"/>
                  <a:pt x="164100" y="6808301"/>
                  <a:pt x="163472" y="6796707"/>
                </a:cubicBezTo>
                <a:cubicBezTo>
                  <a:pt x="167658" y="6794106"/>
                  <a:pt x="161711" y="6785006"/>
                  <a:pt x="160535" y="6780725"/>
                </a:cubicBezTo>
                <a:cubicBezTo>
                  <a:pt x="163268" y="6780680"/>
                  <a:pt x="164578" y="6771195"/>
                  <a:pt x="162318" y="6767829"/>
                </a:cubicBezTo>
                <a:cubicBezTo>
                  <a:pt x="152545" y="6697090"/>
                  <a:pt x="178083" y="6736894"/>
                  <a:pt x="162771" y="6694444"/>
                </a:cubicBezTo>
                <a:cubicBezTo>
                  <a:pt x="161971" y="6687342"/>
                  <a:pt x="163342" y="6682014"/>
                  <a:pt x="165604" y="6677569"/>
                </a:cubicBezTo>
                <a:lnTo>
                  <a:pt x="171255" y="6669571"/>
                </a:lnTo>
                <a:lnTo>
                  <a:pt x="169240" y="6663304"/>
                </a:lnTo>
                <a:cubicBezTo>
                  <a:pt x="169082" y="6639651"/>
                  <a:pt x="174873" y="6632678"/>
                  <a:pt x="169039" y="6618916"/>
                </a:cubicBezTo>
                <a:cubicBezTo>
                  <a:pt x="181164" y="6598580"/>
                  <a:pt x="170248" y="6605428"/>
                  <a:pt x="168392" y="6589960"/>
                </a:cubicBezTo>
                <a:cubicBezTo>
                  <a:pt x="165975" y="6577758"/>
                  <a:pt x="161323" y="6600160"/>
                  <a:pt x="160636" y="6588200"/>
                </a:cubicBezTo>
                <a:cubicBezTo>
                  <a:pt x="163766" y="6575263"/>
                  <a:pt x="154044" y="6575871"/>
                  <a:pt x="157872" y="6562416"/>
                </a:cubicBezTo>
                <a:cubicBezTo>
                  <a:pt x="165196" y="6565685"/>
                  <a:pt x="156453" y="6535866"/>
                  <a:pt x="162851" y="6534939"/>
                </a:cubicBezTo>
                <a:cubicBezTo>
                  <a:pt x="153702" y="6523511"/>
                  <a:pt x="164973" y="6517769"/>
                  <a:pt x="162153" y="6502552"/>
                </a:cubicBezTo>
                <a:cubicBezTo>
                  <a:pt x="158692" y="6495386"/>
                  <a:pt x="158098" y="6490216"/>
                  <a:pt x="161821" y="6483172"/>
                </a:cubicBezTo>
                <a:cubicBezTo>
                  <a:pt x="144969" y="6450162"/>
                  <a:pt x="161066" y="6463202"/>
                  <a:pt x="154586" y="6432309"/>
                </a:cubicBezTo>
                <a:cubicBezTo>
                  <a:pt x="147771" y="6405695"/>
                  <a:pt x="143349" y="6375524"/>
                  <a:pt x="127078" y="6349783"/>
                </a:cubicBezTo>
                <a:cubicBezTo>
                  <a:pt x="122468" y="6345058"/>
                  <a:pt x="120723" y="6333456"/>
                  <a:pt x="123181" y="6323872"/>
                </a:cubicBezTo>
                <a:cubicBezTo>
                  <a:pt x="123604" y="6322225"/>
                  <a:pt x="124138" y="6320698"/>
                  <a:pt x="124767" y="6319343"/>
                </a:cubicBezTo>
                <a:cubicBezTo>
                  <a:pt x="122278" y="6297089"/>
                  <a:pt x="111161" y="6215694"/>
                  <a:pt x="108246" y="6190348"/>
                </a:cubicBezTo>
                <a:cubicBezTo>
                  <a:pt x="114169" y="6188296"/>
                  <a:pt x="103482" y="6175479"/>
                  <a:pt x="107279" y="6167269"/>
                </a:cubicBezTo>
                <a:cubicBezTo>
                  <a:pt x="110610" y="6161389"/>
                  <a:pt x="108145" y="6156128"/>
                  <a:pt x="107883" y="6149986"/>
                </a:cubicBezTo>
                <a:cubicBezTo>
                  <a:pt x="110502" y="6141894"/>
                  <a:pt x="105773" y="6115502"/>
                  <a:pt x="102380" y="6108622"/>
                </a:cubicBezTo>
                <a:cubicBezTo>
                  <a:pt x="90593" y="6092179"/>
                  <a:pt x="99346" y="6054816"/>
                  <a:pt x="90314" y="6041155"/>
                </a:cubicBezTo>
                <a:cubicBezTo>
                  <a:pt x="88990" y="6036198"/>
                  <a:pt x="88454" y="6031348"/>
                  <a:pt x="88409" y="6026587"/>
                </a:cubicBezTo>
                <a:lnTo>
                  <a:pt x="89403" y="6013265"/>
                </a:lnTo>
                <a:lnTo>
                  <a:pt x="91927" y="6009478"/>
                </a:lnTo>
                <a:lnTo>
                  <a:pt x="91302" y="6001336"/>
                </a:lnTo>
                <a:cubicBezTo>
                  <a:pt x="91431" y="6000558"/>
                  <a:pt x="91559" y="5999781"/>
                  <a:pt x="91687" y="5999003"/>
                </a:cubicBezTo>
                <a:cubicBezTo>
                  <a:pt x="92431" y="5994547"/>
                  <a:pt x="93080" y="5990148"/>
                  <a:pt x="93336" y="5985795"/>
                </a:cubicBezTo>
                <a:cubicBezTo>
                  <a:pt x="80676" y="5991520"/>
                  <a:pt x="93430" y="5949705"/>
                  <a:pt x="83190" y="5961758"/>
                </a:cubicBezTo>
                <a:cubicBezTo>
                  <a:pt x="82399" y="5938832"/>
                  <a:pt x="72862" y="5956319"/>
                  <a:pt x="81952" y="5928761"/>
                </a:cubicBezTo>
                <a:cubicBezTo>
                  <a:pt x="79324" y="5899676"/>
                  <a:pt x="72619" y="5823590"/>
                  <a:pt x="67420" y="5787247"/>
                </a:cubicBezTo>
                <a:cubicBezTo>
                  <a:pt x="53530" y="5750058"/>
                  <a:pt x="57730" y="5736292"/>
                  <a:pt x="50760" y="5710700"/>
                </a:cubicBezTo>
                <a:cubicBezTo>
                  <a:pt x="47368" y="5660911"/>
                  <a:pt x="30723" y="5663675"/>
                  <a:pt x="42956" y="5641754"/>
                </a:cubicBezTo>
                <a:cubicBezTo>
                  <a:pt x="39970" y="5608358"/>
                  <a:pt x="24769" y="5637338"/>
                  <a:pt x="29695" y="5602326"/>
                </a:cubicBezTo>
                <a:cubicBezTo>
                  <a:pt x="27700" y="5601239"/>
                  <a:pt x="20274" y="5573144"/>
                  <a:pt x="18841" y="5570885"/>
                </a:cubicBezTo>
                <a:lnTo>
                  <a:pt x="9977" y="5543492"/>
                </a:lnTo>
                <a:lnTo>
                  <a:pt x="5255" y="5531024"/>
                </a:lnTo>
                <a:lnTo>
                  <a:pt x="5447" y="5527845"/>
                </a:lnTo>
                <a:lnTo>
                  <a:pt x="0" y="5507724"/>
                </a:lnTo>
                <a:lnTo>
                  <a:pt x="435" y="5507045"/>
                </a:lnTo>
                <a:cubicBezTo>
                  <a:pt x="1286" y="5505065"/>
                  <a:pt x="1681" y="5502734"/>
                  <a:pt x="1128" y="5499619"/>
                </a:cubicBezTo>
                <a:cubicBezTo>
                  <a:pt x="9450" y="5498516"/>
                  <a:pt x="3652" y="5495435"/>
                  <a:pt x="1291" y="5486342"/>
                </a:cubicBezTo>
                <a:cubicBezTo>
                  <a:pt x="13688" y="5482600"/>
                  <a:pt x="2464" y="5460320"/>
                  <a:pt x="7976" y="5450755"/>
                </a:cubicBezTo>
                <a:cubicBezTo>
                  <a:pt x="5962" y="5444157"/>
                  <a:pt x="4058" y="5437113"/>
                  <a:pt x="2355" y="5429732"/>
                </a:cubicBezTo>
                <a:lnTo>
                  <a:pt x="1499" y="5370432"/>
                </a:lnTo>
                <a:lnTo>
                  <a:pt x="11483" y="5308330"/>
                </a:lnTo>
                <a:cubicBezTo>
                  <a:pt x="11701" y="5285359"/>
                  <a:pt x="15408" y="5265468"/>
                  <a:pt x="12793" y="5246026"/>
                </a:cubicBezTo>
                <a:cubicBezTo>
                  <a:pt x="15678" y="5238129"/>
                  <a:pt x="16842" y="5230685"/>
                  <a:pt x="12525" y="5223468"/>
                </a:cubicBezTo>
                <a:cubicBezTo>
                  <a:pt x="13966" y="5202031"/>
                  <a:pt x="20131" y="5196842"/>
                  <a:pt x="15322" y="5183258"/>
                </a:cubicBezTo>
                <a:cubicBezTo>
                  <a:pt x="25294" y="5171214"/>
                  <a:pt x="21488" y="5170502"/>
                  <a:pt x="18633" y="5164842"/>
                </a:cubicBezTo>
                <a:cubicBezTo>
                  <a:pt x="18565" y="5164573"/>
                  <a:pt x="18496" y="5164303"/>
                  <a:pt x="18428" y="5164034"/>
                </a:cubicBezTo>
                <a:lnTo>
                  <a:pt x="19854" y="5162388"/>
                </a:lnTo>
                <a:lnTo>
                  <a:pt x="20514" y="5158981"/>
                </a:lnTo>
                <a:lnTo>
                  <a:pt x="20089" y="5149681"/>
                </a:lnTo>
                <a:lnTo>
                  <a:pt x="19561" y="5146183"/>
                </a:lnTo>
                <a:cubicBezTo>
                  <a:pt x="19336" y="5143774"/>
                  <a:pt x="19361" y="5142173"/>
                  <a:pt x="19571" y="5141065"/>
                </a:cubicBezTo>
                <a:lnTo>
                  <a:pt x="19690" y="5140937"/>
                </a:lnTo>
                <a:cubicBezTo>
                  <a:pt x="19617" y="5139339"/>
                  <a:pt x="19544" y="5137742"/>
                  <a:pt x="19471" y="5136144"/>
                </a:cubicBezTo>
                <a:cubicBezTo>
                  <a:pt x="18832" y="5128055"/>
                  <a:pt x="17958" y="5120182"/>
                  <a:pt x="16918" y="5112689"/>
                </a:cubicBezTo>
                <a:cubicBezTo>
                  <a:pt x="23464" y="5106353"/>
                  <a:pt x="15733" y="5078666"/>
                  <a:pt x="28071" y="5081696"/>
                </a:cubicBezTo>
                <a:cubicBezTo>
                  <a:pt x="27036" y="5071588"/>
                  <a:pt x="21912" y="5065475"/>
                  <a:pt x="30005" y="5068879"/>
                </a:cubicBezTo>
                <a:cubicBezTo>
                  <a:pt x="29897" y="5065551"/>
                  <a:pt x="30585" y="5063501"/>
                  <a:pt x="31661" y="5062033"/>
                </a:cubicBezTo>
                <a:lnTo>
                  <a:pt x="32169" y="5061608"/>
                </a:lnTo>
                <a:lnTo>
                  <a:pt x="27436" y="5021480"/>
                </a:lnTo>
                <a:lnTo>
                  <a:pt x="26614" y="5013906"/>
                </a:lnTo>
                <a:lnTo>
                  <a:pt x="25056" y="5011767"/>
                </a:lnTo>
                <a:cubicBezTo>
                  <a:pt x="24110" y="5009457"/>
                  <a:pt x="23701" y="5006147"/>
                  <a:pt x="24513" y="5000592"/>
                </a:cubicBezTo>
                <a:lnTo>
                  <a:pt x="24951" y="4999307"/>
                </a:lnTo>
                <a:lnTo>
                  <a:pt x="22644" y="4990090"/>
                </a:lnTo>
                <a:cubicBezTo>
                  <a:pt x="21579" y="4987122"/>
                  <a:pt x="20222" y="4984494"/>
                  <a:pt x="18465" y="4982366"/>
                </a:cubicBezTo>
                <a:cubicBezTo>
                  <a:pt x="27858" y="4950984"/>
                  <a:pt x="19264" y="4921373"/>
                  <a:pt x="20888" y="4887310"/>
                </a:cubicBezTo>
                <a:cubicBezTo>
                  <a:pt x="17563" y="4848813"/>
                  <a:pt x="18386" y="4829570"/>
                  <a:pt x="15781" y="4807298"/>
                </a:cubicBezTo>
                <a:cubicBezTo>
                  <a:pt x="15634" y="4803627"/>
                  <a:pt x="14440" y="4773874"/>
                  <a:pt x="19649" y="4779990"/>
                </a:cubicBezTo>
                <a:cubicBezTo>
                  <a:pt x="18744" y="4746827"/>
                  <a:pt x="22869" y="4698305"/>
                  <a:pt x="21858" y="4664237"/>
                </a:cubicBezTo>
                <a:cubicBezTo>
                  <a:pt x="34232" y="4642340"/>
                  <a:pt x="11268" y="4621318"/>
                  <a:pt x="13583" y="4598607"/>
                </a:cubicBezTo>
                <a:cubicBezTo>
                  <a:pt x="2193" y="4604819"/>
                  <a:pt x="19974" y="4548010"/>
                  <a:pt x="7118" y="4546768"/>
                </a:cubicBezTo>
                <a:lnTo>
                  <a:pt x="14555" y="4522182"/>
                </a:lnTo>
                <a:lnTo>
                  <a:pt x="17290" y="4509768"/>
                </a:lnTo>
                <a:cubicBezTo>
                  <a:pt x="17884" y="4505118"/>
                  <a:pt x="18021" y="4500115"/>
                  <a:pt x="17421" y="4494586"/>
                </a:cubicBezTo>
                <a:cubicBezTo>
                  <a:pt x="12327" y="4480984"/>
                  <a:pt x="18571" y="4459805"/>
                  <a:pt x="18193" y="4440649"/>
                </a:cubicBezTo>
                <a:lnTo>
                  <a:pt x="16616" y="4431853"/>
                </a:lnTo>
                <a:lnTo>
                  <a:pt x="19246" y="4403141"/>
                </a:lnTo>
                <a:cubicBezTo>
                  <a:pt x="19372" y="4387638"/>
                  <a:pt x="19497" y="4372134"/>
                  <a:pt x="19623" y="4356631"/>
                </a:cubicBezTo>
                <a:cubicBezTo>
                  <a:pt x="19508" y="4349062"/>
                  <a:pt x="15847" y="4339045"/>
                  <a:pt x="20293" y="4339937"/>
                </a:cubicBezTo>
                <a:lnTo>
                  <a:pt x="18752" y="4331435"/>
                </a:lnTo>
                <a:cubicBezTo>
                  <a:pt x="19520" y="4328277"/>
                  <a:pt x="24070" y="4324711"/>
                  <a:pt x="24901" y="4320990"/>
                </a:cubicBezTo>
                <a:lnTo>
                  <a:pt x="23734" y="4309111"/>
                </a:lnTo>
                <a:cubicBezTo>
                  <a:pt x="24423" y="4299527"/>
                  <a:pt x="28090" y="4271878"/>
                  <a:pt x="29040" y="4263489"/>
                </a:cubicBezTo>
                <a:cubicBezTo>
                  <a:pt x="29169" y="4261918"/>
                  <a:pt x="29300" y="4260346"/>
                  <a:pt x="29429" y="4258775"/>
                </a:cubicBezTo>
                <a:lnTo>
                  <a:pt x="33702" y="4248512"/>
                </a:lnTo>
                <a:cubicBezTo>
                  <a:pt x="36933" y="4241044"/>
                  <a:pt x="39109" y="4235167"/>
                  <a:pt x="37356" y="4228644"/>
                </a:cubicBezTo>
                <a:cubicBezTo>
                  <a:pt x="41530" y="4217526"/>
                  <a:pt x="53227" y="4209759"/>
                  <a:pt x="50107" y="4193665"/>
                </a:cubicBezTo>
                <a:cubicBezTo>
                  <a:pt x="55406" y="4198550"/>
                  <a:pt x="50749" y="4175793"/>
                  <a:pt x="56192" y="4173105"/>
                </a:cubicBezTo>
                <a:cubicBezTo>
                  <a:pt x="60575" y="4171863"/>
                  <a:pt x="60184" y="4164671"/>
                  <a:pt x="61800" y="4159194"/>
                </a:cubicBezTo>
                <a:cubicBezTo>
                  <a:pt x="66276" y="4155290"/>
                  <a:pt x="70363" y="4127730"/>
                  <a:pt x="69720" y="4118135"/>
                </a:cubicBezTo>
                <a:cubicBezTo>
                  <a:pt x="65265" y="4091091"/>
                  <a:pt x="83289" y="4069336"/>
                  <a:pt x="80190" y="4047713"/>
                </a:cubicBezTo>
                <a:cubicBezTo>
                  <a:pt x="84682" y="4020435"/>
                  <a:pt x="92089" y="3998420"/>
                  <a:pt x="96666" y="3980780"/>
                </a:cubicBezTo>
                <a:cubicBezTo>
                  <a:pt x="98580" y="3977851"/>
                  <a:pt x="106155" y="3945259"/>
                  <a:pt x="107651" y="3941872"/>
                </a:cubicBezTo>
                <a:cubicBezTo>
                  <a:pt x="111761" y="3922504"/>
                  <a:pt x="112043" y="3930219"/>
                  <a:pt x="118444" y="3897465"/>
                </a:cubicBezTo>
                <a:cubicBezTo>
                  <a:pt x="124996" y="3869981"/>
                  <a:pt x="127657" y="3841768"/>
                  <a:pt x="134545" y="3811132"/>
                </a:cubicBezTo>
                <a:cubicBezTo>
                  <a:pt x="143817" y="3778601"/>
                  <a:pt x="141464" y="3759343"/>
                  <a:pt x="145381" y="3746540"/>
                </a:cubicBezTo>
                <a:cubicBezTo>
                  <a:pt x="156739" y="3719637"/>
                  <a:pt x="147664" y="3711291"/>
                  <a:pt x="146587" y="3670275"/>
                </a:cubicBezTo>
                <a:cubicBezTo>
                  <a:pt x="154134" y="3638754"/>
                  <a:pt x="151397" y="3605028"/>
                  <a:pt x="165690" y="3580981"/>
                </a:cubicBezTo>
                <a:cubicBezTo>
                  <a:pt x="164433" y="3577837"/>
                  <a:pt x="163639" y="3574469"/>
                  <a:pt x="163175" y="3570960"/>
                </a:cubicBezTo>
                <a:lnTo>
                  <a:pt x="162665" y="3560693"/>
                </a:lnTo>
                <a:lnTo>
                  <a:pt x="163299" y="3559743"/>
                </a:lnTo>
                <a:cubicBezTo>
                  <a:pt x="165039" y="3554949"/>
                  <a:pt x="165246" y="3551528"/>
                  <a:pt x="164777" y="3548721"/>
                </a:cubicBezTo>
                <a:lnTo>
                  <a:pt x="163708" y="3545693"/>
                </a:lnTo>
                <a:lnTo>
                  <a:pt x="164286" y="3537938"/>
                </a:lnTo>
                <a:cubicBezTo>
                  <a:pt x="164273" y="3532672"/>
                  <a:pt x="164261" y="3527407"/>
                  <a:pt x="164247" y="3522141"/>
                </a:cubicBezTo>
                <a:lnTo>
                  <a:pt x="165343" y="3519672"/>
                </a:lnTo>
                <a:lnTo>
                  <a:pt x="167001" y="3496604"/>
                </a:lnTo>
                <a:lnTo>
                  <a:pt x="167547" y="3496517"/>
                </a:lnTo>
                <a:cubicBezTo>
                  <a:pt x="168811" y="3495796"/>
                  <a:pt x="169814" y="3494272"/>
                  <a:pt x="170301" y="3491023"/>
                </a:cubicBezTo>
                <a:cubicBezTo>
                  <a:pt x="177219" y="3499391"/>
                  <a:pt x="173541" y="3490314"/>
                  <a:pt x="174371" y="3479998"/>
                </a:cubicBezTo>
                <a:cubicBezTo>
                  <a:pt x="185299" y="3490692"/>
                  <a:pt x="183023" y="3459350"/>
                  <a:pt x="190228" y="3457434"/>
                </a:cubicBezTo>
                <a:cubicBezTo>
                  <a:pt x="190591" y="3449617"/>
                  <a:pt x="191174" y="3441542"/>
                  <a:pt x="192016" y="3433411"/>
                </a:cubicBezTo>
                <a:lnTo>
                  <a:pt x="192663" y="3428691"/>
                </a:lnTo>
                <a:cubicBezTo>
                  <a:pt x="192706" y="3428676"/>
                  <a:pt x="192750" y="3428659"/>
                  <a:pt x="192793" y="3428643"/>
                </a:cubicBezTo>
                <a:cubicBezTo>
                  <a:pt x="193186" y="3427720"/>
                  <a:pt x="193494" y="3426206"/>
                  <a:pt x="193710" y="3423760"/>
                </a:cubicBezTo>
                <a:cubicBezTo>
                  <a:pt x="193753" y="3422535"/>
                  <a:pt x="193797" y="3421310"/>
                  <a:pt x="193839" y="3420085"/>
                </a:cubicBezTo>
                <a:lnTo>
                  <a:pt x="195094" y="3410930"/>
                </a:lnTo>
                <a:lnTo>
                  <a:pt x="196311" y="3408092"/>
                </a:lnTo>
                <a:lnTo>
                  <a:pt x="197928" y="3407419"/>
                </a:lnTo>
                <a:cubicBezTo>
                  <a:pt x="197912" y="3407119"/>
                  <a:pt x="197897" y="3406820"/>
                  <a:pt x="197881" y="3406520"/>
                </a:cubicBezTo>
                <a:cubicBezTo>
                  <a:pt x="196231" y="3399306"/>
                  <a:pt x="192821" y="3396220"/>
                  <a:pt x="204222" y="3391015"/>
                </a:cubicBezTo>
                <a:cubicBezTo>
                  <a:pt x="202162" y="3374996"/>
                  <a:pt x="208811" y="3373934"/>
                  <a:pt x="213950" y="3354361"/>
                </a:cubicBezTo>
                <a:cubicBezTo>
                  <a:pt x="211218" y="3344737"/>
                  <a:pt x="213619" y="3338360"/>
                  <a:pt x="217699" y="3332639"/>
                </a:cubicBezTo>
                <a:cubicBezTo>
                  <a:pt x="218717" y="3312409"/>
                  <a:pt x="225688" y="3295747"/>
                  <a:pt x="229963" y="3273935"/>
                </a:cubicBezTo>
                <a:cubicBezTo>
                  <a:pt x="228293" y="3248488"/>
                  <a:pt x="239257" y="3238943"/>
                  <a:pt x="243785" y="3215621"/>
                </a:cubicBezTo>
                <a:cubicBezTo>
                  <a:pt x="237893" y="3192522"/>
                  <a:pt x="253940" y="3201000"/>
                  <a:pt x="259175" y="3189909"/>
                </a:cubicBezTo>
                <a:lnTo>
                  <a:pt x="259988" y="3186579"/>
                </a:lnTo>
                <a:lnTo>
                  <a:pt x="259980" y="3177264"/>
                </a:lnTo>
                <a:lnTo>
                  <a:pt x="259609" y="3173723"/>
                </a:lnTo>
                <a:cubicBezTo>
                  <a:pt x="259490" y="3171299"/>
                  <a:pt x="259588" y="3169704"/>
                  <a:pt x="259848" y="3168622"/>
                </a:cubicBezTo>
                <a:lnTo>
                  <a:pt x="259971" y="3168508"/>
                </a:lnTo>
                <a:cubicBezTo>
                  <a:pt x="259969" y="3166907"/>
                  <a:pt x="259968" y="3165307"/>
                  <a:pt x="259966" y="3163706"/>
                </a:cubicBezTo>
                <a:cubicBezTo>
                  <a:pt x="259691" y="3155577"/>
                  <a:pt x="259171" y="3147642"/>
                  <a:pt x="258467" y="3140064"/>
                </a:cubicBezTo>
                <a:cubicBezTo>
                  <a:pt x="265286" y="3134408"/>
                  <a:pt x="258805" y="3106027"/>
                  <a:pt x="270990" y="3110288"/>
                </a:cubicBezTo>
                <a:cubicBezTo>
                  <a:pt x="270407" y="3100106"/>
                  <a:pt x="265565" y="3093497"/>
                  <a:pt x="273494" y="3097704"/>
                </a:cubicBezTo>
                <a:cubicBezTo>
                  <a:pt x="273534" y="3094376"/>
                  <a:pt x="274313" y="3092401"/>
                  <a:pt x="275456" y="3091047"/>
                </a:cubicBezTo>
                <a:lnTo>
                  <a:pt x="275980" y="3090672"/>
                </a:lnTo>
                <a:lnTo>
                  <a:pt x="274486" y="3068004"/>
                </a:lnTo>
                <a:lnTo>
                  <a:pt x="275226" y="3065087"/>
                </a:lnTo>
                <a:lnTo>
                  <a:pt x="273050" y="3050191"/>
                </a:lnTo>
                <a:cubicBezTo>
                  <a:pt x="272889" y="3047647"/>
                  <a:pt x="272728" y="3045103"/>
                  <a:pt x="272566" y="3042559"/>
                </a:cubicBezTo>
                <a:lnTo>
                  <a:pt x="271107" y="3040271"/>
                </a:lnTo>
                <a:cubicBezTo>
                  <a:pt x="270265" y="3037872"/>
                  <a:pt x="270006" y="3034528"/>
                  <a:pt x="271065" y="3029072"/>
                </a:cubicBezTo>
                <a:lnTo>
                  <a:pt x="271558" y="3027835"/>
                </a:lnTo>
                <a:cubicBezTo>
                  <a:pt x="270688" y="3024705"/>
                  <a:pt x="268559" y="2982922"/>
                  <a:pt x="268717" y="2964245"/>
                </a:cubicBezTo>
                <a:cubicBezTo>
                  <a:pt x="279502" y="2933904"/>
                  <a:pt x="269365" y="2949568"/>
                  <a:pt x="272511" y="2915772"/>
                </a:cubicBezTo>
                <a:cubicBezTo>
                  <a:pt x="272017" y="2877552"/>
                  <a:pt x="270125" y="2850992"/>
                  <a:pt x="270356" y="2825842"/>
                </a:cubicBezTo>
                <a:cubicBezTo>
                  <a:pt x="269433" y="2814032"/>
                  <a:pt x="268938" y="2727859"/>
                  <a:pt x="273897" y="2734957"/>
                </a:cubicBezTo>
                <a:cubicBezTo>
                  <a:pt x="264242" y="2698391"/>
                  <a:pt x="277769" y="2677127"/>
                  <a:pt x="274458" y="2636572"/>
                </a:cubicBezTo>
                <a:cubicBezTo>
                  <a:pt x="287792" y="2615986"/>
                  <a:pt x="275829" y="2626668"/>
                  <a:pt x="279157" y="2604260"/>
                </a:cubicBezTo>
                <a:cubicBezTo>
                  <a:pt x="279270" y="2587221"/>
                  <a:pt x="288019" y="2599786"/>
                  <a:pt x="288131" y="2582747"/>
                </a:cubicBezTo>
                <a:cubicBezTo>
                  <a:pt x="260352" y="2545890"/>
                  <a:pt x="290145" y="2525479"/>
                  <a:pt x="282516" y="2478755"/>
                </a:cubicBezTo>
                <a:lnTo>
                  <a:pt x="287359" y="2451804"/>
                </a:lnTo>
                <a:cubicBezTo>
                  <a:pt x="285426" y="2443087"/>
                  <a:pt x="285710" y="2414879"/>
                  <a:pt x="289577" y="2408801"/>
                </a:cubicBezTo>
                <a:cubicBezTo>
                  <a:pt x="290424" y="2402768"/>
                  <a:pt x="289064" y="2396183"/>
                  <a:pt x="293203" y="2392670"/>
                </a:cubicBezTo>
                <a:cubicBezTo>
                  <a:pt x="295637" y="2379564"/>
                  <a:pt x="301233" y="2349549"/>
                  <a:pt x="304183" y="2330165"/>
                </a:cubicBezTo>
                <a:cubicBezTo>
                  <a:pt x="298973" y="2319718"/>
                  <a:pt x="309550" y="2303314"/>
                  <a:pt x="310900" y="2276363"/>
                </a:cubicBezTo>
                <a:cubicBezTo>
                  <a:pt x="304874" y="2264930"/>
                  <a:pt x="311891" y="2258198"/>
                  <a:pt x="303909" y="2236310"/>
                </a:cubicBezTo>
                <a:cubicBezTo>
                  <a:pt x="304734" y="2235412"/>
                  <a:pt x="305502" y="2234293"/>
                  <a:pt x="306187" y="2232984"/>
                </a:cubicBezTo>
                <a:cubicBezTo>
                  <a:pt x="310170" y="2225381"/>
                  <a:pt x="310605" y="2213194"/>
                  <a:pt x="307158" y="2205763"/>
                </a:cubicBezTo>
                <a:cubicBezTo>
                  <a:pt x="296601" y="2170883"/>
                  <a:pt x="306474" y="2175442"/>
                  <a:pt x="304860" y="2145703"/>
                </a:cubicBezTo>
                <a:cubicBezTo>
                  <a:pt x="304314" y="2112090"/>
                  <a:pt x="314083" y="2134724"/>
                  <a:pt x="304273" y="2092533"/>
                </a:cubicBezTo>
                <a:cubicBezTo>
                  <a:pt x="308983" y="2088154"/>
                  <a:pt x="303590" y="2066396"/>
                  <a:pt x="301642" y="2057359"/>
                </a:cubicBezTo>
                <a:cubicBezTo>
                  <a:pt x="301720" y="2041038"/>
                  <a:pt x="313213" y="2032807"/>
                  <a:pt x="306736" y="2016105"/>
                </a:cubicBezTo>
                <a:cubicBezTo>
                  <a:pt x="312847" y="2019262"/>
                  <a:pt x="310007" y="1975377"/>
                  <a:pt x="316234" y="1983129"/>
                </a:cubicBezTo>
                <a:cubicBezTo>
                  <a:pt x="322177" y="1972692"/>
                  <a:pt x="313034" y="1967129"/>
                  <a:pt x="318238" y="1956745"/>
                </a:cubicBezTo>
                <a:cubicBezTo>
                  <a:pt x="319718" y="1944884"/>
                  <a:pt x="311423" y="1963350"/>
                  <a:pt x="311341" y="1950160"/>
                </a:cubicBezTo>
                <a:lnTo>
                  <a:pt x="323556" y="1879546"/>
                </a:lnTo>
                <a:cubicBezTo>
                  <a:pt x="320263" y="1869846"/>
                  <a:pt x="322312" y="1862247"/>
                  <a:pt x="326085" y="1854893"/>
                </a:cubicBezTo>
                <a:cubicBezTo>
                  <a:pt x="325955" y="1832625"/>
                  <a:pt x="332007" y="1812578"/>
                  <a:pt x="335058" y="1787684"/>
                </a:cubicBezTo>
                <a:cubicBezTo>
                  <a:pt x="331933" y="1760490"/>
                  <a:pt x="342400" y="1747069"/>
                  <a:pt x="345620" y="1720464"/>
                </a:cubicBezTo>
                <a:cubicBezTo>
                  <a:pt x="337355" y="1693643"/>
                  <a:pt x="360215" y="1703686"/>
                  <a:pt x="360760" y="1681196"/>
                </a:cubicBezTo>
                <a:cubicBezTo>
                  <a:pt x="353923" y="1644243"/>
                  <a:pt x="368449" y="1682451"/>
                  <a:pt x="368483" y="1625881"/>
                </a:cubicBezTo>
                <a:cubicBezTo>
                  <a:pt x="367181" y="1622619"/>
                  <a:pt x="369088" y="1615868"/>
                  <a:pt x="371077" y="1616704"/>
                </a:cubicBezTo>
                <a:cubicBezTo>
                  <a:pt x="371005" y="1604306"/>
                  <a:pt x="384453" y="1569256"/>
                  <a:pt x="383008" y="1551493"/>
                </a:cubicBezTo>
                <a:cubicBezTo>
                  <a:pt x="390598" y="1517303"/>
                  <a:pt x="381821" y="1500132"/>
                  <a:pt x="384834" y="1475233"/>
                </a:cubicBezTo>
                <a:cubicBezTo>
                  <a:pt x="393221" y="1446677"/>
                  <a:pt x="400498" y="1430031"/>
                  <a:pt x="418371" y="1380155"/>
                </a:cubicBezTo>
                <a:lnTo>
                  <a:pt x="469641" y="1210871"/>
                </a:lnTo>
                <a:cubicBezTo>
                  <a:pt x="507460" y="1148093"/>
                  <a:pt x="486915" y="1066841"/>
                  <a:pt x="489701" y="1028427"/>
                </a:cubicBezTo>
                <a:cubicBezTo>
                  <a:pt x="478454" y="1012506"/>
                  <a:pt x="490925" y="999600"/>
                  <a:pt x="486354" y="980383"/>
                </a:cubicBezTo>
                <a:cubicBezTo>
                  <a:pt x="483880" y="937629"/>
                  <a:pt x="471099" y="895192"/>
                  <a:pt x="479762" y="839699"/>
                </a:cubicBezTo>
                <a:cubicBezTo>
                  <a:pt x="444550" y="814685"/>
                  <a:pt x="465776" y="749644"/>
                  <a:pt x="445664" y="696545"/>
                </a:cubicBezTo>
                <a:cubicBezTo>
                  <a:pt x="441558" y="665722"/>
                  <a:pt x="459046" y="617297"/>
                  <a:pt x="440047" y="606615"/>
                </a:cubicBezTo>
                <a:cubicBezTo>
                  <a:pt x="451675" y="592509"/>
                  <a:pt x="432892" y="579307"/>
                  <a:pt x="431225" y="563889"/>
                </a:cubicBezTo>
                <a:cubicBezTo>
                  <a:pt x="438618" y="551582"/>
                  <a:pt x="432225" y="545475"/>
                  <a:pt x="430803" y="534294"/>
                </a:cubicBezTo>
                <a:cubicBezTo>
                  <a:pt x="435364" y="529230"/>
                  <a:pt x="435126" y="519767"/>
                  <a:pt x="429777" y="516548"/>
                </a:cubicBezTo>
                <a:cubicBezTo>
                  <a:pt x="417444" y="521116"/>
                  <a:pt x="423596" y="488251"/>
                  <a:pt x="415090" y="485808"/>
                </a:cubicBezTo>
                <a:cubicBezTo>
                  <a:pt x="413316" y="466733"/>
                  <a:pt x="424116" y="383903"/>
                  <a:pt x="410499" y="369873"/>
                </a:cubicBezTo>
                <a:cubicBezTo>
                  <a:pt x="404034" y="331308"/>
                  <a:pt x="425696" y="275570"/>
                  <a:pt x="425314" y="259180"/>
                </a:cubicBezTo>
                <a:cubicBezTo>
                  <a:pt x="450188" y="242918"/>
                  <a:pt x="384634" y="163766"/>
                  <a:pt x="383240" y="94173"/>
                </a:cubicBezTo>
                <a:cubicBezTo>
                  <a:pt x="385641" y="84795"/>
                  <a:pt x="385609" y="79782"/>
                  <a:pt x="379938" y="77267"/>
                </a:cubicBezTo>
                <a:cubicBezTo>
                  <a:pt x="378301" y="68220"/>
                  <a:pt x="376144" y="54774"/>
                  <a:pt x="373430" y="3885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p:cNvSpPr>
          <p:nvPr>
            <p:ph type="title"/>
          </p:nvPr>
        </p:nvSpPr>
        <p:spPr>
          <a:xfrm>
            <a:off x="3875314" y="0"/>
            <a:ext cx="5268686" cy="1643743"/>
          </a:xfrm>
        </p:spPr>
        <p:txBody>
          <a:bodyPr>
            <a:normAutofit/>
          </a:bodyPr>
          <a:lstStyle/>
          <a:p>
            <a:pPr>
              <a:lnSpc>
                <a:spcPct val="90000"/>
              </a:lnSpc>
            </a:pPr>
            <a:r>
              <a:rPr lang="en-IN" sz="3400" b="1" dirty="0">
                <a:latin typeface="Times New Roman" panose="02020603050405020304" pitchFamily="18" charset="0"/>
                <a:cs typeface="Times New Roman" panose="02020603050405020304" pitchFamily="18" charset="0"/>
              </a:rPr>
              <a:t>Clustering &amp; Anomaly Detection</a:t>
            </a:r>
          </a:p>
        </p:txBody>
      </p:sp>
      <p:pic>
        <p:nvPicPr>
          <p:cNvPr id="5" name="Picture 4">
            <a:extLst>
              <a:ext uri="{FF2B5EF4-FFF2-40B4-BE49-F238E27FC236}">
                <a16:creationId xmlns:a16="http://schemas.microsoft.com/office/drawing/2014/main" id="{654F05E2-AD74-896D-4995-0137BBA015E4}"/>
              </a:ext>
            </a:extLst>
          </p:cNvPr>
          <p:cNvPicPr>
            <a:picLocks noChangeAspect="1"/>
          </p:cNvPicPr>
          <p:nvPr/>
        </p:nvPicPr>
        <p:blipFill>
          <a:blip r:embed="rId2"/>
          <a:srcRect l="7936" t="35242" r="57778"/>
          <a:stretch>
            <a:fillRect/>
          </a:stretch>
        </p:blipFill>
        <p:spPr>
          <a:xfrm>
            <a:off x="0" y="1849027"/>
            <a:ext cx="3385049" cy="3408773"/>
          </a:xfrm>
          <a:prstGeom prst="rect">
            <a:avLst/>
          </a:prstGeom>
        </p:spPr>
      </p:pic>
      <p:sp>
        <p:nvSpPr>
          <p:cNvPr id="3" name="Content Placeholder 2"/>
          <p:cNvSpPr>
            <a:spLocks noGrp="1"/>
          </p:cNvSpPr>
          <p:nvPr>
            <p:ph idx="1"/>
          </p:nvPr>
        </p:nvSpPr>
        <p:spPr>
          <a:xfrm>
            <a:off x="3701144" y="1360714"/>
            <a:ext cx="5442856" cy="5497284"/>
          </a:xfrm>
        </p:spPr>
        <p:txBody>
          <a:bodyPr>
            <a:normAutofit/>
          </a:bodyPr>
          <a:lstStyle/>
          <a:p>
            <a:pPr algn="just">
              <a:lnSpc>
                <a:spcPct val="90000"/>
              </a:lnSpc>
            </a:pPr>
            <a:r>
              <a:rPr lang="en-US" sz="1700" dirty="0">
                <a:latin typeface="Times New Roman" panose="02020603050405020304" pitchFamily="18" charset="0"/>
                <a:cs typeface="Times New Roman" panose="02020603050405020304" pitchFamily="18" charset="0"/>
              </a:rPr>
              <a:t>K-Means clustering identified three business segments, although the low silhouette score (0.11) indicates weak separation between clusters.</a:t>
            </a:r>
          </a:p>
          <a:p>
            <a:pPr algn="just">
              <a:lnSpc>
                <a:spcPct val="90000"/>
              </a:lnSpc>
            </a:pPr>
            <a:r>
              <a:rPr lang="en-US" sz="1700" dirty="0">
                <a:latin typeface="Times New Roman" panose="02020603050405020304" pitchFamily="18" charset="0"/>
                <a:cs typeface="Times New Roman" panose="02020603050405020304" pitchFamily="18" charset="0"/>
              </a:rPr>
              <a:t>PCA visualization showed partial separation among clusters, while the silhouette score of 0.11 indicates relatively weak cluster boundaries.</a:t>
            </a:r>
          </a:p>
          <a:p>
            <a:pPr algn="just">
              <a:lnSpc>
                <a:spcPct val="90000"/>
              </a:lnSpc>
            </a:pPr>
            <a:r>
              <a:rPr lang="en-US" sz="1700" dirty="0">
                <a:latin typeface="Times New Roman" panose="02020603050405020304" pitchFamily="18" charset="0"/>
                <a:cs typeface="Times New Roman" panose="02020603050405020304" pitchFamily="18" charset="0"/>
              </a:rPr>
              <a:t>Cluster formation was primarily driven by </a:t>
            </a:r>
            <a:r>
              <a:rPr lang="en-US" sz="1700" b="1" dirty="0">
                <a:latin typeface="Times New Roman" panose="02020603050405020304" pitchFamily="18" charset="0"/>
                <a:cs typeface="Times New Roman" panose="02020603050405020304" pitchFamily="18" charset="0"/>
              </a:rPr>
              <a:t>employee count (15,000 records distribution skewed with high variance)</a:t>
            </a:r>
            <a:r>
              <a:rPr lang="en-US" sz="1700" dirty="0">
                <a:latin typeface="Times New Roman" panose="02020603050405020304" pitchFamily="18" charset="0"/>
                <a:cs typeface="Times New Roman" panose="02020603050405020304" pitchFamily="18" charset="0"/>
              </a:rPr>
              <a:t>, </a:t>
            </a:r>
            <a:r>
              <a:rPr lang="en-US" sz="1700" b="1" dirty="0">
                <a:latin typeface="Times New Roman" panose="02020603050405020304" pitchFamily="18" charset="0"/>
                <a:cs typeface="Times New Roman" panose="02020603050405020304" pitchFamily="18" charset="0"/>
              </a:rPr>
              <a:t>customer count (strong right-skew across firms)</a:t>
            </a:r>
            <a:r>
              <a:rPr lang="en-US" sz="1700" dirty="0">
                <a:latin typeface="Times New Roman" panose="02020603050405020304" pitchFamily="18" charset="0"/>
                <a:cs typeface="Times New Roman" panose="02020603050405020304" pitchFamily="18" charset="0"/>
              </a:rPr>
              <a:t>, and </a:t>
            </a:r>
            <a:r>
              <a:rPr lang="en-US" sz="1700" b="1" dirty="0" err="1">
                <a:latin typeface="Times New Roman" panose="02020603050405020304" pitchFamily="18" charset="0"/>
                <a:cs typeface="Times New Roman" panose="02020603050405020304" pitchFamily="18" charset="0"/>
              </a:rPr>
              <a:t>annual_revenue_million</a:t>
            </a:r>
            <a:r>
              <a:rPr lang="en-US" sz="1700" b="1" dirty="0">
                <a:latin typeface="Times New Roman" panose="02020603050405020304" pitchFamily="18" charset="0"/>
                <a:cs typeface="Times New Roman" panose="02020603050405020304" pitchFamily="18" charset="0"/>
              </a:rPr>
              <a:t> (high kurtosis with extreme upper tail values)</a:t>
            </a:r>
            <a:r>
              <a:rPr lang="en-US" sz="1700" dirty="0">
                <a:latin typeface="Times New Roman" panose="02020603050405020304" pitchFamily="18" charset="0"/>
                <a:cs typeface="Times New Roman" panose="02020603050405020304" pitchFamily="18" charset="0"/>
              </a:rPr>
              <a:t>. Companies in the top cluster typically showed higher revenue levels than mid-tier firms and employee bases exceeding </a:t>
            </a:r>
            <a:r>
              <a:rPr lang="en-US" sz="1700" b="1" dirty="0">
                <a:latin typeface="Times New Roman" panose="02020603050405020304" pitchFamily="18" charset="0"/>
                <a:cs typeface="Times New Roman" panose="02020603050405020304" pitchFamily="18" charset="0"/>
              </a:rPr>
              <a:t>10,000+ in large enterprises</a:t>
            </a:r>
            <a:r>
              <a:rPr lang="en-US" sz="1700" dirty="0">
                <a:latin typeface="Times New Roman" panose="02020603050405020304" pitchFamily="18" charset="0"/>
                <a:cs typeface="Times New Roman" panose="02020603050405020304" pitchFamily="18" charset="0"/>
              </a:rPr>
              <a:t>.</a:t>
            </a:r>
          </a:p>
          <a:p>
            <a:pPr algn="just">
              <a:lnSpc>
                <a:spcPct val="90000"/>
              </a:lnSpc>
            </a:pPr>
            <a:r>
              <a:rPr lang="en-US" sz="1700" dirty="0">
                <a:latin typeface="Times New Roman" panose="02020603050405020304" pitchFamily="18" charset="0"/>
                <a:cs typeface="Times New Roman" panose="02020603050405020304" pitchFamily="18" charset="0"/>
              </a:rPr>
              <a:t>These outliers represent genuine multinational corporations rather than data errors, contributing disproportionately to the overall market structure. In several cases, top firms accounted for </a:t>
            </a:r>
            <a:r>
              <a:rPr lang="en-US" sz="1700" b="1" dirty="0">
                <a:latin typeface="Times New Roman" panose="02020603050405020304" pitchFamily="18" charset="0"/>
                <a:cs typeface="Times New Roman" panose="02020603050405020304" pitchFamily="18" charset="0"/>
              </a:rPr>
              <a:t>a major share of total revenue concentration</a:t>
            </a:r>
            <a:r>
              <a:rPr lang="en-US" sz="1700" dirty="0">
                <a:latin typeface="Times New Roman" panose="02020603050405020304" pitchFamily="18" charset="0"/>
                <a:cs typeface="Times New Roman" panose="02020603050405020304" pitchFamily="18" charset="0"/>
              </a:rPr>
              <a:t>, confirming strong economic inequality and market dominance within the dataset</a:t>
            </a:r>
          </a:p>
          <a:p>
            <a:pPr>
              <a:lnSpc>
                <a:spcPct val="90000"/>
              </a:lnSpc>
            </a:pPr>
            <a:endParaRPr lang="en-US" sz="9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6897DEB4-4A88-4293-A935-9B25506C15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34">
            <a:extLst>
              <a:ext uri="{FF2B5EF4-FFF2-40B4-BE49-F238E27FC236}">
                <a16:creationId xmlns:a16="http://schemas.microsoft.com/office/drawing/2014/main" id="{FBE42BC3-6707-4CBF-9386-048B994A4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90414" y="0"/>
            <a:ext cx="5653586" cy="6858000"/>
          </a:xfrm>
          <a:custGeom>
            <a:avLst/>
            <a:gdLst>
              <a:gd name="connsiteX0" fmla="*/ 366246 w 7538114"/>
              <a:gd name="connsiteY0" fmla="*/ 0 h 6858000"/>
              <a:gd name="connsiteX1" fmla="*/ 2830292 w 7538114"/>
              <a:gd name="connsiteY1" fmla="*/ 0 h 6858000"/>
              <a:gd name="connsiteX2" fmla="*/ 3903260 w 7538114"/>
              <a:gd name="connsiteY2" fmla="*/ 0 h 6858000"/>
              <a:gd name="connsiteX3" fmla="*/ 4597266 w 7538114"/>
              <a:gd name="connsiteY3" fmla="*/ 0 h 6858000"/>
              <a:gd name="connsiteX4" fmla="*/ 7192370 w 7538114"/>
              <a:gd name="connsiteY4" fmla="*/ 0 h 6858000"/>
              <a:gd name="connsiteX5" fmla="*/ 7538114 w 7538114"/>
              <a:gd name="connsiteY5" fmla="*/ 0 h 6858000"/>
              <a:gd name="connsiteX6" fmla="*/ 7538114 w 7538114"/>
              <a:gd name="connsiteY6" fmla="*/ 6858000 h 6858000"/>
              <a:gd name="connsiteX7" fmla="*/ 7192370 w 7538114"/>
              <a:gd name="connsiteY7" fmla="*/ 6858000 h 6858000"/>
              <a:gd name="connsiteX8" fmla="*/ 4597266 w 7538114"/>
              <a:gd name="connsiteY8" fmla="*/ 6858000 h 6858000"/>
              <a:gd name="connsiteX9" fmla="*/ 3903260 w 7538114"/>
              <a:gd name="connsiteY9" fmla="*/ 6858000 h 6858000"/>
              <a:gd name="connsiteX10" fmla="*/ 2830292 w 7538114"/>
              <a:gd name="connsiteY10" fmla="*/ 6858000 h 6858000"/>
              <a:gd name="connsiteX11" fmla="*/ 170314 w 7538114"/>
              <a:gd name="connsiteY11" fmla="*/ 6858000 h 6858000"/>
              <a:gd name="connsiteX12" fmla="*/ 170341 w 7538114"/>
              <a:gd name="connsiteY12" fmla="*/ 6857759 h 6858000"/>
              <a:gd name="connsiteX13" fmla="*/ 173485 w 7538114"/>
              <a:gd name="connsiteY13" fmla="*/ 6852129 h 6858000"/>
              <a:gd name="connsiteX14" fmla="*/ 167544 w 7538114"/>
              <a:gd name="connsiteY14" fmla="*/ 6830335 h 6858000"/>
              <a:gd name="connsiteX15" fmla="*/ 163472 w 7538114"/>
              <a:gd name="connsiteY15" fmla="*/ 6796707 h 6858000"/>
              <a:gd name="connsiteX16" fmla="*/ 160535 w 7538114"/>
              <a:gd name="connsiteY16" fmla="*/ 6780725 h 6858000"/>
              <a:gd name="connsiteX17" fmla="*/ 162318 w 7538114"/>
              <a:gd name="connsiteY17" fmla="*/ 6767829 h 6858000"/>
              <a:gd name="connsiteX18" fmla="*/ 162771 w 7538114"/>
              <a:gd name="connsiteY18" fmla="*/ 6694444 h 6858000"/>
              <a:gd name="connsiteX19" fmla="*/ 165604 w 7538114"/>
              <a:gd name="connsiteY19" fmla="*/ 6677569 h 6858000"/>
              <a:gd name="connsiteX20" fmla="*/ 171255 w 7538114"/>
              <a:gd name="connsiteY20" fmla="*/ 6669571 h 6858000"/>
              <a:gd name="connsiteX21" fmla="*/ 169240 w 7538114"/>
              <a:gd name="connsiteY21" fmla="*/ 6663304 h 6858000"/>
              <a:gd name="connsiteX22" fmla="*/ 169039 w 7538114"/>
              <a:gd name="connsiteY22" fmla="*/ 6618916 h 6858000"/>
              <a:gd name="connsiteX23" fmla="*/ 168392 w 7538114"/>
              <a:gd name="connsiteY23" fmla="*/ 6589960 h 6858000"/>
              <a:gd name="connsiteX24" fmla="*/ 160636 w 7538114"/>
              <a:gd name="connsiteY24" fmla="*/ 6588200 h 6858000"/>
              <a:gd name="connsiteX25" fmla="*/ 157872 w 7538114"/>
              <a:gd name="connsiteY25" fmla="*/ 6562416 h 6858000"/>
              <a:gd name="connsiteX26" fmla="*/ 162851 w 7538114"/>
              <a:gd name="connsiteY26" fmla="*/ 6534939 h 6858000"/>
              <a:gd name="connsiteX27" fmla="*/ 162153 w 7538114"/>
              <a:gd name="connsiteY27" fmla="*/ 6502552 h 6858000"/>
              <a:gd name="connsiteX28" fmla="*/ 161821 w 7538114"/>
              <a:gd name="connsiteY28" fmla="*/ 6483172 h 6858000"/>
              <a:gd name="connsiteX29" fmla="*/ 154586 w 7538114"/>
              <a:gd name="connsiteY29" fmla="*/ 6432309 h 6858000"/>
              <a:gd name="connsiteX30" fmla="*/ 127078 w 7538114"/>
              <a:gd name="connsiteY30" fmla="*/ 6349783 h 6858000"/>
              <a:gd name="connsiteX31" fmla="*/ 123181 w 7538114"/>
              <a:gd name="connsiteY31" fmla="*/ 6323872 h 6858000"/>
              <a:gd name="connsiteX32" fmla="*/ 124767 w 7538114"/>
              <a:gd name="connsiteY32" fmla="*/ 6319343 h 6858000"/>
              <a:gd name="connsiteX33" fmla="*/ 108246 w 7538114"/>
              <a:gd name="connsiteY33" fmla="*/ 6190348 h 6858000"/>
              <a:gd name="connsiteX34" fmla="*/ 107279 w 7538114"/>
              <a:gd name="connsiteY34" fmla="*/ 6167269 h 6858000"/>
              <a:gd name="connsiteX35" fmla="*/ 107883 w 7538114"/>
              <a:gd name="connsiteY35" fmla="*/ 6149986 h 6858000"/>
              <a:gd name="connsiteX36" fmla="*/ 102380 w 7538114"/>
              <a:gd name="connsiteY36" fmla="*/ 6108622 h 6858000"/>
              <a:gd name="connsiteX37" fmla="*/ 90314 w 7538114"/>
              <a:gd name="connsiteY37" fmla="*/ 6041155 h 6858000"/>
              <a:gd name="connsiteX38" fmla="*/ 88409 w 7538114"/>
              <a:gd name="connsiteY38" fmla="*/ 6026587 h 6858000"/>
              <a:gd name="connsiteX39" fmla="*/ 89403 w 7538114"/>
              <a:gd name="connsiteY39" fmla="*/ 6013265 h 6858000"/>
              <a:gd name="connsiteX40" fmla="*/ 91927 w 7538114"/>
              <a:gd name="connsiteY40" fmla="*/ 6009478 h 6858000"/>
              <a:gd name="connsiteX41" fmla="*/ 91302 w 7538114"/>
              <a:gd name="connsiteY41" fmla="*/ 6001336 h 6858000"/>
              <a:gd name="connsiteX42" fmla="*/ 91687 w 7538114"/>
              <a:gd name="connsiteY42" fmla="*/ 5999003 h 6858000"/>
              <a:gd name="connsiteX43" fmla="*/ 93336 w 7538114"/>
              <a:gd name="connsiteY43" fmla="*/ 5985795 h 6858000"/>
              <a:gd name="connsiteX44" fmla="*/ 83190 w 7538114"/>
              <a:gd name="connsiteY44" fmla="*/ 5961758 h 6858000"/>
              <a:gd name="connsiteX45" fmla="*/ 81952 w 7538114"/>
              <a:gd name="connsiteY45" fmla="*/ 5928761 h 6858000"/>
              <a:gd name="connsiteX46" fmla="*/ 67420 w 7538114"/>
              <a:gd name="connsiteY46" fmla="*/ 5787247 h 6858000"/>
              <a:gd name="connsiteX47" fmla="*/ 50760 w 7538114"/>
              <a:gd name="connsiteY47" fmla="*/ 5710700 h 6858000"/>
              <a:gd name="connsiteX48" fmla="*/ 42956 w 7538114"/>
              <a:gd name="connsiteY48" fmla="*/ 5641754 h 6858000"/>
              <a:gd name="connsiteX49" fmla="*/ 29695 w 7538114"/>
              <a:gd name="connsiteY49" fmla="*/ 5602326 h 6858000"/>
              <a:gd name="connsiteX50" fmla="*/ 18841 w 7538114"/>
              <a:gd name="connsiteY50" fmla="*/ 5570885 h 6858000"/>
              <a:gd name="connsiteX51" fmla="*/ 9977 w 7538114"/>
              <a:gd name="connsiteY51" fmla="*/ 5543492 h 6858000"/>
              <a:gd name="connsiteX52" fmla="*/ 5255 w 7538114"/>
              <a:gd name="connsiteY52" fmla="*/ 5531024 h 6858000"/>
              <a:gd name="connsiteX53" fmla="*/ 5447 w 7538114"/>
              <a:gd name="connsiteY53" fmla="*/ 5527845 h 6858000"/>
              <a:gd name="connsiteX54" fmla="*/ 0 w 7538114"/>
              <a:gd name="connsiteY54" fmla="*/ 5507724 h 6858000"/>
              <a:gd name="connsiteX55" fmla="*/ 435 w 7538114"/>
              <a:gd name="connsiteY55" fmla="*/ 5507045 h 6858000"/>
              <a:gd name="connsiteX56" fmla="*/ 1128 w 7538114"/>
              <a:gd name="connsiteY56" fmla="*/ 5499619 h 6858000"/>
              <a:gd name="connsiteX57" fmla="*/ 1291 w 7538114"/>
              <a:gd name="connsiteY57" fmla="*/ 5486342 h 6858000"/>
              <a:gd name="connsiteX58" fmla="*/ 7976 w 7538114"/>
              <a:gd name="connsiteY58" fmla="*/ 5450755 h 6858000"/>
              <a:gd name="connsiteX59" fmla="*/ 2355 w 7538114"/>
              <a:gd name="connsiteY59" fmla="*/ 5429732 h 6858000"/>
              <a:gd name="connsiteX60" fmla="*/ 1499 w 7538114"/>
              <a:gd name="connsiteY60" fmla="*/ 5370432 h 6858000"/>
              <a:gd name="connsiteX61" fmla="*/ 11483 w 7538114"/>
              <a:gd name="connsiteY61" fmla="*/ 5308330 h 6858000"/>
              <a:gd name="connsiteX62" fmla="*/ 12793 w 7538114"/>
              <a:gd name="connsiteY62" fmla="*/ 5246026 h 6858000"/>
              <a:gd name="connsiteX63" fmla="*/ 12525 w 7538114"/>
              <a:gd name="connsiteY63" fmla="*/ 5223468 h 6858000"/>
              <a:gd name="connsiteX64" fmla="*/ 15322 w 7538114"/>
              <a:gd name="connsiteY64" fmla="*/ 5183258 h 6858000"/>
              <a:gd name="connsiteX65" fmla="*/ 18633 w 7538114"/>
              <a:gd name="connsiteY65" fmla="*/ 5164842 h 6858000"/>
              <a:gd name="connsiteX66" fmla="*/ 18428 w 7538114"/>
              <a:gd name="connsiteY66" fmla="*/ 5164034 h 6858000"/>
              <a:gd name="connsiteX67" fmla="*/ 19854 w 7538114"/>
              <a:gd name="connsiteY67" fmla="*/ 5162388 h 6858000"/>
              <a:gd name="connsiteX68" fmla="*/ 20514 w 7538114"/>
              <a:gd name="connsiteY68" fmla="*/ 5158981 h 6858000"/>
              <a:gd name="connsiteX69" fmla="*/ 20089 w 7538114"/>
              <a:gd name="connsiteY69" fmla="*/ 5149681 h 6858000"/>
              <a:gd name="connsiteX70" fmla="*/ 19561 w 7538114"/>
              <a:gd name="connsiteY70" fmla="*/ 5146183 h 6858000"/>
              <a:gd name="connsiteX71" fmla="*/ 19571 w 7538114"/>
              <a:gd name="connsiteY71" fmla="*/ 5141065 h 6858000"/>
              <a:gd name="connsiteX72" fmla="*/ 19690 w 7538114"/>
              <a:gd name="connsiteY72" fmla="*/ 5140937 h 6858000"/>
              <a:gd name="connsiteX73" fmla="*/ 19471 w 7538114"/>
              <a:gd name="connsiteY73" fmla="*/ 5136144 h 6858000"/>
              <a:gd name="connsiteX74" fmla="*/ 16918 w 7538114"/>
              <a:gd name="connsiteY74" fmla="*/ 5112689 h 6858000"/>
              <a:gd name="connsiteX75" fmla="*/ 28071 w 7538114"/>
              <a:gd name="connsiteY75" fmla="*/ 5081696 h 6858000"/>
              <a:gd name="connsiteX76" fmla="*/ 30005 w 7538114"/>
              <a:gd name="connsiteY76" fmla="*/ 5068879 h 6858000"/>
              <a:gd name="connsiteX77" fmla="*/ 31661 w 7538114"/>
              <a:gd name="connsiteY77" fmla="*/ 5062033 h 6858000"/>
              <a:gd name="connsiteX78" fmla="*/ 32169 w 7538114"/>
              <a:gd name="connsiteY78" fmla="*/ 5061608 h 6858000"/>
              <a:gd name="connsiteX79" fmla="*/ 27436 w 7538114"/>
              <a:gd name="connsiteY79" fmla="*/ 5021480 h 6858000"/>
              <a:gd name="connsiteX80" fmla="*/ 26614 w 7538114"/>
              <a:gd name="connsiteY80" fmla="*/ 5013906 h 6858000"/>
              <a:gd name="connsiteX81" fmla="*/ 25056 w 7538114"/>
              <a:gd name="connsiteY81" fmla="*/ 5011767 h 6858000"/>
              <a:gd name="connsiteX82" fmla="*/ 24513 w 7538114"/>
              <a:gd name="connsiteY82" fmla="*/ 5000592 h 6858000"/>
              <a:gd name="connsiteX83" fmla="*/ 24951 w 7538114"/>
              <a:gd name="connsiteY83" fmla="*/ 4999307 h 6858000"/>
              <a:gd name="connsiteX84" fmla="*/ 22644 w 7538114"/>
              <a:gd name="connsiteY84" fmla="*/ 4990090 h 6858000"/>
              <a:gd name="connsiteX85" fmla="*/ 18465 w 7538114"/>
              <a:gd name="connsiteY85" fmla="*/ 4982366 h 6858000"/>
              <a:gd name="connsiteX86" fmla="*/ 20888 w 7538114"/>
              <a:gd name="connsiteY86" fmla="*/ 4887310 h 6858000"/>
              <a:gd name="connsiteX87" fmla="*/ 15781 w 7538114"/>
              <a:gd name="connsiteY87" fmla="*/ 4807298 h 6858000"/>
              <a:gd name="connsiteX88" fmla="*/ 19649 w 7538114"/>
              <a:gd name="connsiteY88" fmla="*/ 4779990 h 6858000"/>
              <a:gd name="connsiteX89" fmla="*/ 21858 w 7538114"/>
              <a:gd name="connsiteY89" fmla="*/ 4664237 h 6858000"/>
              <a:gd name="connsiteX90" fmla="*/ 13583 w 7538114"/>
              <a:gd name="connsiteY90" fmla="*/ 4598607 h 6858000"/>
              <a:gd name="connsiteX91" fmla="*/ 7118 w 7538114"/>
              <a:gd name="connsiteY91" fmla="*/ 4546768 h 6858000"/>
              <a:gd name="connsiteX92" fmla="*/ 14555 w 7538114"/>
              <a:gd name="connsiteY92" fmla="*/ 4522182 h 6858000"/>
              <a:gd name="connsiteX93" fmla="*/ 17290 w 7538114"/>
              <a:gd name="connsiteY93" fmla="*/ 4509768 h 6858000"/>
              <a:gd name="connsiteX94" fmla="*/ 17421 w 7538114"/>
              <a:gd name="connsiteY94" fmla="*/ 4494586 h 6858000"/>
              <a:gd name="connsiteX95" fmla="*/ 18193 w 7538114"/>
              <a:gd name="connsiteY95" fmla="*/ 4440649 h 6858000"/>
              <a:gd name="connsiteX96" fmla="*/ 16616 w 7538114"/>
              <a:gd name="connsiteY96" fmla="*/ 4431853 h 6858000"/>
              <a:gd name="connsiteX97" fmla="*/ 19246 w 7538114"/>
              <a:gd name="connsiteY97" fmla="*/ 4403141 h 6858000"/>
              <a:gd name="connsiteX98" fmla="*/ 19623 w 7538114"/>
              <a:gd name="connsiteY98" fmla="*/ 4356631 h 6858000"/>
              <a:gd name="connsiteX99" fmla="*/ 20293 w 7538114"/>
              <a:gd name="connsiteY99" fmla="*/ 4339937 h 6858000"/>
              <a:gd name="connsiteX100" fmla="*/ 18752 w 7538114"/>
              <a:gd name="connsiteY100" fmla="*/ 4331435 h 6858000"/>
              <a:gd name="connsiteX101" fmla="*/ 24901 w 7538114"/>
              <a:gd name="connsiteY101" fmla="*/ 4320990 h 6858000"/>
              <a:gd name="connsiteX102" fmla="*/ 23734 w 7538114"/>
              <a:gd name="connsiteY102" fmla="*/ 4309111 h 6858000"/>
              <a:gd name="connsiteX103" fmla="*/ 29040 w 7538114"/>
              <a:gd name="connsiteY103" fmla="*/ 4263489 h 6858000"/>
              <a:gd name="connsiteX104" fmla="*/ 29429 w 7538114"/>
              <a:gd name="connsiteY104" fmla="*/ 4258775 h 6858000"/>
              <a:gd name="connsiteX105" fmla="*/ 33702 w 7538114"/>
              <a:gd name="connsiteY105" fmla="*/ 4248512 h 6858000"/>
              <a:gd name="connsiteX106" fmla="*/ 37356 w 7538114"/>
              <a:gd name="connsiteY106" fmla="*/ 4228644 h 6858000"/>
              <a:gd name="connsiteX107" fmla="*/ 50107 w 7538114"/>
              <a:gd name="connsiteY107" fmla="*/ 4193665 h 6858000"/>
              <a:gd name="connsiteX108" fmla="*/ 56192 w 7538114"/>
              <a:gd name="connsiteY108" fmla="*/ 4173105 h 6858000"/>
              <a:gd name="connsiteX109" fmla="*/ 61800 w 7538114"/>
              <a:gd name="connsiteY109" fmla="*/ 4159194 h 6858000"/>
              <a:gd name="connsiteX110" fmla="*/ 69720 w 7538114"/>
              <a:gd name="connsiteY110" fmla="*/ 4118135 h 6858000"/>
              <a:gd name="connsiteX111" fmla="*/ 80190 w 7538114"/>
              <a:gd name="connsiteY111" fmla="*/ 4047713 h 6858000"/>
              <a:gd name="connsiteX112" fmla="*/ 96666 w 7538114"/>
              <a:gd name="connsiteY112" fmla="*/ 3980780 h 6858000"/>
              <a:gd name="connsiteX113" fmla="*/ 107651 w 7538114"/>
              <a:gd name="connsiteY113" fmla="*/ 3941872 h 6858000"/>
              <a:gd name="connsiteX114" fmla="*/ 118444 w 7538114"/>
              <a:gd name="connsiteY114" fmla="*/ 3897465 h 6858000"/>
              <a:gd name="connsiteX115" fmla="*/ 134545 w 7538114"/>
              <a:gd name="connsiteY115" fmla="*/ 3811132 h 6858000"/>
              <a:gd name="connsiteX116" fmla="*/ 145381 w 7538114"/>
              <a:gd name="connsiteY116" fmla="*/ 3746540 h 6858000"/>
              <a:gd name="connsiteX117" fmla="*/ 146587 w 7538114"/>
              <a:gd name="connsiteY117" fmla="*/ 3670275 h 6858000"/>
              <a:gd name="connsiteX118" fmla="*/ 165690 w 7538114"/>
              <a:gd name="connsiteY118" fmla="*/ 3580981 h 6858000"/>
              <a:gd name="connsiteX119" fmla="*/ 163175 w 7538114"/>
              <a:gd name="connsiteY119" fmla="*/ 3570960 h 6858000"/>
              <a:gd name="connsiteX120" fmla="*/ 162665 w 7538114"/>
              <a:gd name="connsiteY120" fmla="*/ 3560693 h 6858000"/>
              <a:gd name="connsiteX121" fmla="*/ 163299 w 7538114"/>
              <a:gd name="connsiteY121" fmla="*/ 3559743 h 6858000"/>
              <a:gd name="connsiteX122" fmla="*/ 164777 w 7538114"/>
              <a:gd name="connsiteY122" fmla="*/ 3548721 h 6858000"/>
              <a:gd name="connsiteX123" fmla="*/ 163708 w 7538114"/>
              <a:gd name="connsiteY123" fmla="*/ 3545693 h 6858000"/>
              <a:gd name="connsiteX124" fmla="*/ 164286 w 7538114"/>
              <a:gd name="connsiteY124" fmla="*/ 3537938 h 6858000"/>
              <a:gd name="connsiteX125" fmla="*/ 164247 w 7538114"/>
              <a:gd name="connsiteY125" fmla="*/ 3522141 h 6858000"/>
              <a:gd name="connsiteX126" fmla="*/ 165343 w 7538114"/>
              <a:gd name="connsiteY126" fmla="*/ 3519672 h 6858000"/>
              <a:gd name="connsiteX127" fmla="*/ 167001 w 7538114"/>
              <a:gd name="connsiteY127" fmla="*/ 3496604 h 6858000"/>
              <a:gd name="connsiteX128" fmla="*/ 167547 w 7538114"/>
              <a:gd name="connsiteY128" fmla="*/ 3496517 h 6858000"/>
              <a:gd name="connsiteX129" fmla="*/ 170301 w 7538114"/>
              <a:gd name="connsiteY129" fmla="*/ 3491023 h 6858000"/>
              <a:gd name="connsiteX130" fmla="*/ 174371 w 7538114"/>
              <a:gd name="connsiteY130" fmla="*/ 3479998 h 6858000"/>
              <a:gd name="connsiteX131" fmla="*/ 190228 w 7538114"/>
              <a:gd name="connsiteY131" fmla="*/ 3457434 h 6858000"/>
              <a:gd name="connsiteX132" fmla="*/ 192016 w 7538114"/>
              <a:gd name="connsiteY132" fmla="*/ 3433411 h 6858000"/>
              <a:gd name="connsiteX133" fmla="*/ 192663 w 7538114"/>
              <a:gd name="connsiteY133" fmla="*/ 3428691 h 6858000"/>
              <a:gd name="connsiteX134" fmla="*/ 192793 w 7538114"/>
              <a:gd name="connsiteY134" fmla="*/ 3428643 h 6858000"/>
              <a:gd name="connsiteX135" fmla="*/ 193710 w 7538114"/>
              <a:gd name="connsiteY135" fmla="*/ 3423760 h 6858000"/>
              <a:gd name="connsiteX136" fmla="*/ 193839 w 7538114"/>
              <a:gd name="connsiteY136" fmla="*/ 3420085 h 6858000"/>
              <a:gd name="connsiteX137" fmla="*/ 195094 w 7538114"/>
              <a:gd name="connsiteY137" fmla="*/ 3410930 h 6858000"/>
              <a:gd name="connsiteX138" fmla="*/ 196311 w 7538114"/>
              <a:gd name="connsiteY138" fmla="*/ 3408092 h 6858000"/>
              <a:gd name="connsiteX139" fmla="*/ 197928 w 7538114"/>
              <a:gd name="connsiteY139" fmla="*/ 3407419 h 6858000"/>
              <a:gd name="connsiteX140" fmla="*/ 197881 w 7538114"/>
              <a:gd name="connsiteY140" fmla="*/ 3406520 h 6858000"/>
              <a:gd name="connsiteX141" fmla="*/ 204222 w 7538114"/>
              <a:gd name="connsiteY141" fmla="*/ 3391015 h 6858000"/>
              <a:gd name="connsiteX142" fmla="*/ 213950 w 7538114"/>
              <a:gd name="connsiteY142" fmla="*/ 3354361 h 6858000"/>
              <a:gd name="connsiteX143" fmla="*/ 217699 w 7538114"/>
              <a:gd name="connsiteY143" fmla="*/ 3332639 h 6858000"/>
              <a:gd name="connsiteX144" fmla="*/ 229963 w 7538114"/>
              <a:gd name="connsiteY144" fmla="*/ 3273935 h 6858000"/>
              <a:gd name="connsiteX145" fmla="*/ 243785 w 7538114"/>
              <a:gd name="connsiteY145" fmla="*/ 3215621 h 6858000"/>
              <a:gd name="connsiteX146" fmla="*/ 259175 w 7538114"/>
              <a:gd name="connsiteY146" fmla="*/ 3189909 h 6858000"/>
              <a:gd name="connsiteX147" fmla="*/ 259988 w 7538114"/>
              <a:gd name="connsiteY147" fmla="*/ 3186579 h 6858000"/>
              <a:gd name="connsiteX148" fmla="*/ 259980 w 7538114"/>
              <a:gd name="connsiteY148" fmla="*/ 3177264 h 6858000"/>
              <a:gd name="connsiteX149" fmla="*/ 259609 w 7538114"/>
              <a:gd name="connsiteY149" fmla="*/ 3173723 h 6858000"/>
              <a:gd name="connsiteX150" fmla="*/ 259848 w 7538114"/>
              <a:gd name="connsiteY150" fmla="*/ 3168622 h 6858000"/>
              <a:gd name="connsiteX151" fmla="*/ 259971 w 7538114"/>
              <a:gd name="connsiteY151" fmla="*/ 3168508 h 6858000"/>
              <a:gd name="connsiteX152" fmla="*/ 259966 w 7538114"/>
              <a:gd name="connsiteY152" fmla="*/ 3163706 h 6858000"/>
              <a:gd name="connsiteX153" fmla="*/ 258467 w 7538114"/>
              <a:gd name="connsiteY153" fmla="*/ 3140064 h 6858000"/>
              <a:gd name="connsiteX154" fmla="*/ 270990 w 7538114"/>
              <a:gd name="connsiteY154" fmla="*/ 3110288 h 6858000"/>
              <a:gd name="connsiteX155" fmla="*/ 273494 w 7538114"/>
              <a:gd name="connsiteY155" fmla="*/ 3097704 h 6858000"/>
              <a:gd name="connsiteX156" fmla="*/ 275456 w 7538114"/>
              <a:gd name="connsiteY156" fmla="*/ 3091047 h 6858000"/>
              <a:gd name="connsiteX157" fmla="*/ 275980 w 7538114"/>
              <a:gd name="connsiteY157" fmla="*/ 3090672 h 6858000"/>
              <a:gd name="connsiteX158" fmla="*/ 274486 w 7538114"/>
              <a:gd name="connsiteY158" fmla="*/ 3068004 h 6858000"/>
              <a:gd name="connsiteX159" fmla="*/ 275226 w 7538114"/>
              <a:gd name="connsiteY159" fmla="*/ 3065087 h 6858000"/>
              <a:gd name="connsiteX160" fmla="*/ 273050 w 7538114"/>
              <a:gd name="connsiteY160" fmla="*/ 3050191 h 6858000"/>
              <a:gd name="connsiteX161" fmla="*/ 272566 w 7538114"/>
              <a:gd name="connsiteY161" fmla="*/ 3042559 h 6858000"/>
              <a:gd name="connsiteX162" fmla="*/ 271107 w 7538114"/>
              <a:gd name="connsiteY162" fmla="*/ 3040271 h 6858000"/>
              <a:gd name="connsiteX163" fmla="*/ 271065 w 7538114"/>
              <a:gd name="connsiteY163" fmla="*/ 3029072 h 6858000"/>
              <a:gd name="connsiteX164" fmla="*/ 271558 w 7538114"/>
              <a:gd name="connsiteY164" fmla="*/ 3027835 h 6858000"/>
              <a:gd name="connsiteX165" fmla="*/ 268717 w 7538114"/>
              <a:gd name="connsiteY165" fmla="*/ 2964245 h 6858000"/>
              <a:gd name="connsiteX166" fmla="*/ 272511 w 7538114"/>
              <a:gd name="connsiteY166" fmla="*/ 2915772 h 6858000"/>
              <a:gd name="connsiteX167" fmla="*/ 270356 w 7538114"/>
              <a:gd name="connsiteY167" fmla="*/ 2825842 h 6858000"/>
              <a:gd name="connsiteX168" fmla="*/ 273897 w 7538114"/>
              <a:gd name="connsiteY168" fmla="*/ 2734957 h 6858000"/>
              <a:gd name="connsiteX169" fmla="*/ 274458 w 7538114"/>
              <a:gd name="connsiteY169" fmla="*/ 2636572 h 6858000"/>
              <a:gd name="connsiteX170" fmla="*/ 279157 w 7538114"/>
              <a:gd name="connsiteY170" fmla="*/ 2604260 h 6858000"/>
              <a:gd name="connsiteX171" fmla="*/ 288131 w 7538114"/>
              <a:gd name="connsiteY171" fmla="*/ 2582747 h 6858000"/>
              <a:gd name="connsiteX172" fmla="*/ 282516 w 7538114"/>
              <a:gd name="connsiteY172" fmla="*/ 2478755 h 6858000"/>
              <a:gd name="connsiteX173" fmla="*/ 287359 w 7538114"/>
              <a:gd name="connsiteY173" fmla="*/ 2451804 h 6858000"/>
              <a:gd name="connsiteX174" fmla="*/ 289577 w 7538114"/>
              <a:gd name="connsiteY174" fmla="*/ 2408801 h 6858000"/>
              <a:gd name="connsiteX175" fmla="*/ 293203 w 7538114"/>
              <a:gd name="connsiteY175" fmla="*/ 2392670 h 6858000"/>
              <a:gd name="connsiteX176" fmla="*/ 304183 w 7538114"/>
              <a:gd name="connsiteY176" fmla="*/ 2330165 h 6858000"/>
              <a:gd name="connsiteX177" fmla="*/ 310900 w 7538114"/>
              <a:gd name="connsiteY177" fmla="*/ 2276363 h 6858000"/>
              <a:gd name="connsiteX178" fmla="*/ 303909 w 7538114"/>
              <a:gd name="connsiteY178" fmla="*/ 2236310 h 6858000"/>
              <a:gd name="connsiteX179" fmla="*/ 306187 w 7538114"/>
              <a:gd name="connsiteY179" fmla="*/ 2232984 h 6858000"/>
              <a:gd name="connsiteX180" fmla="*/ 307158 w 7538114"/>
              <a:gd name="connsiteY180" fmla="*/ 2205763 h 6858000"/>
              <a:gd name="connsiteX181" fmla="*/ 304860 w 7538114"/>
              <a:gd name="connsiteY181" fmla="*/ 2145703 h 6858000"/>
              <a:gd name="connsiteX182" fmla="*/ 304273 w 7538114"/>
              <a:gd name="connsiteY182" fmla="*/ 2092533 h 6858000"/>
              <a:gd name="connsiteX183" fmla="*/ 301642 w 7538114"/>
              <a:gd name="connsiteY183" fmla="*/ 2057359 h 6858000"/>
              <a:gd name="connsiteX184" fmla="*/ 306736 w 7538114"/>
              <a:gd name="connsiteY184" fmla="*/ 2016105 h 6858000"/>
              <a:gd name="connsiteX185" fmla="*/ 316234 w 7538114"/>
              <a:gd name="connsiteY185" fmla="*/ 1983129 h 6858000"/>
              <a:gd name="connsiteX186" fmla="*/ 318238 w 7538114"/>
              <a:gd name="connsiteY186" fmla="*/ 1956745 h 6858000"/>
              <a:gd name="connsiteX187" fmla="*/ 311341 w 7538114"/>
              <a:gd name="connsiteY187" fmla="*/ 1950160 h 6858000"/>
              <a:gd name="connsiteX188" fmla="*/ 323556 w 7538114"/>
              <a:gd name="connsiteY188" fmla="*/ 1879546 h 6858000"/>
              <a:gd name="connsiteX189" fmla="*/ 326085 w 7538114"/>
              <a:gd name="connsiteY189" fmla="*/ 1854893 h 6858000"/>
              <a:gd name="connsiteX190" fmla="*/ 335058 w 7538114"/>
              <a:gd name="connsiteY190" fmla="*/ 1787684 h 6858000"/>
              <a:gd name="connsiteX191" fmla="*/ 345620 w 7538114"/>
              <a:gd name="connsiteY191" fmla="*/ 1720464 h 6858000"/>
              <a:gd name="connsiteX192" fmla="*/ 360760 w 7538114"/>
              <a:gd name="connsiteY192" fmla="*/ 1681196 h 6858000"/>
              <a:gd name="connsiteX193" fmla="*/ 368483 w 7538114"/>
              <a:gd name="connsiteY193" fmla="*/ 1625881 h 6858000"/>
              <a:gd name="connsiteX194" fmla="*/ 371077 w 7538114"/>
              <a:gd name="connsiteY194" fmla="*/ 1616704 h 6858000"/>
              <a:gd name="connsiteX195" fmla="*/ 383008 w 7538114"/>
              <a:gd name="connsiteY195" fmla="*/ 1551493 h 6858000"/>
              <a:gd name="connsiteX196" fmla="*/ 384834 w 7538114"/>
              <a:gd name="connsiteY196" fmla="*/ 1475233 h 6858000"/>
              <a:gd name="connsiteX197" fmla="*/ 418371 w 7538114"/>
              <a:gd name="connsiteY197" fmla="*/ 1380155 h 6858000"/>
              <a:gd name="connsiteX198" fmla="*/ 469641 w 7538114"/>
              <a:gd name="connsiteY198" fmla="*/ 1210871 h 6858000"/>
              <a:gd name="connsiteX199" fmla="*/ 489701 w 7538114"/>
              <a:gd name="connsiteY199" fmla="*/ 1028427 h 6858000"/>
              <a:gd name="connsiteX200" fmla="*/ 486354 w 7538114"/>
              <a:gd name="connsiteY200" fmla="*/ 980383 h 6858000"/>
              <a:gd name="connsiteX201" fmla="*/ 479762 w 7538114"/>
              <a:gd name="connsiteY201" fmla="*/ 839699 h 6858000"/>
              <a:gd name="connsiteX202" fmla="*/ 445664 w 7538114"/>
              <a:gd name="connsiteY202" fmla="*/ 696545 h 6858000"/>
              <a:gd name="connsiteX203" fmla="*/ 440047 w 7538114"/>
              <a:gd name="connsiteY203" fmla="*/ 606615 h 6858000"/>
              <a:gd name="connsiteX204" fmla="*/ 431225 w 7538114"/>
              <a:gd name="connsiteY204" fmla="*/ 563889 h 6858000"/>
              <a:gd name="connsiteX205" fmla="*/ 430803 w 7538114"/>
              <a:gd name="connsiteY205" fmla="*/ 534294 h 6858000"/>
              <a:gd name="connsiteX206" fmla="*/ 429777 w 7538114"/>
              <a:gd name="connsiteY206" fmla="*/ 516548 h 6858000"/>
              <a:gd name="connsiteX207" fmla="*/ 415090 w 7538114"/>
              <a:gd name="connsiteY207" fmla="*/ 485808 h 6858000"/>
              <a:gd name="connsiteX208" fmla="*/ 410499 w 7538114"/>
              <a:gd name="connsiteY208" fmla="*/ 369873 h 6858000"/>
              <a:gd name="connsiteX209" fmla="*/ 425314 w 7538114"/>
              <a:gd name="connsiteY209" fmla="*/ 259180 h 6858000"/>
              <a:gd name="connsiteX210" fmla="*/ 383240 w 7538114"/>
              <a:gd name="connsiteY210" fmla="*/ 94173 h 6858000"/>
              <a:gd name="connsiteX211" fmla="*/ 379938 w 7538114"/>
              <a:gd name="connsiteY211" fmla="*/ 77267 h 6858000"/>
              <a:gd name="connsiteX212" fmla="*/ 373430 w 7538114"/>
              <a:gd name="connsiteY212" fmla="*/ 3885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7538114" h="6858000">
                <a:moveTo>
                  <a:pt x="366246" y="0"/>
                </a:moveTo>
                <a:lnTo>
                  <a:pt x="2830292" y="0"/>
                </a:lnTo>
                <a:lnTo>
                  <a:pt x="3903260" y="0"/>
                </a:lnTo>
                <a:lnTo>
                  <a:pt x="4597266" y="0"/>
                </a:lnTo>
                <a:lnTo>
                  <a:pt x="7192370" y="0"/>
                </a:lnTo>
                <a:lnTo>
                  <a:pt x="7538114" y="0"/>
                </a:lnTo>
                <a:lnTo>
                  <a:pt x="7538114" y="6858000"/>
                </a:lnTo>
                <a:lnTo>
                  <a:pt x="7192370" y="6858000"/>
                </a:lnTo>
                <a:lnTo>
                  <a:pt x="4597266" y="6858000"/>
                </a:lnTo>
                <a:lnTo>
                  <a:pt x="3903260" y="6858000"/>
                </a:lnTo>
                <a:lnTo>
                  <a:pt x="2830292" y="6858000"/>
                </a:lnTo>
                <a:lnTo>
                  <a:pt x="170314" y="6858000"/>
                </a:lnTo>
                <a:cubicBezTo>
                  <a:pt x="170323" y="6857920"/>
                  <a:pt x="170332" y="6857839"/>
                  <a:pt x="170341" y="6857759"/>
                </a:cubicBezTo>
                <a:lnTo>
                  <a:pt x="173485" y="6852129"/>
                </a:lnTo>
                <a:lnTo>
                  <a:pt x="167544" y="6830335"/>
                </a:lnTo>
                <a:cubicBezTo>
                  <a:pt x="165474" y="6819600"/>
                  <a:pt x="164100" y="6808301"/>
                  <a:pt x="163472" y="6796707"/>
                </a:cubicBezTo>
                <a:cubicBezTo>
                  <a:pt x="167658" y="6794106"/>
                  <a:pt x="161711" y="6785006"/>
                  <a:pt x="160535" y="6780725"/>
                </a:cubicBezTo>
                <a:cubicBezTo>
                  <a:pt x="163268" y="6780680"/>
                  <a:pt x="164578" y="6771195"/>
                  <a:pt x="162318" y="6767829"/>
                </a:cubicBezTo>
                <a:cubicBezTo>
                  <a:pt x="152545" y="6697090"/>
                  <a:pt x="178083" y="6736894"/>
                  <a:pt x="162771" y="6694444"/>
                </a:cubicBezTo>
                <a:cubicBezTo>
                  <a:pt x="161971" y="6687342"/>
                  <a:pt x="163342" y="6682014"/>
                  <a:pt x="165604" y="6677569"/>
                </a:cubicBezTo>
                <a:lnTo>
                  <a:pt x="171255" y="6669571"/>
                </a:lnTo>
                <a:lnTo>
                  <a:pt x="169240" y="6663304"/>
                </a:lnTo>
                <a:cubicBezTo>
                  <a:pt x="169082" y="6639651"/>
                  <a:pt x="174873" y="6632678"/>
                  <a:pt x="169039" y="6618916"/>
                </a:cubicBezTo>
                <a:cubicBezTo>
                  <a:pt x="181164" y="6598580"/>
                  <a:pt x="170248" y="6605428"/>
                  <a:pt x="168392" y="6589960"/>
                </a:cubicBezTo>
                <a:cubicBezTo>
                  <a:pt x="165975" y="6577758"/>
                  <a:pt x="161323" y="6600160"/>
                  <a:pt x="160636" y="6588200"/>
                </a:cubicBezTo>
                <a:cubicBezTo>
                  <a:pt x="163766" y="6575263"/>
                  <a:pt x="154044" y="6575871"/>
                  <a:pt x="157872" y="6562416"/>
                </a:cubicBezTo>
                <a:cubicBezTo>
                  <a:pt x="165196" y="6565685"/>
                  <a:pt x="156453" y="6535866"/>
                  <a:pt x="162851" y="6534939"/>
                </a:cubicBezTo>
                <a:cubicBezTo>
                  <a:pt x="153702" y="6523511"/>
                  <a:pt x="164973" y="6517769"/>
                  <a:pt x="162153" y="6502552"/>
                </a:cubicBezTo>
                <a:cubicBezTo>
                  <a:pt x="158692" y="6495386"/>
                  <a:pt x="158098" y="6490216"/>
                  <a:pt x="161821" y="6483172"/>
                </a:cubicBezTo>
                <a:cubicBezTo>
                  <a:pt x="144969" y="6450162"/>
                  <a:pt x="161066" y="6463202"/>
                  <a:pt x="154586" y="6432309"/>
                </a:cubicBezTo>
                <a:cubicBezTo>
                  <a:pt x="147771" y="6405695"/>
                  <a:pt x="143349" y="6375524"/>
                  <a:pt x="127078" y="6349783"/>
                </a:cubicBezTo>
                <a:cubicBezTo>
                  <a:pt x="122468" y="6345058"/>
                  <a:pt x="120723" y="6333456"/>
                  <a:pt x="123181" y="6323872"/>
                </a:cubicBezTo>
                <a:cubicBezTo>
                  <a:pt x="123604" y="6322225"/>
                  <a:pt x="124138" y="6320698"/>
                  <a:pt x="124767" y="6319343"/>
                </a:cubicBezTo>
                <a:cubicBezTo>
                  <a:pt x="122278" y="6297089"/>
                  <a:pt x="111161" y="6215694"/>
                  <a:pt x="108246" y="6190348"/>
                </a:cubicBezTo>
                <a:cubicBezTo>
                  <a:pt x="114169" y="6188296"/>
                  <a:pt x="103482" y="6175479"/>
                  <a:pt x="107279" y="6167269"/>
                </a:cubicBezTo>
                <a:cubicBezTo>
                  <a:pt x="110610" y="6161389"/>
                  <a:pt x="108145" y="6156128"/>
                  <a:pt x="107883" y="6149986"/>
                </a:cubicBezTo>
                <a:cubicBezTo>
                  <a:pt x="110502" y="6141894"/>
                  <a:pt x="105773" y="6115502"/>
                  <a:pt x="102380" y="6108622"/>
                </a:cubicBezTo>
                <a:cubicBezTo>
                  <a:pt x="90593" y="6092179"/>
                  <a:pt x="99346" y="6054816"/>
                  <a:pt x="90314" y="6041155"/>
                </a:cubicBezTo>
                <a:cubicBezTo>
                  <a:pt x="88990" y="6036198"/>
                  <a:pt x="88454" y="6031348"/>
                  <a:pt x="88409" y="6026587"/>
                </a:cubicBezTo>
                <a:lnTo>
                  <a:pt x="89403" y="6013265"/>
                </a:lnTo>
                <a:lnTo>
                  <a:pt x="91927" y="6009478"/>
                </a:lnTo>
                <a:lnTo>
                  <a:pt x="91302" y="6001336"/>
                </a:lnTo>
                <a:cubicBezTo>
                  <a:pt x="91431" y="6000558"/>
                  <a:pt x="91559" y="5999781"/>
                  <a:pt x="91687" y="5999003"/>
                </a:cubicBezTo>
                <a:cubicBezTo>
                  <a:pt x="92431" y="5994547"/>
                  <a:pt x="93080" y="5990148"/>
                  <a:pt x="93336" y="5985795"/>
                </a:cubicBezTo>
                <a:cubicBezTo>
                  <a:pt x="80676" y="5991520"/>
                  <a:pt x="93430" y="5949705"/>
                  <a:pt x="83190" y="5961758"/>
                </a:cubicBezTo>
                <a:cubicBezTo>
                  <a:pt x="82399" y="5938832"/>
                  <a:pt x="72862" y="5956319"/>
                  <a:pt x="81952" y="5928761"/>
                </a:cubicBezTo>
                <a:cubicBezTo>
                  <a:pt x="79324" y="5899676"/>
                  <a:pt x="72619" y="5823590"/>
                  <a:pt x="67420" y="5787247"/>
                </a:cubicBezTo>
                <a:cubicBezTo>
                  <a:pt x="53530" y="5750058"/>
                  <a:pt x="57730" y="5736292"/>
                  <a:pt x="50760" y="5710700"/>
                </a:cubicBezTo>
                <a:cubicBezTo>
                  <a:pt x="47368" y="5660911"/>
                  <a:pt x="30723" y="5663675"/>
                  <a:pt x="42956" y="5641754"/>
                </a:cubicBezTo>
                <a:cubicBezTo>
                  <a:pt x="39970" y="5608358"/>
                  <a:pt x="24769" y="5637338"/>
                  <a:pt x="29695" y="5602326"/>
                </a:cubicBezTo>
                <a:cubicBezTo>
                  <a:pt x="27700" y="5601239"/>
                  <a:pt x="20274" y="5573144"/>
                  <a:pt x="18841" y="5570885"/>
                </a:cubicBezTo>
                <a:lnTo>
                  <a:pt x="9977" y="5543492"/>
                </a:lnTo>
                <a:lnTo>
                  <a:pt x="5255" y="5531024"/>
                </a:lnTo>
                <a:lnTo>
                  <a:pt x="5447" y="5527845"/>
                </a:lnTo>
                <a:lnTo>
                  <a:pt x="0" y="5507724"/>
                </a:lnTo>
                <a:lnTo>
                  <a:pt x="435" y="5507045"/>
                </a:lnTo>
                <a:cubicBezTo>
                  <a:pt x="1286" y="5505065"/>
                  <a:pt x="1681" y="5502734"/>
                  <a:pt x="1128" y="5499619"/>
                </a:cubicBezTo>
                <a:cubicBezTo>
                  <a:pt x="9450" y="5498516"/>
                  <a:pt x="3652" y="5495435"/>
                  <a:pt x="1291" y="5486342"/>
                </a:cubicBezTo>
                <a:cubicBezTo>
                  <a:pt x="13688" y="5482600"/>
                  <a:pt x="2464" y="5460320"/>
                  <a:pt x="7976" y="5450755"/>
                </a:cubicBezTo>
                <a:cubicBezTo>
                  <a:pt x="5962" y="5444157"/>
                  <a:pt x="4058" y="5437113"/>
                  <a:pt x="2355" y="5429732"/>
                </a:cubicBezTo>
                <a:lnTo>
                  <a:pt x="1499" y="5370432"/>
                </a:lnTo>
                <a:lnTo>
                  <a:pt x="11483" y="5308330"/>
                </a:lnTo>
                <a:cubicBezTo>
                  <a:pt x="11701" y="5285359"/>
                  <a:pt x="15408" y="5265468"/>
                  <a:pt x="12793" y="5246026"/>
                </a:cubicBezTo>
                <a:cubicBezTo>
                  <a:pt x="15678" y="5238129"/>
                  <a:pt x="16842" y="5230685"/>
                  <a:pt x="12525" y="5223468"/>
                </a:cubicBezTo>
                <a:cubicBezTo>
                  <a:pt x="13966" y="5202031"/>
                  <a:pt x="20131" y="5196842"/>
                  <a:pt x="15322" y="5183258"/>
                </a:cubicBezTo>
                <a:cubicBezTo>
                  <a:pt x="25294" y="5171214"/>
                  <a:pt x="21488" y="5170502"/>
                  <a:pt x="18633" y="5164842"/>
                </a:cubicBezTo>
                <a:cubicBezTo>
                  <a:pt x="18565" y="5164573"/>
                  <a:pt x="18496" y="5164303"/>
                  <a:pt x="18428" y="5164034"/>
                </a:cubicBezTo>
                <a:lnTo>
                  <a:pt x="19854" y="5162388"/>
                </a:lnTo>
                <a:lnTo>
                  <a:pt x="20514" y="5158981"/>
                </a:lnTo>
                <a:lnTo>
                  <a:pt x="20089" y="5149681"/>
                </a:lnTo>
                <a:lnTo>
                  <a:pt x="19561" y="5146183"/>
                </a:lnTo>
                <a:cubicBezTo>
                  <a:pt x="19336" y="5143774"/>
                  <a:pt x="19361" y="5142173"/>
                  <a:pt x="19571" y="5141065"/>
                </a:cubicBezTo>
                <a:lnTo>
                  <a:pt x="19690" y="5140937"/>
                </a:lnTo>
                <a:cubicBezTo>
                  <a:pt x="19617" y="5139339"/>
                  <a:pt x="19544" y="5137742"/>
                  <a:pt x="19471" y="5136144"/>
                </a:cubicBezTo>
                <a:cubicBezTo>
                  <a:pt x="18832" y="5128055"/>
                  <a:pt x="17958" y="5120182"/>
                  <a:pt x="16918" y="5112689"/>
                </a:cubicBezTo>
                <a:cubicBezTo>
                  <a:pt x="23464" y="5106353"/>
                  <a:pt x="15733" y="5078666"/>
                  <a:pt x="28071" y="5081696"/>
                </a:cubicBezTo>
                <a:cubicBezTo>
                  <a:pt x="27036" y="5071588"/>
                  <a:pt x="21912" y="5065475"/>
                  <a:pt x="30005" y="5068879"/>
                </a:cubicBezTo>
                <a:cubicBezTo>
                  <a:pt x="29897" y="5065551"/>
                  <a:pt x="30585" y="5063501"/>
                  <a:pt x="31661" y="5062033"/>
                </a:cubicBezTo>
                <a:lnTo>
                  <a:pt x="32169" y="5061608"/>
                </a:lnTo>
                <a:lnTo>
                  <a:pt x="27436" y="5021480"/>
                </a:lnTo>
                <a:lnTo>
                  <a:pt x="26614" y="5013906"/>
                </a:lnTo>
                <a:lnTo>
                  <a:pt x="25056" y="5011767"/>
                </a:lnTo>
                <a:cubicBezTo>
                  <a:pt x="24110" y="5009457"/>
                  <a:pt x="23701" y="5006147"/>
                  <a:pt x="24513" y="5000592"/>
                </a:cubicBezTo>
                <a:lnTo>
                  <a:pt x="24951" y="4999307"/>
                </a:lnTo>
                <a:lnTo>
                  <a:pt x="22644" y="4990090"/>
                </a:lnTo>
                <a:cubicBezTo>
                  <a:pt x="21579" y="4987122"/>
                  <a:pt x="20222" y="4984494"/>
                  <a:pt x="18465" y="4982366"/>
                </a:cubicBezTo>
                <a:cubicBezTo>
                  <a:pt x="27858" y="4950984"/>
                  <a:pt x="19264" y="4921373"/>
                  <a:pt x="20888" y="4887310"/>
                </a:cubicBezTo>
                <a:cubicBezTo>
                  <a:pt x="17563" y="4848813"/>
                  <a:pt x="18386" y="4829570"/>
                  <a:pt x="15781" y="4807298"/>
                </a:cubicBezTo>
                <a:cubicBezTo>
                  <a:pt x="15634" y="4803627"/>
                  <a:pt x="14440" y="4773874"/>
                  <a:pt x="19649" y="4779990"/>
                </a:cubicBezTo>
                <a:cubicBezTo>
                  <a:pt x="18744" y="4746827"/>
                  <a:pt x="22869" y="4698305"/>
                  <a:pt x="21858" y="4664237"/>
                </a:cubicBezTo>
                <a:cubicBezTo>
                  <a:pt x="34232" y="4642340"/>
                  <a:pt x="11268" y="4621318"/>
                  <a:pt x="13583" y="4598607"/>
                </a:cubicBezTo>
                <a:cubicBezTo>
                  <a:pt x="2193" y="4604819"/>
                  <a:pt x="19974" y="4548010"/>
                  <a:pt x="7118" y="4546768"/>
                </a:cubicBezTo>
                <a:lnTo>
                  <a:pt x="14555" y="4522182"/>
                </a:lnTo>
                <a:lnTo>
                  <a:pt x="17290" y="4509768"/>
                </a:lnTo>
                <a:cubicBezTo>
                  <a:pt x="17884" y="4505118"/>
                  <a:pt x="18021" y="4500115"/>
                  <a:pt x="17421" y="4494586"/>
                </a:cubicBezTo>
                <a:cubicBezTo>
                  <a:pt x="12327" y="4480984"/>
                  <a:pt x="18571" y="4459805"/>
                  <a:pt x="18193" y="4440649"/>
                </a:cubicBezTo>
                <a:lnTo>
                  <a:pt x="16616" y="4431853"/>
                </a:lnTo>
                <a:lnTo>
                  <a:pt x="19246" y="4403141"/>
                </a:lnTo>
                <a:cubicBezTo>
                  <a:pt x="19372" y="4387638"/>
                  <a:pt x="19497" y="4372134"/>
                  <a:pt x="19623" y="4356631"/>
                </a:cubicBezTo>
                <a:cubicBezTo>
                  <a:pt x="19508" y="4349062"/>
                  <a:pt x="15847" y="4339045"/>
                  <a:pt x="20293" y="4339937"/>
                </a:cubicBezTo>
                <a:lnTo>
                  <a:pt x="18752" y="4331435"/>
                </a:lnTo>
                <a:cubicBezTo>
                  <a:pt x="19520" y="4328277"/>
                  <a:pt x="24070" y="4324711"/>
                  <a:pt x="24901" y="4320990"/>
                </a:cubicBezTo>
                <a:lnTo>
                  <a:pt x="23734" y="4309111"/>
                </a:lnTo>
                <a:cubicBezTo>
                  <a:pt x="24423" y="4299527"/>
                  <a:pt x="28090" y="4271878"/>
                  <a:pt x="29040" y="4263489"/>
                </a:cubicBezTo>
                <a:cubicBezTo>
                  <a:pt x="29169" y="4261918"/>
                  <a:pt x="29300" y="4260346"/>
                  <a:pt x="29429" y="4258775"/>
                </a:cubicBezTo>
                <a:lnTo>
                  <a:pt x="33702" y="4248512"/>
                </a:lnTo>
                <a:cubicBezTo>
                  <a:pt x="36933" y="4241044"/>
                  <a:pt x="39109" y="4235167"/>
                  <a:pt x="37356" y="4228644"/>
                </a:cubicBezTo>
                <a:cubicBezTo>
                  <a:pt x="41530" y="4217526"/>
                  <a:pt x="53227" y="4209759"/>
                  <a:pt x="50107" y="4193665"/>
                </a:cubicBezTo>
                <a:cubicBezTo>
                  <a:pt x="55406" y="4198550"/>
                  <a:pt x="50749" y="4175793"/>
                  <a:pt x="56192" y="4173105"/>
                </a:cubicBezTo>
                <a:cubicBezTo>
                  <a:pt x="60575" y="4171863"/>
                  <a:pt x="60184" y="4164671"/>
                  <a:pt x="61800" y="4159194"/>
                </a:cubicBezTo>
                <a:cubicBezTo>
                  <a:pt x="66276" y="4155290"/>
                  <a:pt x="70363" y="4127730"/>
                  <a:pt x="69720" y="4118135"/>
                </a:cubicBezTo>
                <a:cubicBezTo>
                  <a:pt x="65265" y="4091091"/>
                  <a:pt x="83289" y="4069336"/>
                  <a:pt x="80190" y="4047713"/>
                </a:cubicBezTo>
                <a:cubicBezTo>
                  <a:pt x="84682" y="4020435"/>
                  <a:pt x="92089" y="3998420"/>
                  <a:pt x="96666" y="3980780"/>
                </a:cubicBezTo>
                <a:cubicBezTo>
                  <a:pt x="98580" y="3977851"/>
                  <a:pt x="106155" y="3945259"/>
                  <a:pt x="107651" y="3941872"/>
                </a:cubicBezTo>
                <a:cubicBezTo>
                  <a:pt x="111761" y="3922504"/>
                  <a:pt x="112043" y="3930219"/>
                  <a:pt x="118444" y="3897465"/>
                </a:cubicBezTo>
                <a:cubicBezTo>
                  <a:pt x="124996" y="3869981"/>
                  <a:pt x="127657" y="3841768"/>
                  <a:pt x="134545" y="3811132"/>
                </a:cubicBezTo>
                <a:cubicBezTo>
                  <a:pt x="143817" y="3778601"/>
                  <a:pt x="141464" y="3759343"/>
                  <a:pt x="145381" y="3746540"/>
                </a:cubicBezTo>
                <a:cubicBezTo>
                  <a:pt x="156739" y="3719637"/>
                  <a:pt x="147664" y="3711291"/>
                  <a:pt x="146587" y="3670275"/>
                </a:cubicBezTo>
                <a:cubicBezTo>
                  <a:pt x="154134" y="3638754"/>
                  <a:pt x="151397" y="3605028"/>
                  <a:pt x="165690" y="3580981"/>
                </a:cubicBezTo>
                <a:cubicBezTo>
                  <a:pt x="164433" y="3577837"/>
                  <a:pt x="163639" y="3574469"/>
                  <a:pt x="163175" y="3570960"/>
                </a:cubicBezTo>
                <a:lnTo>
                  <a:pt x="162665" y="3560693"/>
                </a:lnTo>
                <a:lnTo>
                  <a:pt x="163299" y="3559743"/>
                </a:lnTo>
                <a:cubicBezTo>
                  <a:pt x="165039" y="3554949"/>
                  <a:pt x="165246" y="3551528"/>
                  <a:pt x="164777" y="3548721"/>
                </a:cubicBezTo>
                <a:lnTo>
                  <a:pt x="163708" y="3545693"/>
                </a:lnTo>
                <a:lnTo>
                  <a:pt x="164286" y="3537938"/>
                </a:lnTo>
                <a:cubicBezTo>
                  <a:pt x="164273" y="3532672"/>
                  <a:pt x="164261" y="3527407"/>
                  <a:pt x="164247" y="3522141"/>
                </a:cubicBezTo>
                <a:lnTo>
                  <a:pt x="165343" y="3519672"/>
                </a:lnTo>
                <a:lnTo>
                  <a:pt x="167001" y="3496604"/>
                </a:lnTo>
                <a:lnTo>
                  <a:pt x="167547" y="3496517"/>
                </a:lnTo>
                <a:cubicBezTo>
                  <a:pt x="168811" y="3495796"/>
                  <a:pt x="169814" y="3494272"/>
                  <a:pt x="170301" y="3491023"/>
                </a:cubicBezTo>
                <a:cubicBezTo>
                  <a:pt x="177219" y="3499391"/>
                  <a:pt x="173541" y="3490314"/>
                  <a:pt x="174371" y="3479998"/>
                </a:cubicBezTo>
                <a:cubicBezTo>
                  <a:pt x="185299" y="3490692"/>
                  <a:pt x="183023" y="3459350"/>
                  <a:pt x="190228" y="3457434"/>
                </a:cubicBezTo>
                <a:cubicBezTo>
                  <a:pt x="190591" y="3449617"/>
                  <a:pt x="191174" y="3441542"/>
                  <a:pt x="192016" y="3433411"/>
                </a:cubicBezTo>
                <a:lnTo>
                  <a:pt x="192663" y="3428691"/>
                </a:lnTo>
                <a:cubicBezTo>
                  <a:pt x="192706" y="3428676"/>
                  <a:pt x="192750" y="3428659"/>
                  <a:pt x="192793" y="3428643"/>
                </a:cubicBezTo>
                <a:cubicBezTo>
                  <a:pt x="193186" y="3427720"/>
                  <a:pt x="193494" y="3426206"/>
                  <a:pt x="193710" y="3423760"/>
                </a:cubicBezTo>
                <a:cubicBezTo>
                  <a:pt x="193753" y="3422535"/>
                  <a:pt x="193797" y="3421310"/>
                  <a:pt x="193839" y="3420085"/>
                </a:cubicBezTo>
                <a:lnTo>
                  <a:pt x="195094" y="3410930"/>
                </a:lnTo>
                <a:lnTo>
                  <a:pt x="196311" y="3408092"/>
                </a:lnTo>
                <a:lnTo>
                  <a:pt x="197928" y="3407419"/>
                </a:lnTo>
                <a:cubicBezTo>
                  <a:pt x="197912" y="3407119"/>
                  <a:pt x="197897" y="3406820"/>
                  <a:pt x="197881" y="3406520"/>
                </a:cubicBezTo>
                <a:cubicBezTo>
                  <a:pt x="196231" y="3399306"/>
                  <a:pt x="192821" y="3396220"/>
                  <a:pt x="204222" y="3391015"/>
                </a:cubicBezTo>
                <a:cubicBezTo>
                  <a:pt x="202162" y="3374996"/>
                  <a:pt x="208811" y="3373934"/>
                  <a:pt x="213950" y="3354361"/>
                </a:cubicBezTo>
                <a:cubicBezTo>
                  <a:pt x="211218" y="3344737"/>
                  <a:pt x="213619" y="3338360"/>
                  <a:pt x="217699" y="3332639"/>
                </a:cubicBezTo>
                <a:cubicBezTo>
                  <a:pt x="218717" y="3312409"/>
                  <a:pt x="225688" y="3295747"/>
                  <a:pt x="229963" y="3273935"/>
                </a:cubicBezTo>
                <a:cubicBezTo>
                  <a:pt x="228293" y="3248488"/>
                  <a:pt x="239257" y="3238943"/>
                  <a:pt x="243785" y="3215621"/>
                </a:cubicBezTo>
                <a:cubicBezTo>
                  <a:pt x="237893" y="3192522"/>
                  <a:pt x="253940" y="3201000"/>
                  <a:pt x="259175" y="3189909"/>
                </a:cubicBezTo>
                <a:lnTo>
                  <a:pt x="259988" y="3186579"/>
                </a:lnTo>
                <a:lnTo>
                  <a:pt x="259980" y="3177264"/>
                </a:lnTo>
                <a:lnTo>
                  <a:pt x="259609" y="3173723"/>
                </a:lnTo>
                <a:cubicBezTo>
                  <a:pt x="259490" y="3171299"/>
                  <a:pt x="259588" y="3169704"/>
                  <a:pt x="259848" y="3168622"/>
                </a:cubicBezTo>
                <a:lnTo>
                  <a:pt x="259971" y="3168508"/>
                </a:lnTo>
                <a:cubicBezTo>
                  <a:pt x="259969" y="3166907"/>
                  <a:pt x="259968" y="3165307"/>
                  <a:pt x="259966" y="3163706"/>
                </a:cubicBezTo>
                <a:cubicBezTo>
                  <a:pt x="259691" y="3155577"/>
                  <a:pt x="259171" y="3147642"/>
                  <a:pt x="258467" y="3140064"/>
                </a:cubicBezTo>
                <a:cubicBezTo>
                  <a:pt x="265286" y="3134408"/>
                  <a:pt x="258805" y="3106027"/>
                  <a:pt x="270990" y="3110288"/>
                </a:cubicBezTo>
                <a:cubicBezTo>
                  <a:pt x="270407" y="3100106"/>
                  <a:pt x="265565" y="3093497"/>
                  <a:pt x="273494" y="3097704"/>
                </a:cubicBezTo>
                <a:cubicBezTo>
                  <a:pt x="273534" y="3094376"/>
                  <a:pt x="274313" y="3092401"/>
                  <a:pt x="275456" y="3091047"/>
                </a:cubicBezTo>
                <a:lnTo>
                  <a:pt x="275980" y="3090672"/>
                </a:lnTo>
                <a:lnTo>
                  <a:pt x="274486" y="3068004"/>
                </a:lnTo>
                <a:lnTo>
                  <a:pt x="275226" y="3065087"/>
                </a:lnTo>
                <a:lnTo>
                  <a:pt x="273050" y="3050191"/>
                </a:lnTo>
                <a:cubicBezTo>
                  <a:pt x="272889" y="3047647"/>
                  <a:pt x="272728" y="3045103"/>
                  <a:pt x="272566" y="3042559"/>
                </a:cubicBezTo>
                <a:lnTo>
                  <a:pt x="271107" y="3040271"/>
                </a:lnTo>
                <a:cubicBezTo>
                  <a:pt x="270265" y="3037872"/>
                  <a:pt x="270006" y="3034528"/>
                  <a:pt x="271065" y="3029072"/>
                </a:cubicBezTo>
                <a:lnTo>
                  <a:pt x="271558" y="3027835"/>
                </a:lnTo>
                <a:cubicBezTo>
                  <a:pt x="270688" y="3024705"/>
                  <a:pt x="268559" y="2982922"/>
                  <a:pt x="268717" y="2964245"/>
                </a:cubicBezTo>
                <a:cubicBezTo>
                  <a:pt x="279502" y="2933904"/>
                  <a:pt x="269365" y="2949568"/>
                  <a:pt x="272511" y="2915772"/>
                </a:cubicBezTo>
                <a:cubicBezTo>
                  <a:pt x="272017" y="2877552"/>
                  <a:pt x="270125" y="2850992"/>
                  <a:pt x="270356" y="2825842"/>
                </a:cubicBezTo>
                <a:cubicBezTo>
                  <a:pt x="269433" y="2814032"/>
                  <a:pt x="268938" y="2727859"/>
                  <a:pt x="273897" y="2734957"/>
                </a:cubicBezTo>
                <a:cubicBezTo>
                  <a:pt x="264242" y="2698391"/>
                  <a:pt x="277769" y="2677127"/>
                  <a:pt x="274458" y="2636572"/>
                </a:cubicBezTo>
                <a:cubicBezTo>
                  <a:pt x="287792" y="2615986"/>
                  <a:pt x="275829" y="2626668"/>
                  <a:pt x="279157" y="2604260"/>
                </a:cubicBezTo>
                <a:cubicBezTo>
                  <a:pt x="279270" y="2587221"/>
                  <a:pt x="288019" y="2599786"/>
                  <a:pt x="288131" y="2582747"/>
                </a:cubicBezTo>
                <a:cubicBezTo>
                  <a:pt x="260352" y="2545890"/>
                  <a:pt x="290145" y="2525479"/>
                  <a:pt x="282516" y="2478755"/>
                </a:cubicBezTo>
                <a:lnTo>
                  <a:pt x="287359" y="2451804"/>
                </a:lnTo>
                <a:cubicBezTo>
                  <a:pt x="285426" y="2443087"/>
                  <a:pt x="285710" y="2414879"/>
                  <a:pt x="289577" y="2408801"/>
                </a:cubicBezTo>
                <a:cubicBezTo>
                  <a:pt x="290424" y="2402768"/>
                  <a:pt x="289064" y="2396183"/>
                  <a:pt x="293203" y="2392670"/>
                </a:cubicBezTo>
                <a:cubicBezTo>
                  <a:pt x="295637" y="2379564"/>
                  <a:pt x="301233" y="2349549"/>
                  <a:pt x="304183" y="2330165"/>
                </a:cubicBezTo>
                <a:cubicBezTo>
                  <a:pt x="298973" y="2319718"/>
                  <a:pt x="309550" y="2303314"/>
                  <a:pt x="310900" y="2276363"/>
                </a:cubicBezTo>
                <a:cubicBezTo>
                  <a:pt x="304874" y="2264930"/>
                  <a:pt x="311891" y="2258198"/>
                  <a:pt x="303909" y="2236310"/>
                </a:cubicBezTo>
                <a:cubicBezTo>
                  <a:pt x="304734" y="2235412"/>
                  <a:pt x="305502" y="2234293"/>
                  <a:pt x="306187" y="2232984"/>
                </a:cubicBezTo>
                <a:cubicBezTo>
                  <a:pt x="310170" y="2225381"/>
                  <a:pt x="310605" y="2213194"/>
                  <a:pt x="307158" y="2205763"/>
                </a:cubicBezTo>
                <a:cubicBezTo>
                  <a:pt x="296601" y="2170883"/>
                  <a:pt x="306474" y="2175442"/>
                  <a:pt x="304860" y="2145703"/>
                </a:cubicBezTo>
                <a:cubicBezTo>
                  <a:pt x="304314" y="2112090"/>
                  <a:pt x="314083" y="2134724"/>
                  <a:pt x="304273" y="2092533"/>
                </a:cubicBezTo>
                <a:cubicBezTo>
                  <a:pt x="308983" y="2088154"/>
                  <a:pt x="303590" y="2066396"/>
                  <a:pt x="301642" y="2057359"/>
                </a:cubicBezTo>
                <a:cubicBezTo>
                  <a:pt x="301720" y="2041038"/>
                  <a:pt x="313213" y="2032807"/>
                  <a:pt x="306736" y="2016105"/>
                </a:cubicBezTo>
                <a:cubicBezTo>
                  <a:pt x="312847" y="2019262"/>
                  <a:pt x="310007" y="1975377"/>
                  <a:pt x="316234" y="1983129"/>
                </a:cubicBezTo>
                <a:cubicBezTo>
                  <a:pt x="322177" y="1972692"/>
                  <a:pt x="313034" y="1967129"/>
                  <a:pt x="318238" y="1956745"/>
                </a:cubicBezTo>
                <a:cubicBezTo>
                  <a:pt x="319718" y="1944884"/>
                  <a:pt x="311423" y="1963350"/>
                  <a:pt x="311341" y="1950160"/>
                </a:cubicBezTo>
                <a:lnTo>
                  <a:pt x="323556" y="1879546"/>
                </a:lnTo>
                <a:cubicBezTo>
                  <a:pt x="320263" y="1869846"/>
                  <a:pt x="322312" y="1862247"/>
                  <a:pt x="326085" y="1854893"/>
                </a:cubicBezTo>
                <a:cubicBezTo>
                  <a:pt x="325955" y="1832625"/>
                  <a:pt x="332007" y="1812578"/>
                  <a:pt x="335058" y="1787684"/>
                </a:cubicBezTo>
                <a:cubicBezTo>
                  <a:pt x="331933" y="1760490"/>
                  <a:pt x="342400" y="1747069"/>
                  <a:pt x="345620" y="1720464"/>
                </a:cubicBezTo>
                <a:cubicBezTo>
                  <a:pt x="337355" y="1693643"/>
                  <a:pt x="360215" y="1703686"/>
                  <a:pt x="360760" y="1681196"/>
                </a:cubicBezTo>
                <a:cubicBezTo>
                  <a:pt x="353923" y="1644243"/>
                  <a:pt x="368449" y="1682451"/>
                  <a:pt x="368483" y="1625881"/>
                </a:cubicBezTo>
                <a:cubicBezTo>
                  <a:pt x="367181" y="1622619"/>
                  <a:pt x="369088" y="1615868"/>
                  <a:pt x="371077" y="1616704"/>
                </a:cubicBezTo>
                <a:cubicBezTo>
                  <a:pt x="371005" y="1604306"/>
                  <a:pt x="384453" y="1569256"/>
                  <a:pt x="383008" y="1551493"/>
                </a:cubicBezTo>
                <a:cubicBezTo>
                  <a:pt x="390598" y="1517303"/>
                  <a:pt x="381821" y="1500132"/>
                  <a:pt x="384834" y="1475233"/>
                </a:cubicBezTo>
                <a:cubicBezTo>
                  <a:pt x="393221" y="1446677"/>
                  <a:pt x="400498" y="1430031"/>
                  <a:pt x="418371" y="1380155"/>
                </a:cubicBezTo>
                <a:lnTo>
                  <a:pt x="469641" y="1210871"/>
                </a:lnTo>
                <a:cubicBezTo>
                  <a:pt x="507460" y="1148093"/>
                  <a:pt x="486915" y="1066841"/>
                  <a:pt x="489701" y="1028427"/>
                </a:cubicBezTo>
                <a:cubicBezTo>
                  <a:pt x="478454" y="1012506"/>
                  <a:pt x="490925" y="999600"/>
                  <a:pt x="486354" y="980383"/>
                </a:cubicBezTo>
                <a:cubicBezTo>
                  <a:pt x="483880" y="937629"/>
                  <a:pt x="471099" y="895192"/>
                  <a:pt x="479762" y="839699"/>
                </a:cubicBezTo>
                <a:cubicBezTo>
                  <a:pt x="444550" y="814685"/>
                  <a:pt x="465776" y="749644"/>
                  <a:pt x="445664" y="696545"/>
                </a:cubicBezTo>
                <a:cubicBezTo>
                  <a:pt x="441558" y="665722"/>
                  <a:pt x="459046" y="617297"/>
                  <a:pt x="440047" y="606615"/>
                </a:cubicBezTo>
                <a:cubicBezTo>
                  <a:pt x="451675" y="592509"/>
                  <a:pt x="432892" y="579307"/>
                  <a:pt x="431225" y="563889"/>
                </a:cubicBezTo>
                <a:cubicBezTo>
                  <a:pt x="438618" y="551582"/>
                  <a:pt x="432225" y="545475"/>
                  <a:pt x="430803" y="534294"/>
                </a:cubicBezTo>
                <a:cubicBezTo>
                  <a:pt x="435364" y="529230"/>
                  <a:pt x="435126" y="519767"/>
                  <a:pt x="429777" y="516548"/>
                </a:cubicBezTo>
                <a:cubicBezTo>
                  <a:pt x="417444" y="521116"/>
                  <a:pt x="423596" y="488251"/>
                  <a:pt x="415090" y="485808"/>
                </a:cubicBezTo>
                <a:cubicBezTo>
                  <a:pt x="413316" y="466733"/>
                  <a:pt x="424116" y="383903"/>
                  <a:pt x="410499" y="369873"/>
                </a:cubicBezTo>
                <a:cubicBezTo>
                  <a:pt x="404034" y="331308"/>
                  <a:pt x="425696" y="275570"/>
                  <a:pt x="425314" y="259180"/>
                </a:cubicBezTo>
                <a:cubicBezTo>
                  <a:pt x="450188" y="242918"/>
                  <a:pt x="384634" y="163766"/>
                  <a:pt x="383240" y="94173"/>
                </a:cubicBezTo>
                <a:cubicBezTo>
                  <a:pt x="385641" y="84795"/>
                  <a:pt x="385609" y="79782"/>
                  <a:pt x="379938" y="77267"/>
                </a:cubicBezTo>
                <a:cubicBezTo>
                  <a:pt x="378301" y="68220"/>
                  <a:pt x="376144" y="54774"/>
                  <a:pt x="373430" y="3885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p:cNvSpPr>
          <p:nvPr>
            <p:ph type="title"/>
          </p:nvPr>
        </p:nvSpPr>
        <p:spPr>
          <a:xfrm>
            <a:off x="3918858" y="0"/>
            <a:ext cx="5225142" cy="1322887"/>
          </a:xfrm>
        </p:spPr>
        <p:txBody>
          <a:bodyPr>
            <a:normAutofit/>
          </a:bodyPr>
          <a:lstStyle/>
          <a:p>
            <a:pPr>
              <a:lnSpc>
                <a:spcPct val="90000"/>
              </a:lnSpc>
            </a:pPr>
            <a:r>
              <a:rPr lang="en-IN" b="1" dirty="0">
                <a:latin typeface="Times New Roman" panose="02020603050405020304" pitchFamily="18" charset="0"/>
                <a:cs typeface="Times New Roman" panose="02020603050405020304" pitchFamily="18" charset="0"/>
              </a:rPr>
              <a:t>Results Comparison</a:t>
            </a:r>
          </a:p>
        </p:txBody>
      </p:sp>
      <p:sp>
        <p:nvSpPr>
          <p:cNvPr id="7" name="Content Placeholder 2"/>
          <p:cNvSpPr>
            <a:spLocks noGrp="1"/>
          </p:cNvSpPr>
          <p:nvPr>
            <p:ph idx="1"/>
          </p:nvPr>
        </p:nvSpPr>
        <p:spPr>
          <a:xfrm>
            <a:off x="3918858" y="1322888"/>
            <a:ext cx="5225139" cy="5535112"/>
          </a:xfrm>
        </p:spPr>
        <p:txBody>
          <a:bodyPr>
            <a:normAutofit fontScale="85000" lnSpcReduction="10000"/>
          </a:bodyPr>
          <a:lstStyle/>
          <a:p>
            <a:pPr algn="just">
              <a:lnSpc>
                <a:spcPct val="90000"/>
              </a:lnSpc>
            </a:pPr>
            <a:r>
              <a:rPr lang="en-US" sz="2000" dirty="0">
                <a:latin typeface="Times New Roman" panose="02020603050405020304" pitchFamily="18" charset="0"/>
                <a:cs typeface="Times New Roman" panose="02020603050405020304" pitchFamily="18" charset="0"/>
              </a:rPr>
              <a:t>Linear Regression: The model achieved an </a:t>
            </a:r>
            <a:r>
              <a:rPr lang="en-US" sz="2000" b="1" dirty="0">
                <a:latin typeface="Times New Roman" panose="02020603050405020304" pitchFamily="18" charset="0"/>
                <a:cs typeface="Times New Roman" panose="02020603050405020304" pitchFamily="18" charset="0"/>
              </a:rPr>
              <a:t>R² value of -0.0 and a Root Mean Square Error (RMSE) of </a:t>
            </a:r>
            <a:r>
              <a:rPr lang="en-IN" sz="2000" b="1" dirty="0"/>
              <a:t>≈ 1.46</a:t>
            </a:r>
            <a:r>
              <a:rPr lang="en-US" sz="2000" dirty="0">
                <a:latin typeface="Times New Roman" panose="02020603050405020304" pitchFamily="18" charset="0"/>
                <a:cs typeface="Times New Roman" panose="02020603050405020304" pitchFamily="18" charset="0"/>
              </a:rPr>
              <a:t>, indicating poor predictive capability for the dataset. </a:t>
            </a:r>
          </a:p>
          <a:p>
            <a:pPr algn="just">
              <a:lnSpc>
                <a:spcPct val="90000"/>
              </a:lnSpc>
            </a:pPr>
            <a:r>
              <a:rPr lang="en-US" sz="2000" dirty="0">
                <a:latin typeface="Times New Roman" panose="02020603050405020304" pitchFamily="18" charset="0"/>
                <a:cs typeface="Times New Roman" panose="02020603050405020304" pitchFamily="18" charset="0"/>
              </a:rPr>
              <a:t>Decision Tree: This model performed even worse, with an </a:t>
            </a:r>
            <a:r>
              <a:rPr lang="en-US" sz="2000" b="1" dirty="0">
                <a:latin typeface="Times New Roman" panose="02020603050405020304" pitchFamily="18" charset="0"/>
                <a:cs typeface="Times New Roman" panose="02020603050405020304" pitchFamily="18" charset="0"/>
              </a:rPr>
              <a:t>R² value of -1.02 and an RMSE of </a:t>
            </a:r>
            <a:r>
              <a:rPr lang="en-IN" sz="2000" b="1" dirty="0"/>
              <a:t>≈2.05</a:t>
            </a:r>
            <a:r>
              <a:rPr lang="en-US" sz="2000" dirty="0">
                <a:latin typeface="Times New Roman" panose="02020603050405020304" pitchFamily="18" charset="0"/>
                <a:cs typeface="Times New Roman" panose="02020603050405020304" pitchFamily="18" charset="0"/>
              </a:rPr>
              <a:t>, suggesting significant deviations from the actual values.</a:t>
            </a:r>
          </a:p>
          <a:p>
            <a:pPr algn="just">
              <a:lnSpc>
                <a:spcPct val="90000"/>
              </a:lnSpc>
            </a:pPr>
            <a:r>
              <a:rPr lang="en-US" sz="2000" dirty="0">
                <a:latin typeface="Times New Roman" panose="02020603050405020304" pitchFamily="18" charset="0"/>
                <a:cs typeface="Times New Roman" panose="02020603050405020304" pitchFamily="18" charset="0"/>
              </a:rPr>
              <a:t>Random Forest: The Random Forest algorithm provided a better outcome, obtaining an </a:t>
            </a:r>
            <a:r>
              <a:rPr lang="en-US" sz="2000" b="1" dirty="0">
                <a:latin typeface="Times New Roman" panose="02020603050405020304" pitchFamily="18" charset="0"/>
                <a:cs typeface="Times New Roman" panose="02020603050405020304" pitchFamily="18" charset="0"/>
              </a:rPr>
              <a:t>R² of -0.04 and an RMSE of </a:t>
            </a:r>
            <a:r>
              <a:rPr lang="en-IN" sz="2000" b="1" dirty="0"/>
              <a:t>≈1.48</a:t>
            </a:r>
            <a:r>
              <a:rPr lang="en-US" sz="2000" dirty="0">
                <a:latin typeface="Times New Roman" panose="02020603050405020304" pitchFamily="18" charset="0"/>
                <a:cs typeface="Times New Roman" panose="02020603050405020304" pitchFamily="18" charset="0"/>
              </a:rPr>
              <a:t>, although it still did not effectively capture the underlying trends in the data.</a:t>
            </a:r>
          </a:p>
          <a:p>
            <a:pPr algn="just">
              <a:lnSpc>
                <a:spcPct val="90000"/>
              </a:lnSpc>
            </a:pPr>
            <a:r>
              <a:rPr lang="en-US" sz="2000" dirty="0">
                <a:latin typeface="Times New Roman" panose="02020603050405020304" pitchFamily="18" charset="0"/>
                <a:cs typeface="Times New Roman" panose="02020603050405020304" pitchFamily="18" charset="0"/>
              </a:rPr>
              <a:t>Gradient Boosting: This approach yielded </a:t>
            </a:r>
            <a:r>
              <a:rPr lang="en-US" sz="2000" b="1" dirty="0">
                <a:latin typeface="Times New Roman" panose="02020603050405020304" pitchFamily="18" charset="0"/>
                <a:cs typeface="Times New Roman" panose="02020603050405020304" pitchFamily="18" charset="0"/>
              </a:rPr>
              <a:t>an R² of -0.0 and an RMSE of </a:t>
            </a:r>
            <a:r>
              <a:rPr lang="en-IN" sz="2000" b="1" dirty="0"/>
              <a:t>≈ 1.46</a:t>
            </a:r>
            <a:r>
              <a:rPr lang="en-US" sz="2000" dirty="0">
                <a:latin typeface="Times New Roman" panose="02020603050405020304" pitchFamily="18" charset="0"/>
                <a:cs typeface="Times New Roman" panose="02020603050405020304" pitchFamily="18" charset="0"/>
              </a:rPr>
              <a:t>, showing limited predictive power like linear regression.</a:t>
            </a:r>
          </a:p>
          <a:p>
            <a:pPr algn="just">
              <a:lnSpc>
                <a:spcPct val="90000"/>
              </a:lnSpc>
            </a:pPr>
            <a:r>
              <a:rPr lang="en-US" sz="2000" dirty="0">
                <a:latin typeface="Times New Roman" panose="02020603050405020304" pitchFamily="18" charset="0"/>
                <a:cs typeface="Times New Roman" panose="02020603050405020304" pitchFamily="18" charset="0"/>
              </a:rPr>
              <a:t>Overall Performance: Among the models tested, the Linear Regression / Gradient Boosting performed slightly better, but all models were weak. Hence, all models exhibited weak predictive capability, indicating that additional business variables are required.</a:t>
            </a:r>
          </a:p>
          <a:p>
            <a:pPr algn="just">
              <a:lnSpc>
                <a:spcPct val="90000"/>
              </a:lnSpc>
            </a:pPr>
            <a:r>
              <a:rPr lang="en-IN" sz="2000" b="1" dirty="0">
                <a:latin typeface="Times New Roman" panose="02020603050405020304" pitchFamily="18" charset="0"/>
                <a:cs typeface="Times New Roman" panose="02020603050405020304" pitchFamily="18" charset="0"/>
              </a:rPr>
              <a:t>Linear Regression: R2=-0.0, RMSE=</a:t>
            </a:r>
            <a:r>
              <a:rPr lang="en-IN" sz="2000" b="1" dirty="0"/>
              <a:t> ≈ 1.46</a:t>
            </a:r>
            <a:r>
              <a:rPr lang="en-IN" sz="2000" b="1" dirty="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The</a:t>
            </a:r>
            <a:r>
              <a:rPr lang="en-IN" sz="2000" b="1" dirty="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decision tree showed the highest forecasting variance, while the Ensemble learning model performed better on enterprise-scale datasets.</a:t>
            </a:r>
            <a:endParaRPr lang="en-IN" sz="2000" b="1"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311C8087-344F-9B77-8E49-AE582E1AF8EB}"/>
              </a:ext>
            </a:extLst>
          </p:cNvPr>
          <p:cNvPicPr>
            <a:picLocks noChangeAspect="1"/>
          </p:cNvPicPr>
          <p:nvPr/>
        </p:nvPicPr>
        <p:blipFill>
          <a:blip r:embed="rId2"/>
          <a:srcRect r="21111"/>
          <a:stretch>
            <a:fillRect/>
          </a:stretch>
        </p:blipFill>
        <p:spPr>
          <a:xfrm rot="16200000">
            <a:off x="-1644265" y="1644265"/>
            <a:ext cx="6858000" cy="356946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401417" y="0"/>
            <a:ext cx="4742583" cy="871146"/>
          </a:xfrm>
        </p:spPr>
        <p:txBody>
          <a:bodyPr anchor="t">
            <a:normAutofit/>
          </a:bodyPr>
          <a:lstStyle/>
          <a:p>
            <a:r>
              <a:rPr lang="en-IN" sz="3600" b="1" dirty="0">
                <a:latin typeface="Times New Roman" panose="02020603050405020304" pitchFamily="18" charset="0"/>
                <a:cs typeface="Times New Roman" panose="02020603050405020304" pitchFamily="18" charset="0"/>
              </a:rPr>
              <a:t>Forecasting Summary</a:t>
            </a:r>
          </a:p>
        </p:txBody>
      </p:sp>
      <p:pic>
        <p:nvPicPr>
          <p:cNvPr id="6" name="Picture 5">
            <a:extLst>
              <a:ext uri="{FF2B5EF4-FFF2-40B4-BE49-F238E27FC236}">
                <a16:creationId xmlns:a16="http://schemas.microsoft.com/office/drawing/2014/main" id="{149B85EB-ECDC-D2DE-D225-E1AD2F258449}"/>
              </a:ext>
            </a:extLst>
          </p:cNvPr>
          <p:cNvPicPr>
            <a:picLocks noChangeAspect="1"/>
          </p:cNvPicPr>
          <p:nvPr/>
        </p:nvPicPr>
        <p:blipFill>
          <a:blip r:embed="rId2"/>
          <a:srcRect l="50000" t="5334" b="47937"/>
          <a:stretch>
            <a:fillRect/>
          </a:stretch>
        </p:blipFill>
        <p:spPr>
          <a:xfrm rot="16200000">
            <a:off x="-1366156" y="1366155"/>
            <a:ext cx="6858002" cy="4125687"/>
          </a:xfrm>
          <a:prstGeom prst="rect">
            <a:avLst/>
          </a:prstGeom>
        </p:spPr>
      </p:pic>
      <p:cxnSp>
        <p:nvCxnSpPr>
          <p:cNvPr id="33" name="Straight Connector 32">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78772" y="871146"/>
            <a:ext cx="552705"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4125686" y="871146"/>
            <a:ext cx="5018313" cy="5986854"/>
          </a:xfrm>
        </p:spPr>
        <p:txBody>
          <a:bodyPr>
            <a:normAutofit fontScale="92500" lnSpcReduction="10000"/>
          </a:bodyPr>
          <a:lstStyle/>
          <a:p>
            <a:pPr algn="just">
              <a:lnSpc>
                <a:spcPct val="90000"/>
              </a:lnSpc>
            </a:pPr>
            <a:r>
              <a:rPr lang="en-US" sz="1800" dirty="0">
                <a:latin typeface="Times New Roman" panose="02020603050405020304" pitchFamily="18" charset="0"/>
                <a:cs typeface="Times New Roman" panose="02020603050405020304" pitchFamily="18" charset="0"/>
              </a:rPr>
              <a:t>The rolling-average forecast suggests a moderate upward trend; however, future predictions should be interpreted cautiously due to the limited predictive power observed in the machine learning models.</a:t>
            </a:r>
          </a:p>
          <a:p>
            <a:pPr algn="just">
              <a:lnSpc>
                <a:spcPct val="90000"/>
              </a:lnSpc>
            </a:pPr>
            <a:r>
              <a:rPr lang="en-US" sz="1800" dirty="0">
                <a:latin typeface="Times New Roman" panose="02020603050405020304" pitchFamily="18" charset="0"/>
                <a:cs typeface="Times New Roman" panose="02020603050405020304" pitchFamily="18" charset="0"/>
              </a:rPr>
              <a:t>Future business performance is projected to range between approximately $457 million and $712 million based on the rolling-average forecasting approach.</a:t>
            </a:r>
          </a:p>
          <a:p>
            <a:pPr algn="just">
              <a:lnSpc>
                <a:spcPct val="90000"/>
              </a:lnSpc>
            </a:pPr>
            <a:r>
              <a:rPr lang="en-US" sz="1800" dirty="0">
                <a:latin typeface="Times New Roman" panose="02020603050405020304" pitchFamily="18" charset="0"/>
                <a:cs typeface="Times New Roman" panose="02020603050405020304" pitchFamily="18" charset="0"/>
              </a:rPr>
              <a:t>The highest forecast is nearly </a:t>
            </a:r>
            <a:r>
              <a:rPr lang="en-US" sz="1800" b="1" dirty="0">
                <a:latin typeface="Times New Roman" panose="02020603050405020304" pitchFamily="18" charset="0"/>
                <a:cs typeface="Times New Roman" panose="02020603050405020304" pitchFamily="18" charset="0"/>
              </a:rPr>
              <a:t>$711.6 million</a:t>
            </a:r>
            <a:r>
              <a:rPr lang="en-US" sz="1800" dirty="0">
                <a:latin typeface="Times New Roman" panose="02020603050405020304" pitchFamily="18" charset="0"/>
                <a:cs typeface="Times New Roman" panose="02020603050405020304" pitchFamily="18" charset="0"/>
              </a:rPr>
              <a:t>, indicating substantial market scalability and enterprise expansion potential.</a:t>
            </a:r>
          </a:p>
          <a:p>
            <a:pPr algn="just">
              <a:lnSpc>
                <a:spcPct val="90000"/>
              </a:lnSpc>
            </a:pPr>
            <a:r>
              <a:rPr lang="en-US" sz="1800" dirty="0">
                <a:latin typeface="Times New Roman" panose="02020603050405020304" pitchFamily="18" charset="0"/>
                <a:cs typeface="Times New Roman" panose="02020603050405020304" pitchFamily="18" charset="0"/>
              </a:rPr>
              <a:t>Estimated </a:t>
            </a:r>
            <a:r>
              <a:rPr lang="en-US" sz="1800" b="1" dirty="0">
                <a:latin typeface="Times New Roman" panose="02020603050405020304" pitchFamily="18" charset="0"/>
                <a:cs typeface="Times New Roman" panose="02020603050405020304" pitchFamily="18" charset="0"/>
              </a:rPr>
              <a:t>business growth trend observed in rolling average; exact drivers cannot be confirmed due to weak correlations</a:t>
            </a:r>
            <a:r>
              <a:rPr lang="en-US" sz="1800"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Revenue has a correlation with employees and customers (between -0.01 to 0.01), </a:t>
            </a:r>
            <a:r>
              <a:rPr lang="en-US" sz="1800" dirty="0">
                <a:latin typeface="Times New Roman" panose="02020603050405020304" pitchFamily="18" charset="0"/>
                <a:cs typeface="Times New Roman" panose="02020603050405020304" pitchFamily="18" charset="0"/>
              </a:rPr>
              <a:t>highlighting the importance of workforce expansion and customer acquisition.</a:t>
            </a:r>
          </a:p>
          <a:p>
            <a:pPr algn="just">
              <a:lnSpc>
                <a:spcPct val="90000"/>
              </a:lnSpc>
            </a:pPr>
            <a:r>
              <a:rPr lang="en-US" sz="1800" dirty="0">
                <a:latin typeface="Times New Roman" panose="02020603050405020304" pitchFamily="18" charset="0"/>
                <a:cs typeface="Times New Roman" panose="02020603050405020304" pitchFamily="18" charset="0"/>
              </a:rPr>
              <a:t>Over 15,000 enterprise records were analyzed, with each industry representing approximately 20% of the dataset, indicating a balanced industry distribution. </a:t>
            </a:r>
          </a:p>
          <a:p>
            <a:pPr algn="just">
              <a:lnSpc>
                <a:spcPct val="90000"/>
              </a:lnSpc>
            </a:pPr>
            <a:r>
              <a:rPr lang="en-US" sz="1800" dirty="0">
                <a:latin typeface="Times New Roman" panose="02020603050405020304" pitchFamily="18" charset="0"/>
                <a:cs typeface="Times New Roman" panose="02020603050405020304" pitchFamily="18" charset="0"/>
              </a:rPr>
              <a:t>This forecasting pipeline offers actionable business intelligence for investment planning and strategic decision-making, helps observe trends, but predictions should be used cautiously.</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F0957C-99E4-3E72-3839-54D4EED8C827}"/>
              </a:ext>
            </a:extLst>
          </p:cNvPr>
          <p:cNvSpPr>
            <a:spLocks noGrp="1"/>
          </p:cNvSpPr>
          <p:nvPr>
            <p:ph type="title"/>
          </p:nvPr>
        </p:nvSpPr>
        <p:spPr>
          <a:xfrm>
            <a:off x="-1" y="0"/>
            <a:ext cx="5584371" cy="956930"/>
          </a:xfrm>
        </p:spPr>
        <p:txBody>
          <a:bodyPr/>
          <a:lstStyle/>
          <a:p>
            <a:r>
              <a:rPr lang="en-US" dirty="0"/>
              <a:t>Univariable Insights</a:t>
            </a:r>
            <a:endParaRPr lang="en-IN" dirty="0"/>
          </a:p>
        </p:txBody>
      </p:sp>
      <p:sp>
        <p:nvSpPr>
          <p:cNvPr id="3" name="Content Placeholder 2">
            <a:extLst>
              <a:ext uri="{FF2B5EF4-FFF2-40B4-BE49-F238E27FC236}">
                <a16:creationId xmlns:a16="http://schemas.microsoft.com/office/drawing/2014/main" id="{2E4D7A34-98EE-BA62-09F5-DEE71CC38968}"/>
              </a:ext>
            </a:extLst>
          </p:cNvPr>
          <p:cNvSpPr>
            <a:spLocks noGrp="1"/>
          </p:cNvSpPr>
          <p:nvPr>
            <p:ph sz="half" idx="1"/>
          </p:nvPr>
        </p:nvSpPr>
        <p:spPr>
          <a:xfrm>
            <a:off x="0" y="1088571"/>
            <a:ext cx="5442856" cy="5769429"/>
          </a:xfrm>
        </p:spPr>
        <p:txBody>
          <a:bodyPr>
            <a:normAutofit fontScale="62500" lnSpcReduction="20000"/>
          </a:bodyPr>
          <a:lstStyle/>
          <a:p>
            <a:pPr algn="just"/>
            <a:r>
              <a:rPr lang="en-IN" dirty="0">
                <a:latin typeface="Times New Roman" panose="02020603050405020304" pitchFamily="18" charset="0"/>
                <a:cs typeface="Times New Roman" panose="02020603050405020304" pitchFamily="18" charset="0"/>
              </a:rPr>
              <a:t>The average employee count is </a:t>
            </a:r>
            <a:r>
              <a:rPr lang="en-IN" b="1" dirty="0">
                <a:latin typeface="Times New Roman" panose="02020603050405020304" pitchFamily="18" charset="0"/>
                <a:cs typeface="Times New Roman" panose="02020603050405020304" pitchFamily="18" charset="0"/>
              </a:rPr>
              <a:t>2,606</a:t>
            </a:r>
            <a:r>
              <a:rPr lang="en-IN" dirty="0">
                <a:latin typeface="Times New Roman" panose="02020603050405020304" pitchFamily="18" charset="0"/>
                <a:cs typeface="Times New Roman" panose="02020603050405020304" pitchFamily="18" charset="0"/>
              </a:rPr>
              <a:t>, with a median of </a:t>
            </a:r>
            <a:r>
              <a:rPr lang="en-IN" b="1" dirty="0">
                <a:latin typeface="Times New Roman" panose="02020603050405020304" pitchFamily="18" charset="0"/>
                <a:cs typeface="Times New Roman" panose="02020603050405020304" pitchFamily="18" charset="0"/>
              </a:rPr>
              <a:t>2,587</a:t>
            </a:r>
            <a:r>
              <a:rPr lang="en-IN" dirty="0">
                <a:latin typeface="Times New Roman" panose="02020603050405020304" pitchFamily="18" charset="0"/>
                <a:cs typeface="Times New Roman" panose="02020603050405020304" pitchFamily="18" charset="0"/>
              </a:rPr>
              <a:t>, indicating a highly balanced workforce distribution across companies.</a:t>
            </a:r>
          </a:p>
          <a:p>
            <a:pPr algn="just"/>
            <a:r>
              <a:rPr lang="en-IN" dirty="0">
                <a:latin typeface="Times New Roman" panose="02020603050405020304" pitchFamily="18" charset="0"/>
                <a:cs typeface="Times New Roman" panose="02020603050405020304" pitchFamily="18" charset="0"/>
              </a:rPr>
              <a:t> Employee count shows a </a:t>
            </a:r>
            <a:r>
              <a:rPr lang="en-IN" b="1" dirty="0">
                <a:latin typeface="Times New Roman" panose="02020603050405020304" pitchFamily="18" charset="0"/>
                <a:cs typeface="Times New Roman" panose="02020603050405020304" pitchFamily="18" charset="0"/>
              </a:rPr>
              <a:t>54.9% coefficient of variation</a:t>
            </a:r>
            <a:r>
              <a:rPr lang="en-IN" dirty="0">
                <a:latin typeface="Times New Roman" panose="02020603050405020304" pitchFamily="18" charset="0"/>
                <a:cs typeface="Times New Roman" panose="02020603050405020304" pitchFamily="18" charset="0"/>
              </a:rPr>
              <a:t>, reflecting moderate diversity in organizational size.</a:t>
            </a:r>
          </a:p>
          <a:p>
            <a:pPr algn="just"/>
            <a:r>
              <a:rPr lang="en-IN" dirty="0">
                <a:latin typeface="Times New Roman" panose="02020603050405020304" pitchFamily="18" charset="0"/>
                <a:cs typeface="Times New Roman" panose="02020603050405020304" pitchFamily="18" charset="0"/>
              </a:rPr>
              <a:t> Revenue distribution is spread across a wide range, suggesting the presence of both small and large revenue-generating firms. </a:t>
            </a:r>
          </a:p>
          <a:p>
            <a:pPr algn="just"/>
            <a:r>
              <a:rPr lang="en-IN" dirty="0">
                <a:latin typeface="Times New Roman" panose="02020603050405020304" pitchFamily="18" charset="0"/>
                <a:cs typeface="Times New Roman" panose="02020603050405020304" pitchFamily="18" charset="0"/>
              </a:rPr>
              <a:t>Profit margins vary considerably, indicating differences in operational efficiency and business performance. </a:t>
            </a:r>
          </a:p>
          <a:p>
            <a:pPr algn="just"/>
            <a:r>
              <a:rPr lang="en-IN" dirty="0">
                <a:latin typeface="Times New Roman" panose="02020603050405020304" pitchFamily="18" charset="0"/>
                <a:cs typeface="Times New Roman" panose="02020603050405020304" pitchFamily="18" charset="0"/>
              </a:rPr>
              <a:t>Companies were established consistently between </a:t>
            </a:r>
            <a:r>
              <a:rPr lang="en-IN" b="1" dirty="0">
                <a:latin typeface="Times New Roman" panose="02020603050405020304" pitchFamily="18" charset="0"/>
                <a:cs typeface="Times New Roman" panose="02020603050405020304" pitchFamily="18" charset="0"/>
              </a:rPr>
              <a:t>1990 and 2020</a:t>
            </a:r>
            <a:r>
              <a:rPr lang="en-IN" dirty="0">
                <a:latin typeface="Times New Roman" panose="02020603050405020304" pitchFamily="18" charset="0"/>
                <a:cs typeface="Times New Roman" panose="02020603050405020304" pitchFamily="18" charset="0"/>
              </a:rPr>
              <a:t>, showing a healthy mix of mature and emerging organizations.</a:t>
            </a:r>
          </a:p>
          <a:p>
            <a:pPr algn="just"/>
            <a:r>
              <a:rPr lang="en-IN" dirty="0">
                <a:latin typeface="Times New Roman" panose="02020603050405020304" pitchFamily="18" charset="0"/>
                <a:cs typeface="Times New Roman" panose="02020603050405020304" pitchFamily="18" charset="0"/>
              </a:rPr>
              <a:t> Customer count demonstrates the highest variability, with a maximum exceeding </a:t>
            </a:r>
            <a:r>
              <a:rPr lang="en-IN" b="1" dirty="0">
                <a:latin typeface="Times New Roman" panose="02020603050405020304" pitchFamily="18" charset="0"/>
                <a:cs typeface="Times New Roman" panose="02020603050405020304" pitchFamily="18" charset="0"/>
              </a:rPr>
              <a:t>100,000 customers</a:t>
            </a:r>
            <a:r>
              <a:rPr lang="en-IN" dirty="0">
                <a:latin typeface="Times New Roman" panose="02020603050405020304" pitchFamily="18" charset="0"/>
                <a:cs typeface="Times New Roman" panose="02020603050405020304" pitchFamily="18" charset="0"/>
              </a:rPr>
              <a:t>, highlighting significant differences in market reach. </a:t>
            </a:r>
          </a:p>
          <a:p>
            <a:pPr algn="just"/>
            <a:r>
              <a:rPr lang="en-IN" dirty="0">
                <a:latin typeface="Times New Roman" panose="02020603050405020304" pitchFamily="18" charset="0"/>
                <a:cs typeface="Times New Roman" panose="02020603050405020304" pitchFamily="18" charset="0"/>
              </a:rPr>
              <a:t>The employee count distribution is nearly symmetrical (</a:t>
            </a:r>
            <a:r>
              <a:rPr lang="en-IN" b="1" dirty="0">
                <a:latin typeface="Times New Roman" panose="02020603050405020304" pitchFamily="18" charset="0"/>
                <a:cs typeface="Times New Roman" panose="02020603050405020304" pitchFamily="18" charset="0"/>
              </a:rPr>
              <a:t>Skewness = 0.00</a:t>
            </a:r>
            <a:r>
              <a:rPr lang="en-IN" dirty="0">
                <a:latin typeface="Times New Roman" panose="02020603050405020304" pitchFamily="18" charset="0"/>
                <a:cs typeface="Times New Roman" panose="02020603050405020304" pitchFamily="18" charset="0"/>
              </a:rPr>
              <a:t>), indicating no major bias toward smaller or larger companies. </a:t>
            </a:r>
          </a:p>
          <a:p>
            <a:pPr algn="just"/>
            <a:r>
              <a:rPr lang="en-IN" dirty="0">
                <a:latin typeface="Times New Roman" panose="02020603050405020304" pitchFamily="18" charset="0"/>
                <a:cs typeface="Times New Roman" panose="02020603050405020304" pitchFamily="18" charset="0"/>
              </a:rPr>
              <a:t>A negative kurtosis value (</a:t>
            </a:r>
            <a:r>
              <a:rPr lang="en-IN" b="1" dirty="0">
                <a:latin typeface="Times New Roman" panose="02020603050405020304" pitchFamily="18" charset="0"/>
                <a:cs typeface="Times New Roman" panose="02020603050405020304" pitchFamily="18" charset="0"/>
              </a:rPr>
              <a:t>-1.19</a:t>
            </a:r>
            <a:r>
              <a:rPr lang="en-IN" dirty="0">
                <a:latin typeface="Times New Roman" panose="02020603050405020304" pitchFamily="18" charset="0"/>
                <a:cs typeface="Times New Roman" panose="02020603050405020304" pitchFamily="18" charset="0"/>
              </a:rPr>
              <a:t>) suggests fewer extreme values and a flatter distribution than a normal curve.</a:t>
            </a:r>
          </a:p>
        </p:txBody>
      </p:sp>
      <p:pic>
        <p:nvPicPr>
          <p:cNvPr id="6" name="Content Placeholder 5">
            <a:extLst>
              <a:ext uri="{FF2B5EF4-FFF2-40B4-BE49-F238E27FC236}">
                <a16:creationId xmlns:a16="http://schemas.microsoft.com/office/drawing/2014/main" id="{68B33FBD-60BF-C9E1-66CE-1107B5919FE2}"/>
              </a:ext>
            </a:extLst>
          </p:cNvPr>
          <p:cNvPicPr>
            <a:picLocks noGrp="1" noChangeAspect="1"/>
          </p:cNvPicPr>
          <p:nvPr>
            <p:ph sz="half" idx="2"/>
          </p:nvPr>
        </p:nvPicPr>
        <p:blipFill>
          <a:blip r:embed="rId2"/>
          <a:srcRect t="31177"/>
          <a:stretch>
            <a:fillRect/>
          </a:stretch>
        </p:blipFill>
        <p:spPr>
          <a:xfrm rot="5400000">
            <a:off x="3864429" y="1578428"/>
            <a:ext cx="6857998" cy="3701144"/>
          </a:xfrm>
          <a:prstGeom prst="rect">
            <a:avLst/>
          </a:prstGeom>
        </p:spPr>
      </p:pic>
    </p:spTree>
    <p:extLst>
      <p:ext uri="{BB962C8B-B14F-4D97-AF65-F5344CB8AC3E}">
        <p14:creationId xmlns:p14="http://schemas.microsoft.com/office/powerpoint/2010/main" val="18973028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Object"/>
      </p:transition>
    </mc:Choice>
    <mc:Fallback xmlns="">
      <p:transition spd="slow" advClick="0" advTm="1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22587ECF-85E9-4393-9D87-8EB6F3F6C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itle 12">
            <a:extLst>
              <a:ext uri="{FF2B5EF4-FFF2-40B4-BE49-F238E27FC236}">
                <a16:creationId xmlns:a16="http://schemas.microsoft.com/office/drawing/2014/main" id="{635356AE-44ED-3906-2C88-C787DDBD7E35}"/>
              </a:ext>
            </a:extLst>
          </p:cNvPr>
          <p:cNvSpPr>
            <a:spLocks noGrp="1"/>
          </p:cNvSpPr>
          <p:nvPr>
            <p:ph type="title"/>
          </p:nvPr>
        </p:nvSpPr>
        <p:spPr>
          <a:xfrm>
            <a:off x="1" y="4"/>
            <a:ext cx="5720312" cy="826262"/>
          </a:xfrm>
        </p:spPr>
        <p:txBody>
          <a:bodyPr vert="horz" lIns="91440" tIns="45720" rIns="91440" bIns="45720" rtlCol="0" anchor="ctr">
            <a:normAutofit/>
          </a:bodyPr>
          <a:lstStyle/>
          <a:p>
            <a:pPr defTabSz="914400">
              <a:lnSpc>
                <a:spcPct val="90000"/>
              </a:lnSpc>
            </a:pPr>
            <a:r>
              <a:rPr lang="en-US" sz="3500" kern="1200" dirty="0">
                <a:solidFill>
                  <a:schemeClr val="tx1"/>
                </a:solidFill>
                <a:latin typeface="+mj-lt"/>
                <a:ea typeface="+mj-ea"/>
                <a:cs typeface="+mj-cs"/>
              </a:rPr>
              <a:t>Bivariable Insights</a:t>
            </a:r>
          </a:p>
        </p:txBody>
      </p:sp>
      <p:sp>
        <p:nvSpPr>
          <p:cNvPr id="14" name="Content Placeholder 13">
            <a:extLst>
              <a:ext uri="{FF2B5EF4-FFF2-40B4-BE49-F238E27FC236}">
                <a16:creationId xmlns:a16="http://schemas.microsoft.com/office/drawing/2014/main" id="{B94AA64D-ED6E-8A82-26CC-E99DD4976F8E}"/>
              </a:ext>
            </a:extLst>
          </p:cNvPr>
          <p:cNvSpPr>
            <a:spLocks noGrp="1"/>
          </p:cNvSpPr>
          <p:nvPr>
            <p:ph sz="half" idx="2"/>
          </p:nvPr>
        </p:nvSpPr>
        <p:spPr>
          <a:xfrm>
            <a:off x="1" y="826265"/>
            <a:ext cx="5720313" cy="6031732"/>
          </a:xfrm>
        </p:spPr>
        <p:txBody>
          <a:bodyPr vert="horz" lIns="91440" tIns="45720" rIns="91440" bIns="45720" rtlCol="0">
            <a:normAutofit fontScale="92500" lnSpcReduction="20000"/>
          </a:bodyPr>
          <a:lstStyle/>
          <a:p>
            <a:pPr algn="just"/>
            <a:r>
              <a:rPr lang="en-IN" sz="1800" dirty="0">
                <a:latin typeface="Times New Roman" panose="02020603050405020304" pitchFamily="18" charset="0"/>
                <a:cs typeface="Times New Roman" panose="02020603050405020304" pitchFamily="18" charset="0"/>
              </a:rPr>
              <a:t>A total of </a:t>
            </a:r>
            <a:r>
              <a:rPr lang="en-IN" sz="1800" b="1" dirty="0">
                <a:latin typeface="Times New Roman" panose="02020603050405020304" pitchFamily="18" charset="0"/>
                <a:cs typeface="Times New Roman" panose="02020603050405020304" pitchFamily="18" charset="0"/>
              </a:rPr>
              <a:t>21 relationships</a:t>
            </a:r>
            <a:r>
              <a:rPr lang="en-IN" sz="1800" dirty="0">
                <a:latin typeface="Times New Roman" panose="02020603050405020304" pitchFamily="18" charset="0"/>
                <a:cs typeface="Times New Roman" panose="02020603050405020304" pitchFamily="18" charset="0"/>
              </a:rPr>
              <a:t> were </a:t>
            </a:r>
            <a:r>
              <a:rPr lang="en-IN" sz="1800" dirty="0" err="1">
                <a:latin typeface="Times New Roman" panose="02020603050405020304" pitchFamily="18" charset="0"/>
                <a:cs typeface="Times New Roman" panose="02020603050405020304" pitchFamily="18" charset="0"/>
              </a:rPr>
              <a:t>analyzed</a:t>
            </a:r>
            <a:r>
              <a:rPr lang="en-IN" sz="1800" dirty="0">
                <a:latin typeface="Times New Roman" panose="02020603050405020304" pitchFamily="18" charset="0"/>
                <a:cs typeface="Times New Roman" panose="02020603050405020304" pitchFamily="18" charset="0"/>
              </a:rPr>
              <a:t> across 7 numerical business variables and </a:t>
            </a:r>
            <a:r>
              <a:rPr lang="en-IN" sz="1800" b="1" dirty="0">
                <a:latin typeface="Times New Roman" panose="02020603050405020304" pitchFamily="18" charset="0"/>
                <a:cs typeface="Times New Roman" panose="02020603050405020304" pitchFamily="18" charset="0"/>
              </a:rPr>
              <a:t>15,000</a:t>
            </a:r>
            <a:r>
              <a:rPr lang="en-IN" sz="1800" dirty="0">
                <a:latin typeface="Times New Roman" panose="02020603050405020304" pitchFamily="18" charset="0"/>
                <a:cs typeface="Times New Roman" panose="02020603050405020304" pitchFamily="18" charset="0"/>
              </a:rPr>
              <a:t> company records.</a:t>
            </a:r>
          </a:p>
          <a:p>
            <a:pPr algn="just"/>
            <a:r>
              <a:rPr lang="en-IN" sz="1800" dirty="0">
                <a:latin typeface="Times New Roman" panose="02020603050405020304" pitchFamily="18" charset="0"/>
                <a:cs typeface="Times New Roman" panose="02020603050405020304" pitchFamily="18" charset="0"/>
              </a:rPr>
              <a:t> Scatter plots revealed a wide dispersion of observations, indicating that companies operate across diverse business conditions and performance levels.</a:t>
            </a:r>
          </a:p>
          <a:p>
            <a:pPr algn="just"/>
            <a:r>
              <a:rPr lang="en-IN" sz="1800" dirty="0">
                <a:latin typeface="Times New Roman" panose="02020603050405020304" pitchFamily="18" charset="0"/>
                <a:cs typeface="Times New Roman" panose="02020603050405020304" pitchFamily="18" charset="0"/>
              </a:rPr>
              <a:t> Most variable pairs did not form </a:t>
            </a:r>
            <a:r>
              <a:rPr lang="en-IN" sz="1800" b="1" dirty="0">
                <a:latin typeface="Times New Roman" panose="02020603050405020304" pitchFamily="18" charset="0"/>
                <a:cs typeface="Times New Roman" panose="02020603050405020304" pitchFamily="18" charset="0"/>
              </a:rPr>
              <a:t>clear linear patterns</a:t>
            </a:r>
            <a:r>
              <a:rPr lang="en-IN" sz="1800" dirty="0">
                <a:latin typeface="Times New Roman" panose="02020603050405020304" pitchFamily="18" charset="0"/>
                <a:cs typeface="Times New Roman" panose="02020603050405020304" pitchFamily="18" charset="0"/>
              </a:rPr>
              <a:t>, suggesting that business performance is influenced by multiple independent factors rather than a single dominant metric.</a:t>
            </a:r>
          </a:p>
          <a:p>
            <a:pPr algn="just"/>
            <a:r>
              <a:rPr lang="en-IN" sz="1800" dirty="0">
                <a:latin typeface="Times New Roman" panose="02020603050405020304" pitchFamily="18" charset="0"/>
                <a:cs typeface="Times New Roman" panose="02020603050405020304" pitchFamily="18" charset="0"/>
              </a:rPr>
              <a:t> </a:t>
            </a:r>
            <a:r>
              <a:rPr lang="en-IN" sz="1800" b="1" dirty="0">
                <a:latin typeface="Times New Roman" panose="02020603050405020304" pitchFamily="18" charset="0"/>
                <a:cs typeface="Times New Roman" panose="02020603050405020304" pitchFamily="18" charset="0"/>
              </a:rPr>
              <a:t>Regression plots </a:t>
            </a:r>
            <a:r>
              <a:rPr lang="en-IN" sz="1800" dirty="0">
                <a:latin typeface="Times New Roman" panose="02020603050405020304" pitchFamily="18" charset="0"/>
                <a:cs typeface="Times New Roman" panose="02020603050405020304" pitchFamily="18" charset="0"/>
              </a:rPr>
              <a:t>showed relatively </a:t>
            </a:r>
            <a:r>
              <a:rPr lang="en-IN" sz="1800" b="1" dirty="0">
                <a:latin typeface="Times New Roman" panose="02020603050405020304" pitchFamily="18" charset="0"/>
                <a:cs typeface="Times New Roman" panose="02020603050405020304" pitchFamily="18" charset="0"/>
              </a:rPr>
              <a:t>stable trend lines </a:t>
            </a:r>
            <a:r>
              <a:rPr lang="en-IN" sz="1800" dirty="0">
                <a:latin typeface="Times New Roman" panose="02020603050405020304" pitchFamily="18" charset="0"/>
                <a:cs typeface="Times New Roman" panose="02020603050405020304" pitchFamily="18" charset="0"/>
              </a:rPr>
              <a:t>with </a:t>
            </a:r>
            <a:r>
              <a:rPr lang="en-IN" sz="1800" b="1" dirty="0">
                <a:latin typeface="Times New Roman" panose="02020603050405020304" pitchFamily="18" charset="0"/>
                <a:cs typeface="Times New Roman" panose="02020603050405020304" pitchFamily="18" charset="0"/>
              </a:rPr>
              <a:t>limited steepness</a:t>
            </a:r>
            <a:r>
              <a:rPr lang="en-IN" sz="1800" dirty="0">
                <a:latin typeface="Times New Roman" panose="02020603050405020304" pitchFamily="18" charset="0"/>
                <a:cs typeface="Times New Roman" panose="02020603050405020304" pitchFamily="18" charset="0"/>
              </a:rPr>
              <a:t>, confirming the absence of strong linear dependencies among major variables.</a:t>
            </a:r>
          </a:p>
          <a:p>
            <a:pPr algn="just"/>
            <a:r>
              <a:rPr lang="en-IN" sz="1800" b="1" dirty="0">
                <a:latin typeface="Times New Roman" panose="02020603050405020304" pitchFamily="18" charset="0"/>
                <a:cs typeface="Times New Roman" panose="02020603050405020304" pitchFamily="18" charset="0"/>
              </a:rPr>
              <a:t> </a:t>
            </a:r>
            <a:r>
              <a:rPr lang="en-IN" sz="1800" b="1" dirty="0" err="1">
                <a:latin typeface="Times New Roman" panose="02020603050405020304" pitchFamily="18" charset="0"/>
                <a:cs typeface="Times New Roman" panose="02020603050405020304" pitchFamily="18" charset="0"/>
              </a:rPr>
              <a:t>Hexbin</a:t>
            </a:r>
            <a:r>
              <a:rPr lang="en-IN" sz="1800" b="1" dirty="0">
                <a:latin typeface="Times New Roman" panose="02020603050405020304" pitchFamily="18" charset="0"/>
                <a:cs typeface="Times New Roman" panose="02020603050405020304" pitchFamily="18" charset="0"/>
              </a:rPr>
              <a:t> density plots </a:t>
            </a:r>
            <a:r>
              <a:rPr lang="en-IN" sz="1800" dirty="0">
                <a:latin typeface="Times New Roman" panose="02020603050405020304" pitchFamily="18" charset="0"/>
                <a:cs typeface="Times New Roman" panose="02020603050405020304" pitchFamily="18" charset="0"/>
              </a:rPr>
              <a:t>identified </a:t>
            </a:r>
            <a:r>
              <a:rPr lang="en-IN" sz="1800" b="1" dirty="0">
                <a:latin typeface="Times New Roman" panose="02020603050405020304" pitchFamily="18" charset="0"/>
                <a:cs typeface="Times New Roman" panose="02020603050405020304" pitchFamily="18" charset="0"/>
              </a:rPr>
              <a:t>high-concentration zones </a:t>
            </a:r>
            <a:r>
              <a:rPr lang="en-IN" sz="1800" dirty="0">
                <a:latin typeface="Times New Roman" panose="02020603050405020304" pitchFamily="18" charset="0"/>
                <a:cs typeface="Times New Roman" panose="02020603050405020304" pitchFamily="18" charset="0"/>
              </a:rPr>
              <a:t>where the majority of companies are clustered, while a </a:t>
            </a:r>
            <a:r>
              <a:rPr lang="en-IN" sz="1800" b="1" dirty="0">
                <a:latin typeface="Times New Roman" panose="02020603050405020304" pitchFamily="18" charset="0"/>
                <a:cs typeface="Times New Roman" panose="02020603050405020304" pitchFamily="18" charset="0"/>
              </a:rPr>
              <a:t>smaller proportion </a:t>
            </a:r>
            <a:r>
              <a:rPr lang="en-IN" sz="1800" dirty="0">
                <a:latin typeface="Times New Roman" panose="02020603050405020304" pitchFamily="18" charset="0"/>
                <a:cs typeface="Times New Roman" panose="02020603050405020304" pitchFamily="18" charset="0"/>
              </a:rPr>
              <a:t>of organizations exist at </a:t>
            </a:r>
            <a:r>
              <a:rPr lang="en-IN" sz="1800" b="1" dirty="0">
                <a:latin typeface="Times New Roman" panose="02020603050405020304" pitchFamily="18" charset="0"/>
                <a:cs typeface="Times New Roman" panose="02020603050405020304" pitchFamily="18" charset="0"/>
              </a:rPr>
              <a:t>extreme values.</a:t>
            </a:r>
          </a:p>
          <a:p>
            <a:pPr algn="just"/>
            <a:r>
              <a:rPr lang="en-IN" sz="1800" dirty="0">
                <a:latin typeface="Times New Roman" panose="02020603050405020304" pitchFamily="18" charset="0"/>
                <a:cs typeface="Times New Roman" panose="02020603050405020304" pitchFamily="18" charset="0"/>
              </a:rPr>
              <a:t> </a:t>
            </a:r>
            <a:r>
              <a:rPr lang="en-IN" sz="1800" b="1" dirty="0">
                <a:latin typeface="Times New Roman" panose="02020603050405020304" pitchFamily="18" charset="0"/>
                <a:cs typeface="Times New Roman" panose="02020603050405020304" pitchFamily="18" charset="0"/>
              </a:rPr>
              <a:t>Density plots </a:t>
            </a:r>
            <a:r>
              <a:rPr lang="en-IN" sz="1800" dirty="0">
                <a:latin typeface="Times New Roman" panose="02020603050405020304" pitchFamily="18" charset="0"/>
                <a:cs typeface="Times New Roman" panose="02020603050405020304" pitchFamily="18" charset="0"/>
              </a:rPr>
              <a:t>highlighted that most businesses operate within </a:t>
            </a:r>
            <a:r>
              <a:rPr lang="en-IN" sz="1800" b="1" dirty="0">
                <a:latin typeface="Times New Roman" panose="02020603050405020304" pitchFamily="18" charset="0"/>
                <a:cs typeface="Times New Roman" panose="02020603050405020304" pitchFamily="18" charset="0"/>
              </a:rPr>
              <a:t>moderate ranges of revenue, employee count, profitability, and customer base </a:t>
            </a:r>
            <a:r>
              <a:rPr lang="en-IN" sz="1800" dirty="0">
                <a:latin typeface="Times New Roman" panose="02020603050405020304" pitchFamily="18" charset="0"/>
                <a:cs typeface="Times New Roman" panose="02020603050405020304" pitchFamily="18" charset="0"/>
              </a:rPr>
              <a:t>rather than at the extremes.</a:t>
            </a:r>
          </a:p>
          <a:p>
            <a:pPr algn="just"/>
            <a:r>
              <a:rPr lang="en-IN" sz="1800" dirty="0">
                <a:latin typeface="Times New Roman" panose="02020603050405020304" pitchFamily="18" charset="0"/>
                <a:cs typeface="Times New Roman" panose="02020603050405020304" pitchFamily="18" charset="0"/>
              </a:rPr>
              <a:t>Several outliers were visible in scatter and density plots, indicating the presence of exceptionally large, highly profitable, or highly rated companies.</a:t>
            </a:r>
          </a:p>
          <a:p>
            <a:pPr algn="just"/>
            <a:r>
              <a:rPr lang="en-IN" sz="1800" dirty="0">
                <a:latin typeface="Times New Roman" panose="02020603050405020304" pitchFamily="18" charset="0"/>
                <a:cs typeface="Times New Roman" panose="02020603050405020304" pitchFamily="18" charset="0"/>
              </a:rPr>
              <a:t> Correlation analysis showed weak relationships across most variable pairs, implying low multicollinearity within the dataset.</a:t>
            </a:r>
          </a:p>
        </p:txBody>
      </p:sp>
      <p:pic>
        <p:nvPicPr>
          <p:cNvPr id="5" name="Content Placeholder 4">
            <a:extLst>
              <a:ext uri="{FF2B5EF4-FFF2-40B4-BE49-F238E27FC236}">
                <a16:creationId xmlns:a16="http://schemas.microsoft.com/office/drawing/2014/main" id="{A9291AF7-0207-C8E7-2E0B-B91B018FA932}"/>
              </a:ext>
            </a:extLst>
          </p:cNvPr>
          <p:cNvPicPr>
            <a:picLocks noGrp="1" noChangeAspect="1"/>
          </p:cNvPicPr>
          <p:nvPr>
            <p:ph sz="half" idx="1"/>
          </p:nvPr>
        </p:nvPicPr>
        <p:blipFill>
          <a:blip r:embed="rId2"/>
          <a:srcRect t="5024"/>
          <a:stretch>
            <a:fillRect/>
          </a:stretch>
        </p:blipFill>
        <p:spPr>
          <a:xfrm rot="5400000">
            <a:off x="4002013" y="1718307"/>
            <a:ext cx="6858001" cy="3421398"/>
          </a:xfrm>
          <a:prstGeom prst="rect">
            <a:avLst/>
          </a:prstGeom>
        </p:spPr>
      </p:pic>
    </p:spTree>
    <p:extLst>
      <p:ext uri="{BB962C8B-B14F-4D97-AF65-F5344CB8AC3E}">
        <p14:creationId xmlns:p14="http://schemas.microsoft.com/office/powerpoint/2010/main" val="14400072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7579AC18-BE4A-F9E0-FD3F-A0FA5FA940DC}"/>
              </a:ext>
            </a:extLst>
          </p:cNvPr>
          <p:cNvSpPr>
            <a:spLocks noGrp="1"/>
          </p:cNvSpPr>
          <p:nvPr>
            <p:ph type="title"/>
          </p:nvPr>
        </p:nvSpPr>
        <p:spPr>
          <a:xfrm>
            <a:off x="0" y="0"/>
            <a:ext cx="4495800" cy="1417638"/>
          </a:xfrm>
        </p:spPr>
        <p:txBody>
          <a:bodyPr>
            <a:normAutofit/>
          </a:bodyPr>
          <a:lstStyle/>
          <a:p>
            <a:r>
              <a:rPr lang="en-US" sz="3600" dirty="0">
                <a:latin typeface="Times New Roman" panose="02020603050405020304" pitchFamily="18" charset="0"/>
                <a:cs typeface="Times New Roman" panose="02020603050405020304" pitchFamily="18" charset="0"/>
              </a:rPr>
              <a:t>Multivariable Insights</a:t>
            </a:r>
            <a:endParaRPr lang="en-IN" sz="3600" dirty="0">
              <a:latin typeface="Times New Roman" panose="02020603050405020304" pitchFamily="18" charset="0"/>
              <a:cs typeface="Times New Roman" panose="02020603050405020304" pitchFamily="18" charset="0"/>
            </a:endParaRPr>
          </a:p>
        </p:txBody>
      </p:sp>
      <p:sp>
        <p:nvSpPr>
          <p:cNvPr id="10" name="Content Placeholder 9">
            <a:extLst>
              <a:ext uri="{FF2B5EF4-FFF2-40B4-BE49-F238E27FC236}">
                <a16:creationId xmlns:a16="http://schemas.microsoft.com/office/drawing/2014/main" id="{DABC2C5B-2A88-C1CD-8401-4E3BB8C005D2}"/>
              </a:ext>
            </a:extLst>
          </p:cNvPr>
          <p:cNvSpPr>
            <a:spLocks noGrp="1"/>
          </p:cNvSpPr>
          <p:nvPr>
            <p:ph sz="half" idx="1"/>
          </p:nvPr>
        </p:nvSpPr>
        <p:spPr>
          <a:xfrm>
            <a:off x="0" y="1190847"/>
            <a:ext cx="4880344" cy="5667153"/>
          </a:xfrm>
        </p:spPr>
        <p:txBody>
          <a:bodyPr>
            <a:normAutofit lnSpcReduction="10000"/>
          </a:bodyPr>
          <a:lstStyle/>
          <a:p>
            <a:pPr algn="just"/>
            <a:r>
              <a:rPr lang="en-IN" sz="2000" dirty="0" err="1"/>
              <a:t>Analyzed</a:t>
            </a:r>
            <a:r>
              <a:rPr lang="en-IN" sz="2000" dirty="0"/>
              <a:t> </a:t>
            </a:r>
            <a:r>
              <a:rPr lang="en-IN" sz="2000" b="1" dirty="0"/>
              <a:t>15,000 business records</a:t>
            </a:r>
            <a:r>
              <a:rPr lang="en-IN" sz="2000" dirty="0"/>
              <a:t> across Revenue, Profit Margin, Customer Count, Employee Count, and Market Rating. </a:t>
            </a:r>
          </a:p>
          <a:p>
            <a:pPr algn="just"/>
            <a:r>
              <a:rPr lang="en-IN" sz="2000" dirty="0"/>
              <a:t>The strongest relationship was between </a:t>
            </a:r>
            <a:r>
              <a:rPr lang="en-IN" sz="2000" b="1" dirty="0"/>
              <a:t>Annual Revenue and Market Rating.</a:t>
            </a:r>
            <a:endParaRPr lang="en-IN" sz="2000" dirty="0"/>
          </a:p>
          <a:p>
            <a:pPr algn="just"/>
            <a:r>
              <a:rPr lang="en-IN" sz="2000" dirty="0"/>
              <a:t>All variables showed a normalized average score of approximately </a:t>
            </a:r>
            <a:r>
              <a:rPr lang="en-IN" sz="2000" b="1" dirty="0"/>
              <a:t>0.50</a:t>
            </a:r>
            <a:r>
              <a:rPr lang="en-IN" sz="2000" dirty="0"/>
              <a:t>, indicating a balanced dataset. </a:t>
            </a:r>
          </a:p>
          <a:p>
            <a:pPr algn="just"/>
            <a:r>
              <a:rPr lang="en-IN" sz="2000" dirty="0"/>
              <a:t>Customer Count, Revenue, and Profit Margin exhibited independent </a:t>
            </a:r>
            <a:r>
              <a:rPr lang="en-IN" sz="2000" dirty="0" err="1"/>
              <a:t>behavior</a:t>
            </a:r>
            <a:r>
              <a:rPr lang="en-IN" sz="2000" dirty="0"/>
              <a:t> with no dominant driver. </a:t>
            </a:r>
          </a:p>
          <a:p>
            <a:pPr algn="just"/>
            <a:r>
              <a:rPr lang="en-IN" sz="2000" dirty="0"/>
              <a:t>Density and bubble charts revealed a well-distributed dataset without significant clustering. </a:t>
            </a:r>
          </a:p>
          <a:p>
            <a:pPr algn="just"/>
            <a:r>
              <a:rPr lang="en-IN" sz="2000" dirty="0"/>
              <a:t>Violin plots showed similar distribution patterns across all business metrics. No severe multicollinearity was observed among variables.</a:t>
            </a:r>
          </a:p>
        </p:txBody>
      </p:sp>
      <p:pic>
        <p:nvPicPr>
          <p:cNvPr id="12" name="Content Placeholder 11">
            <a:extLst>
              <a:ext uri="{FF2B5EF4-FFF2-40B4-BE49-F238E27FC236}">
                <a16:creationId xmlns:a16="http://schemas.microsoft.com/office/drawing/2014/main" id="{E170F3AD-0396-F3EB-4C18-04F09BD5B607}"/>
              </a:ext>
            </a:extLst>
          </p:cNvPr>
          <p:cNvPicPr>
            <a:picLocks noGrp="1" noChangeAspect="1"/>
          </p:cNvPicPr>
          <p:nvPr>
            <p:ph sz="half" idx="2"/>
          </p:nvPr>
        </p:nvPicPr>
        <p:blipFill>
          <a:blip r:embed="rId2"/>
          <a:srcRect t="10430" b="9896"/>
          <a:stretch>
            <a:fillRect/>
          </a:stretch>
        </p:blipFill>
        <p:spPr>
          <a:xfrm rot="5400000">
            <a:off x="3583169" y="1297176"/>
            <a:ext cx="6858003" cy="4263655"/>
          </a:xfrm>
          <a:prstGeom prst="rect">
            <a:avLst/>
          </a:prstGeom>
        </p:spPr>
      </p:pic>
    </p:spTree>
    <p:extLst>
      <p:ext uri="{BB962C8B-B14F-4D97-AF65-F5344CB8AC3E}">
        <p14:creationId xmlns:p14="http://schemas.microsoft.com/office/powerpoint/2010/main" val="29560972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6897DEB4-4A88-4293-A935-9B25506C15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36">
            <a:extLst>
              <a:ext uri="{FF2B5EF4-FFF2-40B4-BE49-F238E27FC236}">
                <a16:creationId xmlns:a16="http://schemas.microsoft.com/office/drawing/2014/main" id="{FBE42BC3-6707-4CBF-9386-048B994A4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90414" y="0"/>
            <a:ext cx="5653586" cy="6858000"/>
          </a:xfrm>
          <a:custGeom>
            <a:avLst/>
            <a:gdLst>
              <a:gd name="connsiteX0" fmla="*/ 366246 w 7538114"/>
              <a:gd name="connsiteY0" fmla="*/ 0 h 6858000"/>
              <a:gd name="connsiteX1" fmla="*/ 2830292 w 7538114"/>
              <a:gd name="connsiteY1" fmla="*/ 0 h 6858000"/>
              <a:gd name="connsiteX2" fmla="*/ 3903260 w 7538114"/>
              <a:gd name="connsiteY2" fmla="*/ 0 h 6858000"/>
              <a:gd name="connsiteX3" fmla="*/ 4597266 w 7538114"/>
              <a:gd name="connsiteY3" fmla="*/ 0 h 6858000"/>
              <a:gd name="connsiteX4" fmla="*/ 7192370 w 7538114"/>
              <a:gd name="connsiteY4" fmla="*/ 0 h 6858000"/>
              <a:gd name="connsiteX5" fmla="*/ 7538114 w 7538114"/>
              <a:gd name="connsiteY5" fmla="*/ 0 h 6858000"/>
              <a:gd name="connsiteX6" fmla="*/ 7538114 w 7538114"/>
              <a:gd name="connsiteY6" fmla="*/ 6858000 h 6858000"/>
              <a:gd name="connsiteX7" fmla="*/ 7192370 w 7538114"/>
              <a:gd name="connsiteY7" fmla="*/ 6858000 h 6858000"/>
              <a:gd name="connsiteX8" fmla="*/ 4597266 w 7538114"/>
              <a:gd name="connsiteY8" fmla="*/ 6858000 h 6858000"/>
              <a:gd name="connsiteX9" fmla="*/ 3903260 w 7538114"/>
              <a:gd name="connsiteY9" fmla="*/ 6858000 h 6858000"/>
              <a:gd name="connsiteX10" fmla="*/ 2830292 w 7538114"/>
              <a:gd name="connsiteY10" fmla="*/ 6858000 h 6858000"/>
              <a:gd name="connsiteX11" fmla="*/ 170314 w 7538114"/>
              <a:gd name="connsiteY11" fmla="*/ 6858000 h 6858000"/>
              <a:gd name="connsiteX12" fmla="*/ 170341 w 7538114"/>
              <a:gd name="connsiteY12" fmla="*/ 6857759 h 6858000"/>
              <a:gd name="connsiteX13" fmla="*/ 173485 w 7538114"/>
              <a:gd name="connsiteY13" fmla="*/ 6852129 h 6858000"/>
              <a:gd name="connsiteX14" fmla="*/ 167544 w 7538114"/>
              <a:gd name="connsiteY14" fmla="*/ 6830335 h 6858000"/>
              <a:gd name="connsiteX15" fmla="*/ 163472 w 7538114"/>
              <a:gd name="connsiteY15" fmla="*/ 6796707 h 6858000"/>
              <a:gd name="connsiteX16" fmla="*/ 160535 w 7538114"/>
              <a:gd name="connsiteY16" fmla="*/ 6780725 h 6858000"/>
              <a:gd name="connsiteX17" fmla="*/ 162318 w 7538114"/>
              <a:gd name="connsiteY17" fmla="*/ 6767829 h 6858000"/>
              <a:gd name="connsiteX18" fmla="*/ 162771 w 7538114"/>
              <a:gd name="connsiteY18" fmla="*/ 6694444 h 6858000"/>
              <a:gd name="connsiteX19" fmla="*/ 165604 w 7538114"/>
              <a:gd name="connsiteY19" fmla="*/ 6677569 h 6858000"/>
              <a:gd name="connsiteX20" fmla="*/ 171255 w 7538114"/>
              <a:gd name="connsiteY20" fmla="*/ 6669571 h 6858000"/>
              <a:gd name="connsiteX21" fmla="*/ 169240 w 7538114"/>
              <a:gd name="connsiteY21" fmla="*/ 6663304 h 6858000"/>
              <a:gd name="connsiteX22" fmla="*/ 169039 w 7538114"/>
              <a:gd name="connsiteY22" fmla="*/ 6618916 h 6858000"/>
              <a:gd name="connsiteX23" fmla="*/ 168392 w 7538114"/>
              <a:gd name="connsiteY23" fmla="*/ 6589960 h 6858000"/>
              <a:gd name="connsiteX24" fmla="*/ 160636 w 7538114"/>
              <a:gd name="connsiteY24" fmla="*/ 6588200 h 6858000"/>
              <a:gd name="connsiteX25" fmla="*/ 157872 w 7538114"/>
              <a:gd name="connsiteY25" fmla="*/ 6562416 h 6858000"/>
              <a:gd name="connsiteX26" fmla="*/ 162851 w 7538114"/>
              <a:gd name="connsiteY26" fmla="*/ 6534939 h 6858000"/>
              <a:gd name="connsiteX27" fmla="*/ 162153 w 7538114"/>
              <a:gd name="connsiteY27" fmla="*/ 6502552 h 6858000"/>
              <a:gd name="connsiteX28" fmla="*/ 161821 w 7538114"/>
              <a:gd name="connsiteY28" fmla="*/ 6483172 h 6858000"/>
              <a:gd name="connsiteX29" fmla="*/ 154586 w 7538114"/>
              <a:gd name="connsiteY29" fmla="*/ 6432309 h 6858000"/>
              <a:gd name="connsiteX30" fmla="*/ 127078 w 7538114"/>
              <a:gd name="connsiteY30" fmla="*/ 6349783 h 6858000"/>
              <a:gd name="connsiteX31" fmla="*/ 123181 w 7538114"/>
              <a:gd name="connsiteY31" fmla="*/ 6323872 h 6858000"/>
              <a:gd name="connsiteX32" fmla="*/ 124767 w 7538114"/>
              <a:gd name="connsiteY32" fmla="*/ 6319343 h 6858000"/>
              <a:gd name="connsiteX33" fmla="*/ 108246 w 7538114"/>
              <a:gd name="connsiteY33" fmla="*/ 6190348 h 6858000"/>
              <a:gd name="connsiteX34" fmla="*/ 107279 w 7538114"/>
              <a:gd name="connsiteY34" fmla="*/ 6167269 h 6858000"/>
              <a:gd name="connsiteX35" fmla="*/ 107883 w 7538114"/>
              <a:gd name="connsiteY35" fmla="*/ 6149986 h 6858000"/>
              <a:gd name="connsiteX36" fmla="*/ 102380 w 7538114"/>
              <a:gd name="connsiteY36" fmla="*/ 6108622 h 6858000"/>
              <a:gd name="connsiteX37" fmla="*/ 90314 w 7538114"/>
              <a:gd name="connsiteY37" fmla="*/ 6041155 h 6858000"/>
              <a:gd name="connsiteX38" fmla="*/ 88409 w 7538114"/>
              <a:gd name="connsiteY38" fmla="*/ 6026587 h 6858000"/>
              <a:gd name="connsiteX39" fmla="*/ 89403 w 7538114"/>
              <a:gd name="connsiteY39" fmla="*/ 6013265 h 6858000"/>
              <a:gd name="connsiteX40" fmla="*/ 91927 w 7538114"/>
              <a:gd name="connsiteY40" fmla="*/ 6009478 h 6858000"/>
              <a:gd name="connsiteX41" fmla="*/ 91302 w 7538114"/>
              <a:gd name="connsiteY41" fmla="*/ 6001336 h 6858000"/>
              <a:gd name="connsiteX42" fmla="*/ 91687 w 7538114"/>
              <a:gd name="connsiteY42" fmla="*/ 5999003 h 6858000"/>
              <a:gd name="connsiteX43" fmla="*/ 93336 w 7538114"/>
              <a:gd name="connsiteY43" fmla="*/ 5985795 h 6858000"/>
              <a:gd name="connsiteX44" fmla="*/ 83190 w 7538114"/>
              <a:gd name="connsiteY44" fmla="*/ 5961758 h 6858000"/>
              <a:gd name="connsiteX45" fmla="*/ 81952 w 7538114"/>
              <a:gd name="connsiteY45" fmla="*/ 5928761 h 6858000"/>
              <a:gd name="connsiteX46" fmla="*/ 67420 w 7538114"/>
              <a:gd name="connsiteY46" fmla="*/ 5787247 h 6858000"/>
              <a:gd name="connsiteX47" fmla="*/ 50760 w 7538114"/>
              <a:gd name="connsiteY47" fmla="*/ 5710700 h 6858000"/>
              <a:gd name="connsiteX48" fmla="*/ 42956 w 7538114"/>
              <a:gd name="connsiteY48" fmla="*/ 5641754 h 6858000"/>
              <a:gd name="connsiteX49" fmla="*/ 29695 w 7538114"/>
              <a:gd name="connsiteY49" fmla="*/ 5602326 h 6858000"/>
              <a:gd name="connsiteX50" fmla="*/ 18841 w 7538114"/>
              <a:gd name="connsiteY50" fmla="*/ 5570885 h 6858000"/>
              <a:gd name="connsiteX51" fmla="*/ 9977 w 7538114"/>
              <a:gd name="connsiteY51" fmla="*/ 5543492 h 6858000"/>
              <a:gd name="connsiteX52" fmla="*/ 5255 w 7538114"/>
              <a:gd name="connsiteY52" fmla="*/ 5531024 h 6858000"/>
              <a:gd name="connsiteX53" fmla="*/ 5447 w 7538114"/>
              <a:gd name="connsiteY53" fmla="*/ 5527845 h 6858000"/>
              <a:gd name="connsiteX54" fmla="*/ 0 w 7538114"/>
              <a:gd name="connsiteY54" fmla="*/ 5507724 h 6858000"/>
              <a:gd name="connsiteX55" fmla="*/ 435 w 7538114"/>
              <a:gd name="connsiteY55" fmla="*/ 5507045 h 6858000"/>
              <a:gd name="connsiteX56" fmla="*/ 1128 w 7538114"/>
              <a:gd name="connsiteY56" fmla="*/ 5499619 h 6858000"/>
              <a:gd name="connsiteX57" fmla="*/ 1291 w 7538114"/>
              <a:gd name="connsiteY57" fmla="*/ 5486342 h 6858000"/>
              <a:gd name="connsiteX58" fmla="*/ 7976 w 7538114"/>
              <a:gd name="connsiteY58" fmla="*/ 5450755 h 6858000"/>
              <a:gd name="connsiteX59" fmla="*/ 2355 w 7538114"/>
              <a:gd name="connsiteY59" fmla="*/ 5429732 h 6858000"/>
              <a:gd name="connsiteX60" fmla="*/ 1499 w 7538114"/>
              <a:gd name="connsiteY60" fmla="*/ 5370432 h 6858000"/>
              <a:gd name="connsiteX61" fmla="*/ 11483 w 7538114"/>
              <a:gd name="connsiteY61" fmla="*/ 5308330 h 6858000"/>
              <a:gd name="connsiteX62" fmla="*/ 12793 w 7538114"/>
              <a:gd name="connsiteY62" fmla="*/ 5246026 h 6858000"/>
              <a:gd name="connsiteX63" fmla="*/ 12525 w 7538114"/>
              <a:gd name="connsiteY63" fmla="*/ 5223468 h 6858000"/>
              <a:gd name="connsiteX64" fmla="*/ 15322 w 7538114"/>
              <a:gd name="connsiteY64" fmla="*/ 5183258 h 6858000"/>
              <a:gd name="connsiteX65" fmla="*/ 18633 w 7538114"/>
              <a:gd name="connsiteY65" fmla="*/ 5164842 h 6858000"/>
              <a:gd name="connsiteX66" fmla="*/ 18428 w 7538114"/>
              <a:gd name="connsiteY66" fmla="*/ 5164034 h 6858000"/>
              <a:gd name="connsiteX67" fmla="*/ 19854 w 7538114"/>
              <a:gd name="connsiteY67" fmla="*/ 5162388 h 6858000"/>
              <a:gd name="connsiteX68" fmla="*/ 20514 w 7538114"/>
              <a:gd name="connsiteY68" fmla="*/ 5158981 h 6858000"/>
              <a:gd name="connsiteX69" fmla="*/ 20089 w 7538114"/>
              <a:gd name="connsiteY69" fmla="*/ 5149681 h 6858000"/>
              <a:gd name="connsiteX70" fmla="*/ 19561 w 7538114"/>
              <a:gd name="connsiteY70" fmla="*/ 5146183 h 6858000"/>
              <a:gd name="connsiteX71" fmla="*/ 19571 w 7538114"/>
              <a:gd name="connsiteY71" fmla="*/ 5141065 h 6858000"/>
              <a:gd name="connsiteX72" fmla="*/ 19690 w 7538114"/>
              <a:gd name="connsiteY72" fmla="*/ 5140937 h 6858000"/>
              <a:gd name="connsiteX73" fmla="*/ 19471 w 7538114"/>
              <a:gd name="connsiteY73" fmla="*/ 5136144 h 6858000"/>
              <a:gd name="connsiteX74" fmla="*/ 16918 w 7538114"/>
              <a:gd name="connsiteY74" fmla="*/ 5112689 h 6858000"/>
              <a:gd name="connsiteX75" fmla="*/ 28071 w 7538114"/>
              <a:gd name="connsiteY75" fmla="*/ 5081696 h 6858000"/>
              <a:gd name="connsiteX76" fmla="*/ 30005 w 7538114"/>
              <a:gd name="connsiteY76" fmla="*/ 5068879 h 6858000"/>
              <a:gd name="connsiteX77" fmla="*/ 31661 w 7538114"/>
              <a:gd name="connsiteY77" fmla="*/ 5062033 h 6858000"/>
              <a:gd name="connsiteX78" fmla="*/ 32169 w 7538114"/>
              <a:gd name="connsiteY78" fmla="*/ 5061608 h 6858000"/>
              <a:gd name="connsiteX79" fmla="*/ 27436 w 7538114"/>
              <a:gd name="connsiteY79" fmla="*/ 5021480 h 6858000"/>
              <a:gd name="connsiteX80" fmla="*/ 26614 w 7538114"/>
              <a:gd name="connsiteY80" fmla="*/ 5013906 h 6858000"/>
              <a:gd name="connsiteX81" fmla="*/ 25056 w 7538114"/>
              <a:gd name="connsiteY81" fmla="*/ 5011767 h 6858000"/>
              <a:gd name="connsiteX82" fmla="*/ 24513 w 7538114"/>
              <a:gd name="connsiteY82" fmla="*/ 5000592 h 6858000"/>
              <a:gd name="connsiteX83" fmla="*/ 24951 w 7538114"/>
              <a:gd name="connsiteY83" fmla="*/ 4999307 h 6858000"/>
              <a:gd name="connsiteX84" fmla="*/ 22644 w 7538114"/>
              <a:gd name="connsiteY84" fmla="*/ 4990090 h 6858000"/>
              <a:gd name="connsiteX85" fmla="*/ 18465 w 7538114"/>
              <a:gd name="connsiteY85" fmla="*/ 4982366 h 6858000"/>
              <a:gd name="connsiteX86" fmla="*/ 20888 w 7538114"/>
              <a:gd name="connsiteY86" fmla="*/ 4887310 h 6858000"/>
              <a:gd name="connsiteX87" fmla="*/ 15781 w 7538114"/>
              <a:gd name="connsiteY87" fmla="*/ 4807298 h 6858000"/>
              <a:gd name="connsiteX88" fmla="*/ 19649 w 7538114"/>
              <a:gd name="connsiteY88" fmla="*/ 4779990 h 6858000"/>
              <a:gd name="connsiteX89" fmla="*/ 21858 w 7538114"/>
              <a:gd name="connsiteY89" fmla="*/ 4664237 h 6858000"/>
              <a:gd name="connsiteX90" fmla="*/ 13583 w 7538114"/>
              <a:gd name="connsiteY90" fmla="*/ 4598607 h 6858000"/>
              <a:gd name="connsiteX91" fmla="*/ 7118 w 7538114"/>
              <a:gd name="connsiteY91" fmla="*/ 4546768 h 6858000"/>
              <a:gd name="connsiteX92" fmla="*/ 14555 w 7538114"/>
              <a:gd name="connsiteY92" fmla="*/ 4522182 h 6858000"/>
              <a:gd name="connsiteX93" fmla="*/ 17290 w 7538114"/>
              <a:gd name="connsiteY93" fmla="*/ 4509768 h 6858000"/>
              <a:gd name="connsiteX94" fmla="*/ 17421 w 7538114"/>
              <a:gd name="connsiteY94" fmla="*/ 4494586 h 6858000"/>
              <a:gd name="connsiteX95" fmla="*/ 18193 w 7538114"/>
              <a:gd name="connsiteY95" fmla="*/ 4440649 h 6858000"/>
              <a:gd name="connsiteX96" fmla="*/ 16616 w 7538114"/>
              <a:gd name="connsiteY96" fmla="*/ 4431853 h 6858000"/>
              <a:gd name="connsiteX97" fmla="*/ 19246 w 7538114"/>
              <a:gd name="connsiteY97" fmla="*/ 4403141 h 6858000"/>
              <a:gd name="connsiteX98" fmla="*/ 19623 w 7538114"/>
              <a:gd name="connsiteY98" fmla="*/ 4356631 h 6858000"/>
              <a:gd name="connsiteX99" fmla="*/ 20293 w 7538114"/>
              <a:gd name="connsiteY99" fmla="*/ 4339937 h 6858000"/>
              <a:gd name="connsiteX100" fmla="*/ 18752 w 7538114"/>
              <a:gd name="connsiteY100" fmla="*/ 4331435 h 6858000"/>
              <a:gd name="connsiteX101" fmla="*/ 24901 w 7538114"/>
              <a:gd name="connsiteY101" fmla="*/ 4320990 h 6858000"/>
              <a:gd name="connsiteX102" fmla="*/ 23734 w 7538114"/>
              <a:gd name="connsiteY102" fmla="*/ 4309111 h 6858000"/>
              <a:gd name="connsiteX103" fmla="*/ 29040 w 7538114"/>
              <a:gd name="connsiteY103" fmla="*/ 4263489 h 6858000"/>
              <a:gd name="connsiteX104" fmla="*/ 29429 w 7538114"/>
              <a:gd name="connsiteY104" fmla="*/ 4258775 h 6858000"/>
              <a:gd name="connsiteX105" fmla="*/ 33702 w 7538114"/>
              <a:gd name="connsiteY105" fmla="*/ 4248512 h 6858000"/>
              <a:gd name="connsiteX106" fmla="*/ 37356 w 7538114"/>
              <a:gd name="connsiteY106" fmla="*/ 4228644 h 6858000"/>
              <a:gd name="connsiteX107" fmla="*/ 50107 w 7538114"/>
              <a:gd name="connsiteY107" fmla="*/ 4193665 h 6858000"/>
              <a:gd name="connsiteX108" fmla="*/ 56192 w 7538114"/>
              <a:gd name="connsiteY108" fmla="*/ 4173105 h 6858000"/>
              <a:gd name="connsiteX109" fmla="*/ 61800 w 7538114"/>
              <a:gd name="connsiteY109" fmla="*/ 4159194 h 6858000"/>
              <a:gd name="connsiteX110" fmla="*/ 69720 w 7538114"/>
              <a:gd name="connsiteY110" fmla="*/ 4118135 h 6858000"/>
              <a:gd name="connsiteX111" fmla="*/ 80190 w 7538114"/>
              <a:gd name="connsiteY111" fmla="*/ 4047713 h 6858000"/>
              <a:gd name="connsiteX112" fmla="*/ 96666 w 7538114"/>
              <a:gd name="connsiteY112" fmla="*/ 3980780 h 6858000"/>
              <a:gd name="connsiteX113" fmla="*/ 107651 w 7538114"/>
              <a:gd name="connsiteY113" fmla="*/ 3941872 h 6858000"/>
              <a:gd name="connsiteX114" fmla="*/ 118444 w 7538114"/>
              <a:gd name="connsiteY114" fmla="*/ 3897465 h 6858000"/>
              <a:gd name="connsiteX115" fmla="*/ 134545 w 7538114"/>
              <a:gd name="connsiteY115" fmla="*/ 3811132 h 6858000"/>
              <a:gd name="connsiteX116" fmla="*/ 145381 w 7538114"/>
              <a:gd name="connsiteY116" fmla="*/ 3746540 h 6858000"/>
              <a:gd name="connsiteX117" fmla="*/ 146587 w 7538114"/>
              <a:gd name="connsiteY117" fmla="*/ 3670275 h 6858000"/>
              <a:gd name="connsiteX118" fmla="*/ 165690 w 7538114"/>
              <a:gd name="connsiteY118" fmla="*/ 3580981 h 6858000"/>
              <a:gd name="connsiteX119" fmla="*/ 163175 w 7538114"/>
              <a:gd name="connsiteY119" fmla="*/ 3570960 h 6858000"/>
              <a:gd name="connsiteX120" fmla="*/ 162665 w 7538114"/>
              <a:gd name="connsiteY120" fmla="*/ 3560693 h 6858000"/>
              <a:gd name="connsiteX121" fmla="*/ 163299 w 7538114"/>
              <a:gd name="connsiteY121" fmla="*/ 3559743 h 6858000"/>
              <a:gd name="connsiteX122" fmla="*/ 164777 w 7538114"/>
              <a:gd name="connsiteY122" fmla="*/ 3548721 h 6858000"/>
              <a:gd name="connsiteX123" fmla="*/ 163708 w 7538114"/>
              <a:gd name="connsiteY123" fmla="*/ 3545693 h 6858000"/>
              <a:gd name="connsiteX124" fmla="*/ 164286 w 7538114"/>
              <a:gd name="connsiteY124" fmla="*/ 3537938 h 6858000"/>
              <a:gd name="connsiteX125" fmla="*/ 164247 w 7538114"/>
              <a:gd name="connsiteY125" fmla="*/ 3522141 h 6858000"/>
              <a:gd name="connsiteX126" fmla="*/ 165343 w 7538114"/>
              <a:gd name="connsiteY126" fmla="*/ 3519672 h 6858000"/>
              <a:gd name="connsiteX127" fmla="*/ 167001 w 7538114"/>
              <a:gd name="connsiteY127" fmla="*/ 3496604 h 6858000"/>
              <a:gd name="connsiteX128" fmla="*/ 167547 w 7538114"/>
              <a:gd name="connsiteY128" fmla="*/ 3496517 h 6858000"/>
              <a:gd name="connsiteX129" fmla="*/ 170301 w 7538114"/>
              <a:gd name="connsiteY129" fmla="*/ 3491023 h 6858000"/>
              <a:gd name="connsiteX130" fmla="*/ 174371 w 7538114"/>
              <a:gd name="connsiteY130" fmla="*/ 3479998 h 6858000"/>
              <a:gd name="connsiteX131" fmla="*/ 190228 w 7538114"/>
              <a:gd name="connsiteY131" fmla="*/ 3457434 h 6858000"/>
              <a:gd name="connsiteX132" fmla="*/ 192016 w 7538114"/>
              <a:gd name="connsiteY132" fmla="*/ 3433411 h 6858000"/>
              <a:gd name="connsiteX133" fmla="*/ 192663 w 7538114"/>
              <a:gd name="connsiteY133" fmla="*/ 3428691 h 6858000"/>
              <a:gd name="connsiteX134" fmla="*/ 192793 w 7538114"/>
              <a:gd name="connsiteY134" fmla="*/ 3428643 h 6858000"/>
              <a:gd name="connsiteX135" fmla="*/ 193710 w 7538114"/>
              <a:gd name="connsiteY135" fmla="*/ 3423760 h 6858000"/>
              <a:gd name="connsiteX136" fmla="*/ 193839 w 7538114"/>
              <a:gd name="connsiteY136" fmla="*/ 3420085 h 6858000"/>
              <a:gd name="connsiteX137" fmla="*/ 195094 w 7538114"/>
              <a:gd name="connsiteY137" fmla="*/ 3410930 h 6858000"/>
              <a:gd name="connsiteX138" fmla="*/ 196311 w 7538114"/>
              <a:gd name="connsiteY138" fmla="*/ 3408092 h 6858000"/>
              <a:gd name="connsiteX139" fmla="*/ 197928 w 7538114"/>
              <a:gd name="connsiteY139" fmla="*/ 3407419 h 6858000"/>
              <a:gd name="connsiteX140" fmla="*/ 197881 w 7538114"/>
              <a:gd name="connsiteY140" fmla="*/ 3406520 h 6858000"/>
              <a:gd name="connsiteX141" fmla="*/ 204222 w 7538114"/>
              <a:gd name="connsiteY141" fmla="*/ 3391015 h 6858000"/>
              <a:gd name="connsiteX142" fmla="*/ 213950 w 7538114"/>
              <a:gd name="connsiteY142" fmla="*/ 3354361 h 6858000"/>
              <a:gd name="connsiteX143" fmla="*/ 217699 w 7538114"/>
              <a:gd name="connsiteY143" fmla="*/ 3332639 h 6858000"/>
              <a:gd name="connsiteX144" fmla="*/ 229963 w 7538114"/>
              <a:gd name="connsiteY144" fmla="*/ 3273935 h 6858000"/>
              <a:gd name="connsiteX145" fmla="*/ 243785 w 7538114"/>
              <a:gd name="connsiteY145" fmla="*/ 3215621 h 6858000"/>
              <a:gd name="connsiteX146" fmla="*/ 259175 w 7538114"/>
              <a:gd name="connsiteY146" fmla="*/ 3189909 h 6858000"/>
              <a:gd name="connsiteX147" fmla="*/ 259988 w 7538114"/>
              <a:gd name="connsiteY147" fmla="*/ 3186579 h 6858000"/>
              <a:gd name="connsiteX148" fmla="*/ 259980 w 7538114"/>
              <a:gd name="connsiteY148" fmla="*/ 3177264 h 6858000"/>
              <a:gd name="connsiteX149" fmla="*/ 259609 w 7538114"/>
              <a:gd name="connsiteY149" fmla="*/ 3173723 h 6858000"/>
              <a:gd name="connsiteX150" fmla="*/ 259848 w 7538114"/>
              <a:gd name="connsiteY150" fmla="*/ 3168622 h 6858000"/>
              <a:gd name="connsiteX151" fmla="*/ 259971 w 7538114"/>
              <a:gd name="connsiteY151" fmla="*/ 3168508 h 6858000"/>
              <a:gd name="connsiteX152" fmla="*/ 259966 w 7538114"/>
              <a:gd name="connsiteY152" fmla="*/ 3163706 h 6858000"/>
              <a:gd name="connsiteX153" fmla="*/ 258467 w 7538114"/>
              <a:gd name="connsiteY153" fmla="*/ 3140064 h 6858000"/>
              <a:gd name="connsiteX154" fmla="*/ 270990 w 7538114"/>
              <a:gd name="connsiteY154" fmla="*/ 3110288 h 6858000"/>
              <a:gd name="connsiteX155" fmla="*/ 273494 w 7538114"/>
              <a:gd name="connsiteY155" fmla="*/ 3097704 h 6858000"/>
              <a:gd name="connsiteX156" fmla="*/ 275456 w 7538114"/>
              <a:gd name="connsiteY156" fmla="*/ 3091047 h 6858000"/>
              <a:gd name="connsiteX157" fmla="*/ 275980 w 7538114"/>
              <a:gd name="connsiteY157" fmla="*/ 3090672 h 6858000"/>
              <a:gd name="connsiteX158" fmla="*/ 274486 w 7538114"/>
              <a:gd name="connsiteY158" fmla="*/ 3068004 h 6858000"/>
              <a:gd name="connsiteX159" fmla="*/ 275226 w 7538114"/>
              <a:gd name="connsiteY159" fmla="*/ 3065087 h 6858000"/>
              <a:gd name="connsiteX160" fmla="*/ 273050 w 7538114"/>
              <a:gd name="connsiteY160" fmla="*/ 3050191 h 6858000"/>
              <a:gd name="connsiteX161" fmla="*/ 272566 w 7538114"/>
              <a:gd name="connsiteY161" fmla="*/ 3042559 h 6858000"/>
              <a:gd name="connsiteX162" fmla="*/ 271107 w 7538114"/>
              <a:gd name="connsiteY162" fmla="*/ 3040271 h 6858000"/>
              <a:gd name="connsiteX163" fmla="*/ 271065 w 7538114"/>
              <a:gd name="connsiteY163" fmla="*/ 3029072 h 6858000"/>
              <a:gd name="connsiteX164" fmla="*/ 271558 w 7538114"/>
              <a:gd name="connsiteY164" fmla="*/ 3027835 h 6858000"/>
              <a:gd name="connsiteX165" fmla="*/ 268717 w 7538114"/>
              <a:gd name="connsiteY165" fmla="*/ 2964245 h 6858000"/>
              <a:gd name="connsiteX166" fmla="*/ 272511 w 7538114"/>
              <a:gd name="connsiteY166" fmla="*/ 2915772 h 6858000"/>
              <a:gd name="connsiteX167" fmla="*/ 270356 w 7538114"/>
              <a:gd name="connsiteY167" fmla="*/ 2825842 h 6858000"/>
              <a:gd name="connsiteX168" fmla="*/ 273897 w 7538114"/>
              <a:gd name="connsiteY168" fmla="*/ 2734957 h 6858000"/>
              <a:gd name="connsiteX169" fmla="*/ 274458 w 7538114"/>
              <a:gd name="connsiteY169" fmla="*/ 2636572 h 6858000"/>
              <a:gd name="connsiteX170" fmla="*/ 279157 w 7538114"/>
              <a:gd name="connsiteY170" fmla="*/ 2604260 h 6858000"/>
              <a:gd name="connsiteX171" fmla="*/ 288131 w 7538114"/>
              <a:gd name="connsiteY171" fmla="*/ 2582747 h 6858000"/>
              <a:gd name="connsiteX172" fmla="*/ 282516 w 7538114"/>
              <a:gd name="connsiteY172" fmla="*/ 2478755 h 6858000"/>
              <a:gd name="connsiteX173" fmla="*/ 287359 w 7538114"/>
              <a:gd name="connsiteY173" fmla="*/ 2451804 h 6858000"/>
              <a:gd name="connsiteX174" fmla="*/ 289577 w 7538114"/>
              <a:gd name="connsiteY174" fmla="*/ 2408801 h 6858000"/>
              <a:gd name="connsiteX175" fmla="*/ 293203 w 7538114"/>
              <a:gd name="connsiteY175" fmla="*/ 2392670 h 6858000"/>
              <a:gd name="connsiteX176" fmla="*/ 304183 w 7538114"/>
              <a:gd name="connsiteY176" fmla="*/ 2330165 h 6858000"/>
              <a:gd name="connsiteX177" fmla="*/ 310900 w 7538114"/>
              <a:gd name="connsiteY177" fmla="*/ 2276363 h 6858000"/>
              <a:gd name="connsiteX178" fmla="*/ 303909 w 7538114"/>
              <a:gd name="connsiteY178" fmla="*/ 2236310 h 6858000"/>
              <a:gd name="connsiteX179" fmla="*/ 306187 w 7538114"/>
              <a:gd name="connsiteY179" fmla="*/ 2232984 h 6858000"/>
              <a:gd name="connsiteX180" fmla="*/ 307158 w 7538114"/>
              <a:gd name="connsiteY180" fmla="*/ 2205763 h 6858000"/>
              <a:gd name="connsiteX181" fmla="*/ 304860 w 7538114"/>
              <a:gd name="connsiteY181" fmla="*/ 2145703 h 6858000"/>
              <a:gd name="connsiteX182" fmla="*/ 304273 w 7538114"/>
              <a:gd name="connsiteY182" fmla="*/ 2092533 h 6858000"/>
              <a:gd name="connsiteX183" fmla="*/ 301642 w 7538114"/>
              <a:gd name="connsiteY183" fmla="*/ 2057359 h 6858000"/>
              <a:gd name="connsiteX184" fmla="*/ 306736 w 7538114"/>
              <a:gd name="connsiteY184" fmla="*/ 2016105 h 6858000"/>
              <a:gd name="connsiteX185" fmla="*/ 316234 w 7538114"/>
              <a:gd name="connsiteY185" fmla="*/ 1983129 h 6858000"/>
              <a:gd name="connsiteX186" fmla="*/ 318238 w 7538114"/>
              <a:gd name="connsiteY186" fmla="*/ 1956745 h 6858000"/>
              <a:gd name="connsiteX187" fmla="*/ 311341 w 7538114"/>
              <a:gd name="connsiteY187" fmla="*/ 1950160 h 6858000"/>
              <a:gd name="connsiteX188" fmla="*/ 323556 w 7538114"/>
              <a:gd name="connsiteY188" fmla="*/ 1879546 h 6858000"/>
              <a:gd name="connsiteX189" fmla="*/ 326085 w 7538114"/>
              <a:gd name="connsiteY189" fmla="*/ 1854893 h 6858000"/>
              <a:gd name="connsiteX190" fmla="*/ 335058 w 7538114"/>
              <a:gd name="connsiteY190" fmla="*/ 1787684 h 6858000"/>
              <a:gd name="connsiteX191" fmla="*/ 345620 w 7538114"/>
              <a:gd name="connsiteY191" fmla="*/ 1720464 h 6858000"/>
              <a:gd name="connsiteX192" fmla="*/ 360760 w 7538114"/>
              <a:gd name="connsiteY192" fmla="*/ 1681196 h 6858000"/>
              <a:gd name="connsiteX193" fmla="*/ 368483 w 7538114"/>
              <a:gd name="connsiteY193" fmla="*/ 1625881 h 6858000"/>
              <a:gd name="connsiteX194" fmla="*/ 371077 w 7538114"/>
              <a:gd name="connsiteY194" fmla="*/ 1616704 h 6858000"/>
              <a:gd name="connsiteX195" fmla="*/ 383008 w 7538114"/>
              <a:gd name="connsiteY195" fmla="*/ 1551493 h 6858000"/>
              <a:gd name="connsiteX196" fmla="*/ 384834 w 7538114"/>
              <a:gd name="connsiteY196" fmla="*/ 1475233 h 6858000"/>
              <a:gd name="connsiteX197" fmla="*/ 418371 w 7538114"/>
              <a:gd name="connsiteY197" fmla="*/ 1380155 h 6858000"/>
              <a:gd name="connsiteX198" fmla="*/ 469641 w 7538114"/>
              <a:gd name="connsiteY198" fmla="*/ 1210871 h 6858000"/>
              <a:gd name="connsiteX199" fmla="*/ 489701 w 7538114"/>
              <a:gd name="connsiteY199" fmla="*/ 1028427 h 6858000"/>
              <a:gd name="connsiteX200" fmla="*/ 486354 w 7538114"/>
              <a:gd name="connsiteY200" fmla="*/ 980383 h 6858000"/>
              <a:gd name="connsiteX201" fmla="*/ 479762 w 7538114"/>
              <a:gd name="connsiteY201" fmla="*/ 839699 h 6858000"/>
              <a:gd name="connsiteX202" fmla="*/ 445664 w 7538114"/>
              <a:gd name="connsiteY202" fmla="*/ 696545 h 6858000"/>
              <a:gd name="connsiteX203" fmla="*/ 440047 w 7538114"/>
              <a:gd name="connsiteY203" fmla="*/ 606615 h 6858000"/>
              <a:gd name="connsiteX204" fmla="*/ 431225 w 7538114"/>
              <a:gd name="connsiteY204" fmla="*/ 563889 h 6858000"/>
              <a:gd name="connsiteX205" fmla="*/ 430803 w 7538114"/>
              <a:gd name="connsiteY205" fmla="*/ 534294 h 6858000"/>
              <a:gd name="connsiteX206" fmla="*/ 429777 w 7538114"/>
              <a:gd name="connsiteY206" fmla="*/ 516548 h 6858000"/>
              <a:gd name="connsiteX207" fmla="*/ 415090 w 7538114"/>
              <a:gd name="connsiteY207" fmla="*/ 485808 h 6858000"/>
              <a:gd name="connsiteX208" fmla="*/ 410499 w 7538114"/>
              <a:gd name="connsiteY208" fmla="*/ 369873 h 6858000"/>
              <a:gd name="connsiteX209" fmla="*/ 425314 w 7538114"/>
              <a:gd name="connsiteY209" fmla="*/ 259180 h 6858000"/>
              <a:gd name="connsiteX210" fmla="*/ 383240 w 7538114"/>
              <a:gd name="connsiteY210" fmla="*/ 94173 h 6858000"/>
              <a:gd name="connsiteX211" fmla="*/ 379938 w 7538114"/>
              <a:gd name="connsiteY211" fmla="*/ 77267 h 6858000"/>
              <a:gd name="connsiteX212" fmla="*/ 373430 w 7538114"/>
              <a:gd name="connsiteY212" fmla="*/ 3885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Lst>
            <a:rect l="l" t="t" r="r" b="b"/>
            <a:pathLst>
              <a:path w="7538114" h="6858000">
                <a:moveTo>
                  <a:pt x="366246" y="0"/>
                </a:moveTo>
                <a:lnTo>
                  <a:pt x="2830292" y="0"/>
                </a:lnTo>
                <a:lnTo>
                  <a:pt x="3903260" y="0"/>
                </a:lnTo>
                <a:lnTo>
                  <a:pt x="4597266" y="0"/>
                </a:lnTo>
                <a:lnTo>
                  <a:pt x="7192370" y="0"/>
                </a:lnTo>
                <a:lnTo>
                  <a:pt x="7538114" y="0"/>
                </a:lnTo>
                <a:lnTo>
                  <a:pt x="7538114" y="6858000"/>
                </a:lnTo>
                <a:lnTo>
                  <a:pt x="7192370" y="6858000"/>
                </a:lnTo>
                <a:lnTo>
                  <a:pt x="4597266" y="6858000"/>
                </a:lnTo>
                <a:lnTo>
                  <a:pt x="3903260" y="6858000"/>
                </a:lnTo>
                <a:lnTo>
                  <a:pt x="2830292" y="6858000"/>
                </a:lnTo>
                <a:lnTo>
                  <a:pt x="170314" y="6858000"/>
                </a:lnTo>
                <a:cubicBezTo>
                  <a:pt x="170323" y="6857920"/>
                  <a:pt x="170332" y="6857839"/>
                  <a:pt x="170341" y="6857759"/>
                </a:cubicBezTo>
                <a:lnTo>
                  <a:pt x="173485" y="6852129"/>
                </a:lnTo>
                <a:lnTo>
                  <a:pt x="167544" y="6830335"/>
                </a:lnTo>
                <a:cubicBezTo>
                  <a:pt x="165474" y="6819600"/>
                  <a:pt x="164100" y="6808301"/>
                  <a:pt x="163472" y="6796707"/>
                </a:cubicBezTo>
                <a:cubicBezTo>
                  <a:pt x="167658" y="6794106"/>
                  <a:pt x="161711" y="6785006"/>
                  <a:pt x="160535" y="6780725"/>
                </a:cubicBezTo>
                <a:cubicBezTo>
                  <a:pt x="163268" y="6780680"/>
                  <a:pt x="164578" y="6771195"/>
                  <a:pt x="162318" y="6767829"/>
                </a:cubicBezTo>
                <a:cubicBezTo>
                  <a:pt x="152545" y="6697090"/>
                  <a:pt x="178083" y="6736894"/>
                  <a:pt x="162771" y="6694444"/>
                </a:cubicBezTo>
                <a:cubicBezTo>
                  <a:pt x="161971" y="6687342"/>
                  <a:pt x="163342" y="6682014"/>
                  <a:pt x="165604" y="6677569"/>
                </a:cubicBezTo>
                <a:lnTo>
                  <a:pt x="171255" y="6669571"/>
                </a:lnTo>
                <a:lnTo>
                  <a:pt x="169240" y="6663304"/>
                </a:lnTo>
                <a:cubicBezTo>
                  <a:pt x="169082" y="6639651"/>
                  <a:pt x="174873" y="6632678"/>
                  <a:pt x="169039" y="6618916"/>
                </a:cubicBezTo>
                <a:cubicBezTo>
                  <a:pt x="181164" y="6598580"/>
                  <a:pt x="170248" y="6605428"/>
                  <a:pt x="168392" y="6589960"/>
                </a:cubicBezTo>
                <a:cubicBezTo>
                  <a:pt x="165975" y="6577758"/>
                  <a:pt x="161323" y="6600160"/>
                  <a:pt x="160636" y="6588200"/>
                </a:cubicBezTo>
                <a:cubicBezTo>
                  <a:pt x="163766" y="6575263"/>
                  <a:pt x="154044" y="6575871"/>
                  <a:pt x="157872" y="6562416"/>
                </a:cubicBezTo>
                <a:cubicBezTo>
                  <a:pt x="165196" y="6565685"/>
                  <a:pt x="156453" y="6535866"/>
                  <a:pt x="162851" y="6534939"/>
                </a:cubicBezTo>
                <a:cubicBezTo>
                  <a:pt x="153702" y="6523511"/>
                  <a:pt x="164973" y="6517769"/>
                  <a:pt x="162153" y="6502552"/>
                </a:cubicBezTo>
                <a:cubicBezTo>
                  <a:pt x="158692" y="6495386"/>
                  <a:pt x="158098" y="6490216"/>
                  <a:pt x="161821" y="6483172"/>
                </a:cubicBezTo>
                <a:cubicBezTo>
                  <a:pt x="144969" y="6450162"/>
                  <a:pt x="161066" y="6463202"/>
                  <a:pt x="154586" y="6432309"/>
                </a:cubicBezTo>
                <a:cubicBezTo>
                  <a:pt x="147771" y="6405695"/>
                  <a:pt x="143349" y="6375524"/>
                  <a:pt x="127078" y="6349783"/>
                </a:cubicBezTo>
                <a:cubicBezTo>
                  <a:pt x="122468" y="6345058"/>
                  <a:pt x="120723" y="6333456"/>
                  <a:pt x="123181" y="6323872"/>
                </a:cubicBezTo>
                <a:cubicBezTo>
                  <a:pt x="123604" y="6322225"/>
                  <a:pt x="124138" y="6320698"/>
                  <a:pt x="124767" y="6319343"/>
                </a:cubicBezTo>
                <a:cubicBezTo>
                  <a:pt x="122278" y="6297089"/>
                  <a:pt x="111161" y="6215694"/>
                  <a:pt x="108246" y="6190348"/>
                </a:cubicBezTo>
                <a:cubicBezTo>
                  <a:pt x="114169" y="6188296"/>
                  <a:pt x="103482" y="6175479"/>
                  <a:pt x="107279" y="6167269"/>
                </a:cubicBezTo>
                <a:cubicBezTo>
                  <a:pt x="110610" y="6161389"/>
                  <a:pt x="108145" y="6156128"/>
                  <a:pt x="107883" y="6149986"/>
                </a:cubicBezTo>
                <a:cubicBezTo>
                  <a:pt x="110502" y="6141894"/>
                  <a:pt x="105773" y="6115502"/>
                  <a:pt x="102380" y="6108622"/>
                </a:cubicBezTo>
                <a:cubicBezTo>
                  <a:pt x="90593" y="6092179"/>
                  <a:pt x="99346" y="6054816"/>
                  <a:pt x="90314" y="6041155"/>
                </a:cubicBezTo>
                <a:cubicBezTo>
                  <a:pt x="88990" y="6036198"/>
                  <a:pt x="88454" y="6031348"/>
                  <a:pt x="88409" y="6026587"/>
                </a:cubicBezTo>
                <a:lnTo>
                  <a:pt x="89403" y="6013265"/>
                </a:lnTo>
                <a:lnTo>
                  <a:pt x="91927" y="6009478"/>
                </a:lnTo>
                <a:lnTo>
                  <a:pt x="91302" y="6001336"/>
                </a:lnTo>
                <a:cubicBezTo>
                  <a:pt x="91431" y="6000558"/>
                  <a:pt x="91559" y="5999781"/>
                  <a:pt x="91687" y="5999003"/>
                </a:cubicBezTo>
                <a:cubicBezTo>
                  <a:pt x="92431" y="5994547"/>
                  <a:pt x="93080" y="5990148"/>
                  <a:pt x="93336" y="5985795"/>
                </a:cubicBezTo>
                <a:cubicBezTo>
                  <a:pt x="80676" y="5991520"/>
                  <a:pt x="93430" y="5949705"/>
                  <a:pt x="83190" y="5961758"/>
                </a:cubicBezTo>
                <a:cubicBezTo>
                  <a:pt x="82399" y="5938832"/>
                  <a:pt x="72862" y="5956319"/>
                  <a:pt x="81952" y="5928761"/>
                </a:cubicBezTo>
                <a:cubicBezTo>
                  <a:pt x="79324" y="5899676"/>
                  <a:pt x="72619" y="5823590"/>
                  <a:pt x="67420" y="5787247"/>
                </a:cubicBezTo>
                <a:cubicBezTo>
                  <a:pt x="53530" y="5750058"/>
                  <a:pt x="57730" y="5736292"/>
                  <a:pt x="50760" y="5710700"/>
                </a:cubicBezTo>
                <a:cubicBezTo>
                  <a:pt x="47368" y="5660911"/>
                  <a:pt x="30723" y="5663675"/>
                  <a:pt x="42956" y="5641754"/>
                </a:cubicBezTo>
                <a:cubicBezTo>
                  <a:pt x="39970" y="5608358"/>
                  <a:pt x="24769" y="5637338"/>
                  <a:pt x="29695" y="5602326"/>
                </a:cubicBezTo>
                <a:cubicBezTo>
                  <a:pt x="27700" y="5601239"/>
                  <a:pt x="20274" y="5573144"/>
                  <a:pt x="18841" y="5570885"/>
                </a:cubicBezTo>
                <a:lnTo>
                  <a:pt x="9977" y="5543492"/>
                </a:lnTo>
                <a:lnTo>
                  <a:pt x="5255" y="5531024"/>
                </a:lnTo>
                <a:lnTo>
                  <a:pt x="5447" y="5527845"/>
                </a:lnTo>
                <a:lnTo>
                  <a:pt x="0" y="5507724"/>
                </a:lnTo>
                <a:lnTo>
                  <a:pt x="435" y="5507045"/>
                </a:lnTo>
                <a:cubicBezTo>
                  <a:pt x="1286" y="5505065"/>
                  <a:pt x="1681" y="5502734"/>
                  <a:pt x="1128" y="5499619"/>
                </a:cubicBezTo>
                <a:cubicBezTo>
                  <a:pt x="9450" y="5498516"/>
                  <a:pt x="3652" y="5495435"/>
                  <a:pt x="1291" y="5486342"/>
                </a:cubicBezTo>
                <a:cubicBezTo>
                  <a:pt x="13688" y="5482600"/>
                  <a:pt x="2464" y="5460320"/>
                  <a:pt x="7976" y="5450755"/>
                </a:cubicBezTo>
                <a:cubicBezTo>
                  <a:pt x="5962" y="5444157"/>
                  <a:pt x="4058" y="5437113"/>
                  <a:pt x="2355" y="5429732"/>
                </a:cubicBezTo>
                <a:lnTo>
                  <a:pt x="1499" y="5370432"/>
                </a:lnTo>
                <a:lnTo>
                  <a:pt x="11483" y="5308330"/>
                </a:lnTo>
                <a:cubicBezTo>
                  <a:pt x="11701" y="5285359"/>
                  <a:pt x="15408" y="5265468"/>
                  <a:pt x="12793" y="5246026"/>
                </a:cubicBezTo>
                <a:cubicBezTo>
                  <a:pt x="15678" y="5238129"/>
                  <a:pt x="16842" y="5230685"/>
                  <a:pt x="12525" y="5223468"/>
                </a:cubicBezTo>
                <a:cubicBezTo>
                  <a:pt x="13966" y="5202031"/>
                  <a:pt x="20131" y="5196842"/>
                  <a:pt x="15322" y="5183258"/>
                </a:cubicBezTo>
                <a:cubicBezTo>
                  <a:pt x="25294" y="5171214"/>
                  <a:pt x="21488" y="5170502"/>
                  <a:pt x="18633" y="5164842"/>
                </a:cubicBezTo>
                <a:cubicBezTo>
                  <a:pt x="18565" y="5164573"/>
                  <a:pt x="18496" y="5164303"/>
                  <a:pt x="18428" y="5164034"/>
                </a:cubicBezTo>
                <a:lnTo>
                  <a:pt x="19854" y="5162388"/>
                </a:lnTo>
                <a:lnTo>
                  <a:pt x="20514" y="5158981"/>
                </a:lnTo>
                <a:lnTo>
                  <a:pt x="20089" y="5149681"/>
                </a:lnTo>
                <a:lnTo>
                  <a:pt x="19561" y="5146183"/>
                </a:lnTo>
                <a:cubicBezTo>
                  <a:pt x="19336" y="5143774"/>
                  <a:pt x="19361" y="5142173"/>
                  <a:pt x="19571" y="5141065"/>
                </a:cubicBezTo>
                <a:lnTo>
                  <a:pt x="19690" y="5140937"/>
                </a:lnTo>
                <a:cubicBezTo>
                  <a:pt x="19617" y="5139339"/>
                  <a:pt x="19544" y="5137742"/>
                  <a:pt x="19471" y="5136144"/>
                </a:cubicBezTo>
                <a:cubicBezTo>
                  <a:pt x="18832" y="5128055"/>
                  <a:pt x="17958" y="5120182"/>
                  <a:pt x="16918" y="5112689"/>
                </a:cubicBezTo>
                <a:cubicBezTo>
                  <a:pt x="23464" y="5106353"/>
                  <a:pt x="15733" y="5078666"/>
                  <a:pt x="28071" y="5081696"/>
                </a:cubicBezTo>
                <a:cubicBezTo>
                  <a:pt x="27036" y="5071588"/>
                  <a:pt x="21912" y="5065475"/>
                  <a:pt x="30005" y="5068879"/>
                </a:cubicBezTo>
                <a:cubicBezTo>
                  <a:pt x="29897" y="5065551"/>
                  <a:pt x="30585" y="5063501"/>
                  <a:pt x="31661" y="5062033"/>
                </a:cubicBezTo>
                <a:lnTo>
                  <a:pt x="32169" y="5061608"/>
                </a:lnTo>
                <a:lnTo>
                  <a:pt x="27436" y="5021480"/>
                </a:lnTo>
                <a:lnTo>
                  <a:pt x="26614" y="5013906"/>
                </a:lnTo>
                <a:lnTo>
                  <a:pt x="25056" y="5011767"/>
                </a:lnTo>
                <a:cubicBezTo>
                  <a:pt x="24110" y="5009457"/>
                  <a:pt x="23701" y="5006147"/>
                  <a:pt x="24513" y="5000592"/>
                </a:cubicBezTo>
                <a:lnTo>
                  <a:pt x="24951" y="4999307"/>
                </a:lnTo>
                <a:lnTo>
                  <a:pt x="22644" y="4990090"/>
                </a:lnTo>
                <a:cubicBezTo>
                  <a:pt x="21579" y="4987122"/>
                  <a:pt x="20222" y="4984494"/>
                  <a:pt x="18465" y="4982366"/>
                </a:cubicBezTo>
                <a:cubicBezTo>
                  <a:pt x="27858" y="4950984"/>
                  <a:pt x="19264" y="4921373"/>
                  <a:pt x="20888" y="4887310"/>
                </a:cubicBezTo>
                <a:cubicBezTo>
                  <a:pt x="17563" y="4848813"/>
                  <a:pt x="18386" y="4829570"/>
                  <a:pt x="15781" y="4807298"/>
                </a:cubicBezTo>
                <a:cubicBezTo>
                  <a:pt x="15634" y="4803627"/>
                  <a:pt x="14440" y="4773874"/>
                  <a:pt x="19649" y="4779990"/>
                </a:cubicBezTo>
                <a:cubicBezTo>
                  <a:pt x="18744" y="4746827"/>
                  <a:pt x="22869" y="4698305"/>
                  <a:pt x="21858" y="4664237"/>
                </a:cubicBezTo>
                <a:cubicBezTo>
                  <a:pt x="34232" y="4642340"/>
                  <a:pt x="11268" y="4621318"/>
                  <a:pt x="13583" y="4598607"/>
                </a:cubicBezTo>
                <a:cubicBezTo>
                  <a:pt x="2193" y="4604819"/>
                  <a:pt x="19974" y="4548010"/>
                  <a:pt x="7118" y="4546768"/>
                </a:cubicBezTo>
                <a:lnTo>
                  <a:pt x="14555" y="4522182"/>
                </a:lnTo>
                <a:lnTo>
                  <a:pt x="17290" y="4509768"/>
                </a:lnTo>
                <a:cubicBezTo>
                  <a:pt x="17884" y="4505118"/>
                  <a:pt x="18021" y="4500115"/>
                  <a:pt x="17421" y="4494586"/>
                </a:cubicBezTo>
                <a:cubicBezTo>
                  <a:pt x="12327" y="4480984"/>
                  <a:pt x="18571" y="4459805"/>
                  <a:pt x="18193" y="4440649"/>
                </a:cubicBezTo>
                <a:lnTo>
                  <a:pt x="16616" y="4431853"/>
                </a:lnTo>
                <a:lnTo>
                  <a:pt x="19246" y="4403141"/>
                </a:lnTo>
                <a:cubicBezTo>
                  <a:pt x="19372" y="4387638"/>
                  <a:pt x="19497" y="4372134"/>
                  <a:pt x="19623" y="4356631"/>
                </a:cubicBezTo>
                <a:cubicBezTo>
                  <a:pt x="19508" y="4349062"/>
                  <a:pt x="15847" y="4339045"/>
                  <a:pt x="20293" y="4339937"/>
                </a:cubicBezTo>
                <a:lnTo>
                  <a:pt x="18752" y="4331435"/>
                </a:lnTo>
                <a:cubicBezTo>
                  <a:pt x="19520" y="4328277"/>
                  <a:pt x="24070" y="4324711"/>
                  <a:pt x="24901" y="4320990"/>
                </a:cubicBezTo>
                <a:lnTo>
                  <a:pt x="23734" y="4309111"/>
                </a:lnTo>
                <a:cubicBezTo>
                  <a:pt x="24423" y="4299527"/>
                  <a:pt x="28090" y="4271878"/>
                  <a:pt x="29040" y="4263489"/>
                </a:cubicBezTo>
                <a:cubicBezTo>
                  <a:pt x="29169" y="4261918"/>
                  <a:pt x="29300" y="4260346"/>
                  <a:pt x="29429" y="4258775"/>
                </a:cubicBezTo>
                <a:lnTo>
                  <a:pt x="33702" y="4248512"/>
                </a:lnTo>
                <a:cubicBezTo>
                  <a:pt x="36933" y="4241044"/>
                  <a:pt x="39109" y="4235167"/>
                  <a:pt x="37356" y="4228644"/>
                </a:cubicBezTo>
                <a:cubicBezTo>
                  <a:pt x="41530" y="4217526"/>
                  <a:pt x="53227" y="4209759"/>
                  <a:pt x="50107" y="4193665"/>
                </a:cubicBezTo>
                <a:cubicBezTo>
                  <a:pt x="55406" y="4198550"/>
                  <a:pt x="50749" y="4175793"/>
                  <a:pt x="56192" y="4173105"/>
                </a:cubicBezTo>
                <a:cubicBezTo>
                  <a:pt x="60575" y="4171863"/>
                  <a:pt x="60184" y="4164671"/>
                  <a:pt x="61800" y="4159194"/>
                </a:cubicBezTo>
                <a:cubicBezTo>
                  <a:pt x="66276" y="4155290"/>
                  <a:pt x="70363" y="4127730"/>
                  <a:pt x="69720" y="4118135"/>
                </a:cubicBezTo>
                <a:cubicBezTo>
                  <a:pt x="65265" y="4091091"/>
                  <a:pt x="83289" y="4069336"/>
                  <a:pt x="80190" y="4047713"/>
                </a:cubicBezTo>
                <a:cubicBezTo>
                  <a:pt x="84682" y="4020435"/>
                  <a:pt x="92089" y="3998420"/>
                  <a:pt x="96666" y="3980780"/>
                </a:cubicBezTo>
                <a:cubicBezTo>
                  <a:pt x="98580" y="3977851"/>
                  <a:pt x="106155" y="3945259"/>
                  <a:pt x="107651" y="3941872"/>
                </a:cubicBezTo>
                <a:cubicBezTo>
                  <a:pt x="111761" y="3922504"/>
                  <a:pt x="112043" y="3930219"/>
                  <a:pt x="118444" y="3897465"/>
                </a:cubicBezTo>
                <a:cubicBezTo>
                  <a:pt x="124996" y="3869981"/>
                  <a:pt x="127657" y="3841768"/>
                  <a:pt x="134545" y="3811132"/>
                </a:cubicBezTo>
                <a:cubicBezTo>
                  <a:pt x="143817" y="3778601"/>
                  <a:pt x="141464" y="3759343"/>
                  <a:pt x="145381" y="3746540"/>
                </a:cubicBezTo>
                <a:cubicBezTo>
                  <a:pt x="156739" y="3719637"/>
                  <a:pt x="147664" y="3711291"/>
                  <a:pt x="146587" y="3670275"/>
                </a:cubicBezTo>
                <a:cubicBezTo>
                  <a:pt x="154134" y="3638754"/>
                  <a:pt x="151397" y="3605028"/>
                  <a:pt x="165690" y="3580981"/>
                </a:cubicBezTo>
                <a:cubicBezTo>
                  <a:pt x="164433" y="3577837"/>
                  <a:pt x="163639" y="3574469"/>
                  <a:pt x="163175" y="3570960"/>
                </a:cubicBezTo>
                <a:lnTo>
                  <a:pt x="162665" y="3560693"/>
                </a:lnTo>
                <a:lnTo>
                  <a:pt x="163299" y="3559743"/>
                </a:lnTo>
                <a:cubicBezTo>
                  <a:pt x="165039" y="3554949"/>
                  <a:pt x="165246" y="3551528"/>
                  <a:pt x="164777" y="3548721"/>
                </a:cubicBezTo>
                <a:lnTo>
                  <a:pt x="163708" y="3545693"/>
                </a:lnTo>
                <a:lnTo>
                  <a:pt x="164286" y="3537938"/>
                </a:lnTo>
                <a:cubicBezTo>
                  <a:pt x="164273" y="3532672"/>
                  <a:pt x="164261" y="3527407"/>
                  <a:pt x="164247" y="3522141"/>
                </a:cubicBezTo>
                <a:lnTo>
                  <a:pt x="165343" y="3519672"/>
                </a:lnTo>
                <a:lnTo>
                  <a:pt x="167001" y="3496604"/>
                </a:lnTo>
                <a:lnTo>
                  <a:pt x="167547" y="3496517"/>
                </a:lnTo>
                <a:cubicBezTo>
                  <a:pt x="168811" y="3495796"/>
                  <a:pt x="169814" y="3494272"/>
                  <a:pt x="170301" y="3491023"/>
                </a:cubicBezTo>
                <a:cubicBezTo>
                  <a:pt x="177219" y="3499391"/>
                  <a:pt x="173541" y="3490314"/>
                  <a:pt x="174371" y="3479998"/>
                </a:cubicBezTo>
                <a:cubicBezTo>
                  <a:pt x="185299" y="3490692"/>
                  <a:pt x="183023" y="3459350"/>
                  <a:pt x="190228" y="3457434"/>
                </a:cubicBezTo>
                <a:cubicBezTo>
                  <a:pt x="190591" y="3449617"/>
                  <a:pt x="191174" y="3441542"/>
                  <a:pt x="192016" y="3433411"/>
                </a:cubicBezTo>
                <a:lnTo>
                  <a:pt x="192663" y="3428691"/>
                </a:lnTo>
                <a:cubicBezTo>
                  <a:pt x="192706" y="3428676"/>
                  <a:pt x="192750" y="3428659"/>
                  <a:pt x="192793" y="3428643"/>
                </a:cubicBezTo>
                <a:cubicBezTo>
                  <a:pt x="193186" y="3427720"/>
                  <a:pt x="193494" y="3426206"/>
                  <a:pt x="193710" y="3423760"/>
                </a:cubicBezTo>
                <a:cubicBezTo>
                  <a:pt x="193753" y="3422535"/>
                  <a:pt x="193797" y="3421310"/>
                  <a:pt x="193839" y="3420085"/>
                </a:cubicBezTo>
                <a:lnTo>
                  <a:pt x="195094" y="3410930"/>
                </a:lnTo>
                <a:lnTo>
                  <a:pt x="196311" y="3408092"/>
                </a:lnTo>
                <a:lnTo>
                  <a:pt x="197928" y="3407419"/>
                </a:lnTo>
                <a:cubicBezTo>
                  <a:pt x="197912" y="3407119"/>
                  <a:pt x="197897" y="3406820"/>
                  <a:pt x="197881" y="3406520"/>
                </a:cubicBezTo>
                <a:cubicBezTo>
                  <a:pt x="196231" y="3399306"/>
                  <a:pt x="192821" y="3396220"/>
                  <a:pt x="204222" y="3391015"/>
                </a:cubicBezTo>
                <a:cubicBezTo>
                  <a:pt x="202162" y="3374996"/>
                  <a:pt x="208811" y="3373934"/>
                  <a:pt x="213950" y="3354361"/>
                </a:cubicBezTo>
                <a:cubicBezTo>
                  <a:pt x="211218" y="3344737"/>
                  <a:pt x="213619" y="3338360"/>
                  <a:pt x="217699" y="3332639"/>
                </a:cubicBezTo>
                <a:cubicBezTo>
                  <a:pt x="218717" y="3312409"/>
                  <a:pt x="225688" y="3295747"/>
                  <a:pt x="229963" y="3273935"/>
                </a:cubicBezTo>
                <a:cubicBezTo>
                  <a:pt x="228293" y="3248488"/>
                  <a:pt x="239257" y="3238943"/>
                  <a:pt x="243785" y="3215621"/>
                </a:cubicBezTo>
                <a:cubicBezTo>
                  <a:pt x="237893" y="3192522"/>
                  <a:pt x="253940" y="3201000"/>
                  <a:pt x="259175" y="3189909"/>
                </a:cubicBezTo>
                <a:lnTo>
                  <a:pt x="259988" y="3186579"/>
                </a:lnTo>
                <a:lnTo>
                  <a:pt x="259980" y="3177264"/>
                </a:lnTo>
                <a:lnTo>
                  <a:pt x="259609" y="3173723"/>
                </a:lnTo>
                <a:cubicBezTo>
                  <a:pt x="259490" y="3171299"/>
                  <a:pt x="259588" y="3169704"/>
                  <a:pt x="259848" y="3168622"/>
                </a:cubicBezTo>
                <a:lnTo>
                  <a:pt x="259971" y="3168508"/>
                </a:lnTo>
                <a:cubicBezTo>
                  <a:pt x="259969" y="3166907"/>
                  <a:pt x="259968" y="3165307"/>
                  <a:pt x="259966" y="3163706"/>
                </a:cubicBezTo>
                <a:cubicBezTo>
                  <a:pt x="259691" y="3155577"/>
                  <a:pt x="259171" y="3147642"/>
                  <a:pt x="258467" y="3140064"/>
                </a:cubicBezTo>
                <a:cubicBezTo>
                  <a:pt x="265286" y="3134408"/>
                  <a:pt x="258805" y="3106027"/>
                  <a:pt x="270990" y="3110288"/>
                </a:cubicBezTo>
                <a:cubicBezTo>
                  <a:pt x="270407" y="3100106"/>
                  <a:pt x="265565" y="3093497"/>
                  <a:pt x="273494" y="3097704"/>
                </a:cubicBezTo>
                <a:cubicBezTo>
                  <a:pt x="273534" y="3094376"/>
                  <a:pt x="274313" y="3092401"/>
                  <a:pt x="275456" y="3091047"/>
                </a:cubicBezTo>
                <a:lnTo>
                  <a:pt x="275980" y="3090672"/>
                </a:lnTo>
                <a:lnTo>
                  <a:pt x="274486" y="3068004"/>
                </a:lnTo>
                <a:lnTo>
                  <a:pt x="275226" y="3065087"/>
                </a:lnTo>
                <a:lnTo>
                  <a:pt x="273050" y="3050191"/>
                </a:lnTo>
                <a:cubicBezTo>
                  <a:pt x="272889" y="3047647"/>
                  <a:pt x="272728" y="3045103"/>
                  <a:pt x="272566" y="3042559"/>
                </a:cubicBezTo>
                <a:lnTo>
                  <a:pt x="271107" y="3040271"/>
                </a:lnTo>
                <a:cubicBezTo>
                  <a:pt x="270265" y="3037872"/>
                  <a:pt x="270006" y="3034528"/>
                  <a:pt x="271065" y="3029072"/>
                </a:cubicBezTo>
                <a:lnTo>
                  <a:pt x="271558" y="3027835"/>
                </a:lnTo>
                <a:cubicBezTo>
                  <a:pt x="270688" y="3024705"/>
                  <a:pt x="268559" y="2982922"/>
                  <a:pt x="268717" y="2964245"/>
                </a:cubicBezTo>
                <a:cubicBezTo>
                  <a:pt x="279502" y="2933904"/>
                  <a:pt x="269365" y="2949568"/>
                  <a:pt x="272511" y="2915772"/>
                </a:cubicBezTo>
                <a:cubicBezTo>
                  <a:pt x="272017" y="2877552"/>
                  <a:pt x="270125" y="2850992"/>
                  <a:pt x="270356" y="2825842"/>
                </a:cubicBezTo>
                <a:cubicBezTo>
                  <a:pt x="269433" y="2814032"/>
                  <a:pt x="268938" y="2727859"/>
                  <a:pt x="273897" y="2734957"/>
                </a:cubicBezTo>
                <a:cubicBezTo>
                  <a:pt x="264242" y="2698391"/>
                  <a:pt x="277769" y="2677127"/>
                  <a:pt x="274458" y="2636572"/>
                </a:cubicBezTo>
                <a:cubicBezTo>
                  <a:pt x="287792" y="2615986"/>
                  <a:pt x="275829" y="2626668"/>
                  <a:pt x="279157" y="2604260"/>
                </a:cubicBezTo>
                <a:cubicBezTo>
                  <a:pt x="279270" y="2587221"/>
                  <a:pt x="288019" y="2599786"/>
                  <a:pt x="288131" y="2582747"/>
                </a:cubicBezTo>
                <a:cubicBezTo>
                  <a:pt x="260352" y="2545890"/>
                  <a:pt x="290145" y="2525479"/>
                  <a:pt x="282516" y="2478755"/>
                </a:cubicBezTo>
                <a:lnTo>
                  <a:pt x="287359" y="2451804"/>
                </a:lnTo>
                <a:cubicBezTo>
                  <a:pt x="285426" y="2443087"/>
                  <a:pt x="285710" y="2414879"/>
                  <a:pt x="289577" y="2408801"/>
                </a:cubicBezTo>
                <a:cubicBezTo>
                  <a:pt x="290424" y="2402768"/>
                  <a:pt x="289064" y="2396183"/>
                  <a:pt x="293203" y="2392670"/>
                </a:cubicBezTo>
                <a:cubicBezTo>
                  <a:pt x="295637" y="2379564"/>
                  <a:pt x="301233" y="2349549"/>
                  <a:pt x="304183" y="2330165"/>
                </a:cubicBezTo>
                <a:cubicBezTo>
                  <a:pt x="298973" y="2319718"/>
                  <a:pt x="309550" y="2303314"/>
                  <a:pt x="310900" y="2276363"/>
                </a:cubicBezTo>
                <a:cubicBezTo>
                  <a:pt x="304874" y="2264930"/>
                  <a:pt x="311891" y="2258198"/>
                  <a:pt x="303909" y="2236310"/>
                </a:cubicBezTo>
                <a:cubicBezTo>
                  <a:pt x="304734" y="2235412"/>
                  <a:pt x="305502" y="2234293"/>
                  <a:pt x="306187" y="2232984"/>
                </a:cubicBezTo>
                <a:cubicBezTo>
                  <a:pt x="310170" y="2225381"/>
                  <a:pt x="310605" y="2213194"/>
                  <a:pt x="307158" y="2205763"/>
                </a:cubicBezTo>
                <a:cubicBezTo>
                  <a:pt x="296601" y="2170883"/>
                  <a:pt x="306474" y="2175442"/>
                  <a:pt x="304860" y="2145703"/>
                </a:cubicBezTo>
                <a:cubicBezTo>
                  <a:pt x="304314" y="2112090"/>
                  <a:pt x="314083" y="2134724"/>
                  <a:pt x="304273" y="2092533"/>
                </a:cubicBezTo>
                <a:cubicBezTo>
                  <a:pt x="308983" y="2088154"/>
                  <a:pt x="303590" y="2066396"/>
                  <a:pt x="301642" y="2057359"/>
                </a:cubicBezTo>
                <a:cubicBezTo>
                  <a:pt x="301720" y="2041038"/>
                  <a:pt x="313213" y="2032807"/>
                  <a:pt x="306736" y="2016105"/>
                </a:cubicBezTo>
                <a:cubicBezTo>
                  <a:pt x="312847" y="2019262"/>
                  <a:pt x="310007" y="1975377"/>
                  <a:pt x="316234" y="1983129"/>
                </a:cubicBezTo>
                <a:cubicBezTo>
                  <a:pt x="322177" y="1972692"/>
                  <a:pt x="313034" y="1967129"/>
                  <a:pt x="318238" y="1956745"/>
                </a:cubicBezTo>
                <a:cubicBezTo>
                  <a:pt x="319718" y="1944884"/>
                  <a:pt x="311423" y="1963350"/>
                  <a:pt x="311341" y="1950160"/>
                </a:cubicBezTo>
                <a:lnTo>
                  <a:pt x="323556" y="1879546"/>
                </a:lnTo>
                <a:cubicBezTo>
                  <a:pt x="320263" y="1869846"/>
                  <a:pt x="322312" y="1862247"/>
                  <a:pt x="326085" y="1854893"/>
                </a:cubicBezTo>
                <a:cubicBezTo>
                  <a:pt x="325955" y="1832625"/>
                  <a:pt x="332007" y="1812578"/>
                  <a:pt x="335058" y="1787684"/>
                </a:cubicBezTo>
                <a:cubicBezTo>
                  <a:pt x="331933" y="1760490"/>
                  <a:pt x="342400" y="1747069"/>
                  <a:pt x="345620" y="1720464"/>
                </a:cubicBezTo>
                <a:cubicBezTo>
                  <a:pt x="337355" y="1693643"/>
                  <a:pt x="360215" y="1703686"/>
                  <a:pt x="360760" y="1681196"/>
                </a:cubicBezTo>
                <a:cubicBezTo>
                  <a:pt x="353923" y="1644243"/>
                  <a:pt x="368449" y="1682451"/>
                  <a:pt x="368483" y="1625881"/>
                </a:cubicBezTo>
                <a:cubicBezTo>
                  <a:pt x="367181" y="1622619"/>
                  <a:pt x="369088" y="1615868"/>
                  <a:pt x="371077" y="1616704"/>
                </a:cubicBezTo>
                <a:cubicBezTo>
                  <a:pt x="371005" y="1604306"/>
                  <a:pt x="384453" y="1569256"/>
                  <a:pt x="383008" y="1551493"/>
                </a:cubicBezTo>
                <a:cubicBezTo>
                  <a:pt x="390598" y="1517303"/>
                  <a:pt x="381821" y="1500132"/>
                  <a:pt x="384834" y="1475233"/>
                </a:cubicBezTo>
                <a:cubicBezTo>
                  <a:pt x="393221" y="1446677"/>
                  <a:pt x="400498" y="1430031"/>
                  <a:pt x="418371" y="1380155"/>
                </a:cubicBezTo>
                <a:lnTo>
                  <a:pt x="469641" y="1210871"/>
                </a:lnTo>
                <a:cubicBezTo>
                  <a:pt x="507460" y="1148093"/>
                  <a:pt x="486915" y="1066841"/>
                  <a:pt x="489701" y="1028427"/>
                </a:cubicBezTo>
                <a:cubicBezTo>
                  <a:pt x="478454" y="1012506"/>
                  <a:pt x="490925" y="999600"/>
                  <a:pt x="486354" y="980383"/>
                </a:cubicBezTo>
                <a:cubicBezTo>
                  <a:pt x="483880" y="937629"/>
                  <a:pt x="471099" y="895192"/>
                  <a:pt x="479762" y="839699"/>
                </a:cubicBezTo>
                <a:cubicBezTo>
                  <a:pt x="444550" y="814685"/>
                  <a:pt x="465776" y="749644"/>
                  <a:pt x="445664" y="696545"/>
                </a:cubicBezTo>
                <a:cubicBezTo>
                  <a:pt x="441558" y="665722"/>
                  <a:pt x="459046" y="617297"/>
                  <a:pt x="440047" y="606615"/>
                </a:cubicBezTo>
                <a:cubicBezTo>
                  <a:pt x="451675" y="592509"/>
                  <a:pt x="432892" y="579307"/>
                  <a:pt x="431225" y="563889"/>
                </a:cubicBezTo>
                <a:cubicBezTo>
                  <a:pt x="438618" y="551582"/>
                  <a:pt x="432225" y="545475"/>
                  <a:pt x="430803" y="534294"/>
                </a:cubicBezTo>
                <a:cubicBezTo>
                  <a:pt x="435364" y="529230"/>
                  <a:pt x="435126" y="519767"/>
                  <a:pt x="429777" y="516548"/>
                </a:cubicBezTo>
                <a:cubicBezTo>
                  <a:pt x="417444" y="521116"/>
                  <a:pt x="423596" y="488251"/>
                  <a:pt x="415090" y="485808"/>
                </a:cubicBezTo>
                <a:cubicBezTo>
                  <a:pt x="413316" y="466733"/>
                  <a:pt x="424116" y="383903"/>
                  <a:pt x="410499" y="369873"/>
                </a:cubicBezTo>
                <a:cubicBezTo>
                  <a:pt x="404034" y="331308"/>
                  <a:pt x="425696" y="275570"/>
                  <a:pt x="425314" y="259180"/>
                </a:cubicBezTo>
                <a:cubicBezTo>
                  <a:pt x="450188" y="242918"/>
                  <a:pt x="384634" y="163766"/>
                  <a:pt x="383240" y="94173"/>
                </a:cubicBezTo>
                <a:cubicBezTo>
                  <a:pt x="385641" y="84795"/>
                  <a:pt x="385609" y="79782"/>
                  <a:pt x="379938" y="77267"/>
                </a:cubicBezTo>
                <a:cubicBezTo>
                  <a:pt x="378301" y="68220"/>
                  <a:pt x="376144" y="54774"/>
                  <a:pt x="373430" y="3885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8F3EABD-9054-90A3-AF6D-8A6114D821B6}"/>
              </a:ext>
            </a:extLst>
          </p:cNvPr>
          <p:cNvSpPr>
            <a:spLocks noGrp="1"/>
          </p:cNvSpPr>
          <p:nvPr>
            <p:ph type="title"/>
          </p:nvPr>
        </p:nvSpPr>
        <p:spPr>
          <a:xfrm>
            <a:off x="3982594" y="-3"/>
            <a:ext cx="5161406" cy="1322887"/>
          </a:xfrm>
        </p:spPr>
        <p:txBody>
          <a:bodyPr>
            <a:normAutofit/>
          </a:bodyPr>
          <a:lstStyle/>
          <a:p>
            <a:r>
              <a:rPr lang="en-IN" b="1" dirty="0">
                <a:latin typeface="Times New Roman" panose="02020603050405020304" pitchFamily="18" charset="0"/>
                <a:cs typeface="Times New Roman" panose="02020603050405020304" pitchFamily="18" charset="0"/>
              </a:rPr>
              <a:t>Final Insights</a:t>
            </a:r>
          </a:p>
        </p:txBody>
      </p:sp>
      <p:pic>
        <p:nvPicPr>
          <p:cNvPr id="5" name="Picture 4">
            <a:extLst>
              <a:ext uri="{FF2B5EF4-FFF2-40B4-BE49-F238E27FC236}">
                <a16:creationId xmlns:a16="http://schemas.microsoft.com/office/drawing/2014/main" id="{6AC853AA-42BB-4FAE-6F2D-86F7641ECFCA}"/>
              </a:ext>
            </a:extLst>
          </p:cNvPr>
          <p:cNvPicPr>
            <a:picLocks noChangeAspect="1"/>
          </p:cNvPicPr>
          <p:nvPr/>
        </p:nvPicPr>
        <p:blipFill>
          <a:blip r:embed="rId2"/>
          <a:srcRect l="19881" t="13167" b="24551"/>
          <a:stretch>
            <a:fillRect/>
          </a:stretch>
        </p:blipFill>
        <p:spPr>
          <a:xfrm rot="16200000">
            <a:off x="-1437703" y="1437704"/>
            <a:ext cx="6858002" cy="3982589"/>
          </a:xfrm>
          <a:prstGeom prst="rect">
            <a:avLst/>
          </a:prstGeom>
        </p:spPr>
      </p:pic>
      <p:sp>
        <p:nvSpPr>
          <p:cNvPr id="3" name="Content Placeholder 2">
            <a:extLst>
              <a:ext uri="{FF2B5EF4-FFF2-40B4-BE49-F238E27FC236}">
                <a16:creationId xmlns:a16="http://schemas.microsoft.com/office/drawing/2014/main" id="{C429DCF2-1375-9921-AFF9-ED99AA2EE669}"/>
              </a:ext>
            </a:extLst>
          </p:cNvPr>
          <p:cNvSpPr>
            <a:spLocks noGrp="1"/>
          </p:cNvSpPr>
          <p:nvPr>
            <p:ph idx="1"/>
          </p:nvPr>
        </p:nvSpPr>
        <p:spPr>
          <a:xfrm>
            <a:off x="3982594" y="1156771"/>
            <a:ext cx="5161404" cy="5701229"/>
          </a:xfrm>
        </p:spPr>
        <p:txBody>
          <a:bodyPr>
            <a:normAutofit fontScale="92500" lnSpcReduction="10000"/>
          </a:bodyPr>
          <a:lstStyle/>
          <a:p>
            <a:pPr algn="just">
              <a:lnSpc>
                <a:spcPct val="90000"/>
              </a:lnSpc>
            </a:pPr>
            <a:r>
              <a:rPr lang="en-US" sz="1800" dirty="0">
                <a:latin typeface="Times New Roman" panose="02020603050405020304" pitchFamily="18" charset="0"/>
                <a:cs typeface="Times New Roman" panose="02020603050405020304" pitchFamily="18" charset="0"/>
              </a:rPr>
              <a:t>Revenue distribution is </a:t>
            </a:r>
            <a:r>
              <a:rPr lang="en-US" sz="1800" b="1" dirty="0">
                <a:latin typeface="Times New Roman" panose="02020603050405020304" pitchFamily="18" charset="0"/>
                <a:cs typeface="Times New Roman" panose="02020603050405020304" pitchFamily="18" charset="0"/>
              </a:rPr>
              <a:t>highly skewed, with a mean $549.73M and a median ≈ 290M</a:t>
            </a:r>
            <a:r>
              <a:rPr lang="en-US" sz="1800" dirty="0">
                <a:latin typeface="Times New Roman" panose="02020603050405020304" pitchFamily="18" charset="0"/>
                <a:cs typeface="Times New Roman" panose="02020603050405020304" pitchFamily="18" charset="0"/>
              </a:rPr>
              <a:t>, showing that few companies dominate the market. Profit margins vary widely, with </a:t>
            </a:r>
            <a:r>
              <a:rPr lang="en-US" sz="1800" b="1" dirty="0">
                <a:latin typeface="Times New Roman" panose="02020603050405020304" pitchFamily="18" charset="0"/>
                <a:cs typeface="Times New Roman" panose="02020603050405020304" pitchFamily="18" charset="0"/>
              </a:rPr>
              <a:t>a maximum ≈ 48.2%, </a:t>
            </a:r>
            <a:r>
              <a:rPr lang="en-US" sz="1800" dirty="0">
                <a:latin typeface="Times New Roman" panose="02020603050405020304" pitchFamily="18" charset="0"/>
                <a:cs typeface="Times New Roman" panose="02020603050405020304" pitchFamily="18" charset="0"/>
              </a:rPr>
              <a:t>indicating big differences in operational efficiency.</a:t>
            </a:r>
          </a:p>
          <a:p>
            <a:pPr algn="just">
              <a:lnSpc>
                <a:spcPct val="90000"/>
              </a:lnSpc>
            </a:pPr>
            <a:r>
              <a:rPr lang="en-US" sz="1800" dirty="0">
                <a:latin typeface="Times New Roman" panose="02020603050405020304" pitchFamily="18" charset="0"/>
                <a:cs typeface="Times New Roman" panose="02020603050405020304" pitchFamily="18" charset="0"/>
              </a:rPr>
              <a:t>Customer count and employee count showed negligible linear relationships with revenue, indicating that revenue performance depends on multiple business factors.</a:t>
            </a:r>
          </a:p>
          <a:p>
            <a:pPr algn="just">
              <a:lnSpc>
                <a:spcPct val="90000"/>
              </a:lnSpc>
            </a:pPr>
            <a:r>
              <a:rPr lang="en-US" sz="1800" dirty="0">
                <a:latin typeface="Times New Roman" panose="02020603050405020304" pitchFamily="18" charset="0"/>
                <a:cs typeface="Times New Roman" panose="02020603050405020304" pitchFamily="18" charset="0"/>
              </a:rPr>
              <a:t>The strongest observed correlation was between Annual Revenue and Market Rating, indicating overall low multicollinearity within the dataset.</a:t>
            </a:r>
          </a:p>
          <a:p>
            <a:pPr algn="just">
              <a:lnSpc>
                <a:spcPct val="90000"/>
              </a:lnSpc>
            </a:pPr>
            <a:r>
              <a:rPr lang="en-US" sz="1800" dirty="0">
                <a:latin typeface="Times New Roman" panose="02020603050405020304" pitchFamily="18" charset="0"/>
                <a:cs typeface="Times New Roman" panose="02020603050405020304" pitchFamily="18" charset="0"/>
              </a:rPr>
              <a:t>Business metrics appear largely independent, highlighting the complexity of enterprise performance and the importance of multivariable decision-making.</a:t>
            </a:r>
          </a:p>
          <a:p>
            <a:pPr algn="just">
              <a:lnSpc>
                <a:spcPct val="90000"/>
              </a:lnSpc>
            </a:pPr>
            <a:r>
              <a:rPr lang="en-US" sz="1800" dirty="0">
                <a:latin typeface="Times New Roman" panose="02020603050405020304" pitchFamily="18" charset="0"/>
                <a:cs typeface="Times New Roman" panose="02020603050405020304" pitchFamily="18" charset="0"/>
              </a:rPr>
              <a:t>The boxplots reveal multiple outliers, including up to </a:t>
            </a:r>
            <a:r>
              <a:rPr lang="en-US" sz="1800" b="1" dirty="0">
                <a:latin typeface="Times New Roman" panose="02020603050405020304" pitchFamily="18" charset="0"/>
                <a:cs typeface="Times New Roman" panose="02020603050405020304" pitchFamily="18" charset="0"/>
              </a:rPr>
              <a:t>18 extreme revenue observations</a:t>
            </a:r>
            <a:r>
              <a:rPr lang="en-US" sz="1800" dirty="0">
                <a:latin typeface="Times New Roman" panose="02020603050405020304" pitchFamily="18" charset="0"/>
                <a:cs typeface="Times New Roman" panose="02020603050405020304" pitchFamily="18" charset="0"/>
              </a:rPr>
              <a:t>, indicating market dominance by a few firms.</a:t>
            </a:r>
          </a:p>
          <a:p>
            <a:pPr algn="just">
              <a:lnSpc>
                <a:spcPct val="90000"/>
              </a:lnSpc>
            </a:pPr>
            <a:r>
              <a:rPr lang="en-US" sz="1800" dirty="0">
                <a:latin typeface="Times New Roman" panose="02020603050405020304" pitchFamily="18" charset="0"/>
                <a:cs typeface="Times New Roman" panose="02020603050405020304" pitchFamily="18" charset="0"/>
              </a:rPr>
              <a:t>Category distribution is balanced, with each industry contributing approximately 20% of the dataset. Business performance differences are driven by operational metrics rather than representation alone.</a:t>
            </a:r>
          </a:p>
          <a:p>
            <a:pPr algn="just">
              <a:lnSpc>
                <a:spcPct val="90000"/>
              </a:lnSpc>
            </a:pPr>
            <a:r>
              <a:rPr lang="en-US" sz="1800" dirty="0">
                <a:latin typeface="Times New Roman" panose="02020603050405020304" pitchFamily="18" charset="0"/>
                <a:cs typeface="Times New Roman" panose="02020603050405020304" pitchFamily="18" charset="0"/>
              </a:rPr>
              <a:t>Time-series trend analysis shows steady upward </a:t>
            </a:r>
            <a:r>
              <a:rPr lang="en-US" sz="1800" b="1" dirty="0">
                <a:latin typeface="Times New Roman" panose="02020603050405020304" pitchFamily="18" charset="0"/>
                <a:cs typeface="Times New Roman" panose="02020603050405020304" pitchFamily="18" charset="0"/>
              </a:rPr>
              <a:t>growth, with revenue increasing over time</a:t>
            </a:r>
            <a:r>
              <a:rPr lang="en-US" sz="1800" dirty="0">
                <a:latin typeface="Times New Roman" panose="02020603050405020304" pitchFamily="18" charset="0"/>
                <a:cs typeface="Times New Roman" panose="02020603050405020304" pitchFamily="18" charset="0"/>
              </a:rPr>
              <a:t>.</a:t>
            </a:r>
          </a:p>
          <a:p>
            <a:pPr>
              <a:lnSpc>
                <a:spcPct val="90000"/>
              </a:lnSpc>
            </a:pPr>
            <a:endParaRPr lang="en-US" sz="1200" dirty="0"/>
          </a:p>
        </p:txBody>
      </p:sp>
    </p:spTree>
    <p:extLst>
      <p:ext uri="{BB962C8B-B14F-4D97-AF65-F5344CB8AC3E}">
        <p14:creationId xmlns:p14="http://schemas.microsoft.com/office/powerpoint/2010/main" val="3079740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E51BA4DF-2BD4-4EC2-B1DB-B27C8AC718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147372" y="0"/>
            <a:ext cx="5996628" cy="870333"/>
          </a:xfrm>
        </p:spPr>
        <p:txBody>
          <a:bodyPr anchor="t">
            <a:normAutofit/>
          </a:bodyPr>
          <a:lstStyle/>
          <a:p>
            <a:r>
              <a:rPr lang="en-IN" sz="3500" b="1" dirty="0">
                <a:latin typeface="Times New Roman" panose="02020603050405020304" pitchFamily="18" charset="0"/>
                <a:cs typeface="Times New Roman" panose="02020603050405020304" pitchFamily="18" charset="0"/>
              </a:rPr>
              <a:t>Business Recommendations</a:t>
            </a:r>
          </a:p>
        </p:txBody>
      </p:sp>
      <p:pic>
        <p:nvPicPr>
          <p:cNvPr id="31" name="Picture 30">
            <a:extLst>
              <a:ext uri="{FF2B5EF4-FFF2-40B4-BE49-F238E27FC236}">
                <a16:creationId xmlns:a16="http://schemas.microsoft.com/office/drawing/2014/main" id="{387BC113-3B04-C03B-9144-B7BC89B9C477}"/>
              </a:ext>
            </a:extLst>
          </p:cNvPr>
          <p:cNvPicPr>
            <a:picLocks noChangeAspect="1"/>
          </p:cNvPicPr>
          <p:nvPr/>
        </p:nvPicPr>
        <p:blipFill>
          <a:blip r:embed="rId2"/>
          <a:srcRect l="26113" r="48072"/>
          <a:stretch>
            <a:fillRect/>
          </a:stretch>
        </p:blipFill>
        <p:spPr>
          <a:xfrm>
            <a:off x="19" y="10"/>
            <a:ext cx="3393175" cy="6857990"/>
          </a:xfrm>
          <a:prstGeom prst="rect">
            <a:avLst/>
          </a:prstGeom>
          <a:effectLst/>
        </p:spPr>
      </p:pic>
      <p:sp>
        <p:nvSpPr>
          <p:cNvPr id="4" name="Content Placeholder 3">
            <a:extLst>
              <a:ext uri="{FF2B5EF4-FFF2-40B4-BE49-F238E27FC236}">
                <a16:creationId xmlns:a16="http://schemas.microsoft.com/office/drawing/2014/main" id="{C65EE695-35AC-0DBB-64E5-37A8E72F80FA}"/>
              </a:ext>
            </a:extLst>
          </p:cNvPr>
          <p:cNvSpPr>
            <a:spLocks noGrp="1"/>
          </p:cNvSpPr>
          <p:nvPr>
            <p:ph idx="1"/>
          </p:nvPr>
        </p:nvSpPr>
        <p:spPr>
          <a:xfrm>
            <a:off x="3147371" y="642257"/>
            <a:ext cx="5994341" cy="6215743"/>
          </a:xfrm>
        </p:spPr>
        <p:txBody>
          <a:bodyPr>
            <a:normAutofit lnSpcReduction="10000"/>
          </a:bodyPr>
          <a:lstStyle/>
          <a:p>
            <a:pPr algn="just">
              <a:lnSpc>
                <a:spcPct val="90000"/>
              </a:lnSpc>
            </a:pPr>
            <a:r>
              <a:rPr lang="en-US" sz="1800" b="1" dirty="0">
                <a:solidFill>
                  <a:schemeClr val="accent2">
                    <a:lumMod val="75000"/>
                  </a:schemeClr>
                </a:solidFill>
                <a:latin typeface="Times New Roman" panose="02020603050405020304" pitchFamily="18" charset="0"/>
                <a:cs typeface="Times New Roman" panose="02020603050405020304" pitchFamily="18" charset="0"/>
              </a:rPr>
              <a:t>Focus on Customer-Centric Expansion: </a:t>
            </a:r>
            <a:r>
              <a:rPr lang="en-US" sz="1800" dirty="0">
                <a:latin typeface="Times New Roman" panose="02020603050405020304" pitchFamily="18" charset="0"/>
                <a:cs typeface="Times New Roman" panose="02020603050405020304" pitchFamily="18" charset="0"/>
              </a:rPr>
              <a:t>Customer acquisition remains important for long-term growth, although the analysis suggests that revenue performance depends on multiple operational and market factors.</a:t>
            </a:r>
          </a:p>
          <a:p>
            <a:pPr algn="just">
              <a:lnSpc>
                <a:spcPct val="90000"/>
              </a:lnSpc>
            </a:pPr>
            <a:r>
              <a:rPr lang="en-US" sz="1800" b="1" dirty="0">
                <a:solidFill>
                  <a:schemeClr val="accent2">
                    <a:lumMod val="75000"/>
                  </a:schemeClr>
                </a:solidFill>
                <a:latin typeface="Times New Roman" panose="02020603050405020304" pitchFamily="18" charset="0"/>
                <a:cs typeface="Times New Roman" panose="02020603050405020304" pitchFamily="18" charset="0"/>
              </a:rPr>
              <a:t>Scale Workforce Strategically: </a:t>
            </a:r>
            <a:r>
              <a:rPr lang="en-US" sz="1800" dirty="0">
                <a:latin typeface="Times New Roman" panose="02020603050405020304" pitchFamily="18" charset="0"/>
                <a:cs typeface="Times New Roman" panose="02020603050405020304" pitchFamily="18" charset="0"/>
              </a:rPr>
              <a:t>Although revenue has weak correlation with employee count, the workforce should be optimized carefully, as diminishing returns can occur. Organizations should optimize productivity and invest in automation and AI instead of uncontrolled expansion.</a:t>
            </a:r>
          </a:p>
          <a:p>
            <a:pPr algn="just">
              <a:lnSpc>
                <a:spcPct val="90000"/>
              </a:lnSpc>
            </a:pPr>
            <a:r>
              <a:rPr lang="en-US" sz="1800" b="1" dirty="0">
                <a:solidFill>
                  <a:schemeClr val="accent2">
                    <a:lumMod val="75000"/>
                  </a:schemeClr>
                </a:solidFill>
                <a:latin typeface="Times New Roman" panose="02020603050405020304" pitchFamily="18" charset="0"/>
                <a:cs typeface="Times New Roman" panose="02020603050405020304" pitchFamily="18" charset="0"/>
              </a:rPr>
              <a:t>Strengthen Market Reputation</a:t>
            </a:r>
            <a:r>
              <a:rPr lang="en-US" sz="1800" dirty="0">
                <a:latin typeface="Times New Roman" panose="02020603050405020304" pitchFamily="18" charset="0"/>
                <a:cs typeface="Times New Roman" panose="02020603050405020304" pitchFamily="18" charset="0"/>
              </a:rPr>
              <a:t>: A strong market rating contributes to higher profit margins. Improving brand perception and product quality is essential for achieving stable profits.</a:t>
            </a:r>
          </a:p>
          <a:p>
            <a:pPr algn="just">
              <a:lnSpc>
                <a:spcPct val="90000"/>
              </a:lnSpc>
            </a:pPr>
            <a:r>
              <a:rPr lang="en-US" sz="1800" b="1" dirty="0">
                <a:solidFill>
                  <a:schemeClr val="accent2">
                    <a:lumMod val="75000"/>
                  </a:schemeClr>
                </a:solidFill>
                <a:latin typeface="Times New Roman" panose="02020603050405020304" pitchFamily="18" charset="0"/>
                <a:cs typeface="Times New Roman" panose="02020603050405020304" pitchFamily="18" charset="0"/>
              </a:rPr>
              <a:t>Leverage Industry Growth Opportunities</a:t>
            </a:r>
            <a:r>
              <a:rPr lang="en-US" sz="1800" dirty="0">
                <a:latin typeface="Times New Roman" panose="02020603050405020304" pitchFamily="18" charset="0"/>
                <a:cs typeface="Times New Roman" panose="02020603050405020304" pitchFamily="18" charset="0"/>
              </a:rPr>
              <a:t>: Organizations should focus on sectors demonstrating higher revenue and profitability characteristics while leveraging digital transformation to improve competitiveness.</a:t>
            </a:r>
          </a:p>
          <a:p>
            <a:pPr algn="just">
              <a:lnSpc>
                <a:spcPct val="90000"/>
              </a:lnSpc>
            </a:pPr>
            <a:r>
              <a:rPr lang="en-US" sz="1800" b="1" dirty="0">
                <a:solidFill>
                  <a:schemeClr val="accent2">
                    <a:lumMod val="75000"/>
                  </a:schemeClr>
                </a:solidFill>
                <a:latin typeface="Times New Roman" panose="02020603050405020304" pitchFamily="18" charset="0"/>
                <a:cs typeface="Times New Roman" panose="02020603050405020304" pitchFamily="18" charset="0"/>
              </a:rPr>
              <a:t>Employ Data-Driven Segmentation: </a:t>
            </a:r>
            <a:r>
              <a:rPr lang="en-US" sz="1800" dirty="0">
                <a:latin typeface="Times New Roman" panose="02020603050405020304" pitchFamily="18" charset="0"/>
                <a:cs typeface="Times New Roman" panose="02020603050405020304" pitchFamily="18" charset="0"/>
              </a:rPr>
              <a:t>Three business tiers have been identified. High-tier firms should expand globally, mid-tier firms should scale operations, and low-tier firms should work on efficiency</a:t>
            </a:r>
            <a:r>
              <a:rPr lang="en-US" sz="1800" b="1" dirty="0">
                <a:solidFill>
                  <a:schemeClr val="accent2">
                    <a:lumMod val="75000"/>
                  </a:schemeClr>
                </a:solidFill>
                <a:latin typeface="Times New Roman" panose="02020603050405020304" pitchFamily="18" charset="0"/>
                <a:cs typeface="Times New Roman" panose="02020603050405020304" pitchFamily="18" charset="0"/>
              </a:rPr>
              <a:t>.</a:t>
            </a:r>
          </a:p>
          <a:p>
            <a:pPr algn="just">
              <a:lnSpc>
                <a:spcPct val="90000"/>
              </a:lnSpc>
            </a:pPr>
            <a:r>
              <a:rPr lang="en-US" sz="1800" b="1" dirty="0">
                <a:solidFill>
                  <a:schemeClr val="accent2">
                    <a:lumMod val="75000"/>
                  </a:schemeClr>
                </a:solidFill>
                <a:latin typeface="Times New Roman" panose="02020603050405020304" pitchFamily="18" charset="0"/>
                <a:cs typeface="Times New Roman" panose="02020603050405020304" pitchFamily="18" charset="0"/>
              </a:rPr>
              <a:t>Manage Extreme Outliers as Strategic Assets: </a:t>
            </a:r>
            <a:r>
              <a:rPr lang="en-US" sz="1800" dirty="0">
                <a:latin typeface="Times New Roman" panose="02020603050405020304" pitchFamily="18" charset="0"/>
                <a:cs typeface="Times New Roman" panose="02020603050405020304" pitchFamily="18" charset="0"/>
              </a:rPr>
              <a:t>Outlier firms hold considerable market influence. Benchmarking against the top 1 to 2 percent can provide valuable operational insights.</a:t>
            </a:r>
            <a:endParaRPr lang="en-IN" sz="18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0" y="1904672"/>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B65E75F-3C5D-EFCD-1737-21497C783FC9}"/>
              </a:ext>
            </a:extLst>
          </p:cNvPr>
          <p:cNvSpPr>
            <a:spLocks noGrp="1"/>
          </p:cNvSpPr>
          <p:nvPr>
            <p:ph type="title"/>
          </p:nvPr>
        </p:nvSpPr>
        <p:spPr>
          <a:xfrm>
            <a:off x="350041" y="586855"/>
            <a:ext cx="2401025" cy="3387497"/>
          </a:xfrm>
        </p:spPr>
        <p:txBody>
          <a:bodyPr anchor="b">
            <a:normAutofit/>
          </a:bodyPr>
          <a:lstStyle/>
          <a:p>
            <a:pPr algn="r"/>
            <a:r>
              <a:rPr lang="en-US" sz="3500">
                <a:solidFill>
                  <a:srgbClr val="FFFFFF"/>
                </a:solidFill>
              </a:rPr>
              <a:t>Project Conclusion</a:t>
            </a:r>
            <a:endParaRPr lang="en-IN" sz="3500">
              <a:solidFill>
                <a:srgbClr val="FFFFFF"/>
              </a:solidFill>
            </a:endParaRPr>
          </a:p>
        </p:txBody>
      </p:sp>
      <p:sp>
        <p:nvSpPr>
          <p:cNvPr id="3" name="Content Placeholder 2">
            <a:extLst>
              <a:ext uri="{FF2B5EF4-FFF2-40B4-BE49-F238E27FC236}">
                <a16:creationId xmlns:a16="http://schemas.microsoft.com/office/drawing/2014/main" id="{50EBC082-9AAA-F98B-936F-46368F08CDA8}"/>
              </a:ext>
            </a:extLst>
          </p:cNvPr>
          <p:cNvSpPr>
            <a:spLocks noGrp="1"/>
          </p:cNvSpPr>
          <p:nvPr>
            <p:ph idx="1"/>
          </p:nvPr>
        </p:nvSpPr>
        <p:spPr>
          <a:xfrm>
            <a:off x="3028370" y="0"/>
            <a:ext cx="6113344" cy="6847861"/>
          </a:xfrm>
        </p:spPr>
        <p:txBody>
          <a:bodyPr anchor="ctr">
            <a:normAutofit fontScale="92500" lnSpcReduction="10000"/>
          </a:bodyPr>
          <a:lstStyle/>
          <a:p>
            <a:pPr algn="just">
              <a:lnSpc>
                <a:spcPct val="90000"/>
              </a:lnSpc>
            </a:pPr>
            <a:r>
              <a:rPr lang="en-US" sz="1600" dirty="0">
                <a:latin typeface="Times New Roman" panose="02020603050405020304" pitchFamily="18" charset="0"/>
                <a:cs typeface="Times New Roman" panose="02020603050405020304" pitchFamily="18" charset="0"/>
              </a:rPr>
              <a:t>This project has accomplished a comprehensive Exploratory Data Analysis (EDA) and Machine Learning study utilizing an industry dataset comprising </a:t>
            </a:r>
            <a:r>
              <a:rPr lang="en-US" sz="1600" b="1" dirty="0">
                <a:latin typeface="Times New Roman" panose="02020603050405020304" pitchFamily="18" charset="0"/>
                <a:cs typeface="Times New Roman" panose="02020603050405020304" pitchFamily="18" charset="0"/>
              </a:rPr>
              <a:t>15,000 company records</a:t>
            </a:r>
            <a:r>
              <a:rPr lang="en-US" sz="1600" dirty="0">
                <a:latin typeface="Times New Roman" panose="02020603050405020304" pitchFamily="18" charset="0"/>
                <a:cs typeface="Times New Roman" panose="02020603050405020304" pitchFamily="18" charset="0"/>
              </a:rPr>
              <a:t>. The analysis included data cleaning, assessments of missing values, duplicate detection, and various univariate, bivariate, and multivariate analyses, as well as forecasting, clustering, Principal Component Analysis (PCA), anomaly detection, and predictive modeling. </a:t>
            </a:r>
          </a:p>
          <a:p>
            <a:pPr algn="just">
              <a:lnSpc>
                <a:spcPct val="90000"/>
              </a:lnSpc>
            </a:pPr>
            <a:r>
              <a:rPr lang="en-US" sz="1600" dirty="0">
                <a:latin typeface="Times New Roman" panose="02020603050405020304" pitchFamily="18" charset="0"/>
                <a:cs typeface="Times New Roman" panose="02020603050405020304" pitchFamily="18" charset="0"/>
              </a:rPr>
              <a:t>The dataset revealed variability among companies regarding revenue, employee count, customer base, profit margin, and market rating. The average annual revenue was approximately </a:t>
            </a:r>
            <a:r>
              <a:rPr lang="en-US" sz="1600" b="1" dirty="0">
                <a:latin typeface="Times New Roman" panose="02020603050405020304" pitchFamily="18" charset="0"/>
                <a:cs typeface="Times New Roman" panose="02020603050405020304" pitchFamily="18" charset="0"/>
              </a:rPr>
              <a:t>$549.73 million</a:t>
            </a:r>
            <a:r>
              <a:rPr lang="en-US" sz="1600" dirty="0">
                <a:latin typeface="Times New Roman" panose="02020603050405020304" pitchFamily="18" charset="0"/>
                <a:cs typeface="Times New Roman" panose="02020603050405020304" pitchFamily="18" charset="0"/>
              </a:rPr>
              <a:t>, while the mean profit margin was approximately </a:t>
            </a:r>
            <a:r>
              <a:rPr lang="en-US" sz="1600" b="1" dirty="0">
                <a:latin typeface="Times New Roman" panose="02020603050405020304" pitchFamily="18" charset="0"/>
                <a:cs typeface="Times New Roman" panose="02020603050405020304" pitchFamily="18" charset="0"/>
              </a:rPr>
              <a:t>25.01</a:t>
            </a:r>
            <a:r>
              <a:rPr lang="en-US" sz="1600" dirty="0">
                <a:latin typeface="Times New Roman" panose="02020603050405020304" pitchFamily="18" charset="0"/>
                <a:cs typeface="Times New Roman" panose="02020603050405020304" pitchFamily="18" charset="0"/>
              </a:rPr>
              <a:t>, indicating varied financial performance.</a:t>
            </a:r>
          </a:p>
          <a:p>
            <a:pPr algn="just">
              <a:lnSpc>
                <a:spcPct val="90000"/>
              </a:lnSpc>
            </a:pPr>
            <a:r>
              <a:rPr lang="en-US" sz="1600" dirty="0">
                <a:latin typeface="Times New Roman" panose="02020603050405020304" pitchFamily="18" charset="0"/>
                <a:cs typeface="Times New Roman" panose="02020603050405020304" pitchFamily="18" charset="0"/>
              </a:rPr>
              <a:t>The EDA demonstrated that market ratings do not strongly depend on any singular variable. Instead, business performance is influenced by a combination of factors, including annual revenue, customer count, employee strength, profit margin, industry type, and regional presence.</a:t>
            </a:r>
          </a:p>
          <a:p>
            <a:pPr algn="just">
              <a:lnSpc>
                <a:spcPct val="90000"/>
              </a:lnSpc>
            </a:pPr>
            <a:r>
              <a:rPr lang="en-US" sz="1600" dirty="0">
                <a:latin typeface="Times New Roman" panose="02020603050405020304" pitchFamily="18" charset="0"/>
                <a:cs typeface="Times New Roman" panose="02020603050405020304" pitchFamily="18" charset="0"/>
              </a:rPr>
              <a:t>The forecasting analysis indicated that historical market rating values show weak temporal dependency, suggesting that past ratings alone are insufficient for accurate future predictions. A rolling average can help identify trends, but more sophisticated forecasting models are necessary for enhanced predictive capabilities.</a:t>
            </a:r>
          </a:p>
          <a:p>
            <a:pPr algn="just">
              <a:lnSpc>
                <a:spcPct val="90000"/>
              </a:lnSpc>
            </a:pPr>
            <a:r>
              <a:rPr lang="en-US" sz="1600" dirty="0">
                <a:latin typeface="Times New Roman" panose="02020603050405020304" pitchFamily="18" charset="0"/>
                <a:cs typeface="Times New Roman" panose="02020603050405020304" pitchFamily="18" charset="0"/>
              </a:rPr>
              <a:t>The clustering and PCA analyses identified hidden patterns among companies; however, low separation between clusters indicates that the available variables do not facilitate the formation of distinct groups. Incorporating additional factors such as marketing expenditure, customer satisfaction, digital presence, and operational costs could improve segmentation quality.</a:t>
            </a:r>
          </a:p>
          <a:p>
            <a:pPr algn="just">
              <a:lnSpc>
                <a:spcPct val="90000"/>
              </a:lnSpc>
            </a:pPr>
            <a:r>
              <a:rPr lang="en-US" sz="1600" dirty="0">
                <a:latin typeface="Times New Roman" panose="02020603050405020304" pitchFamily="18" charset="0"/>
                <a:cs typeface="Times New Roman" panose="02020603050405020304" pitchFamily="18" charset="0"/>
              </a:rPr>
              <a:t>Although the machine learning models provided a useful baseline for predicting market ratings, the observed weak performance signifies that these ratings are complex and may require more comprehensive business variables for improved predictive accuracy. In summary, this project offers a thorough analytical perspective on company performance and supports data-driven decision-making by identifying key business drivers, performance gaps, and areas for future improvement.</a:t>
            </a:r>
            <a:endParaRPr lang="en-IN"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262882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9C6777B5-64F4-4200-B099-34168B69FE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D058FB-C59B-6E6F-E5D8-573BFA740BD2}"/>
              </a:ext>
            </a:extLst>
          </p:cNvPr>
          <p:cNvPicPr>
            <a:picLocks noChangeAspect="1"/>
          </p:cNvPicPr>
          <p:nvPr/>
        </p:nvPicPr>
        <p:blipFill>
          <a:blip r:embed="rId2">
            <a:extLst>
              <a:ext uri="{837473B0-CC2E-450A-ABE3-18F120FF3D39}">
                <a1611:picAttrSrcUrl xmlns:a1611="http://schemas.microsoft.com/office/drawing/2016/11/main" r:id="rId3"/>
              </a:ext>
            </a:extLst>
          </a:blip>
          <a:srcRect b="125"/>
          <a:stretch>
            <a:fillRect/>
          </a:stretch>
        </p:blipFill>
        <p:spPr>
          <a:xfrm>
            <a:off x="20" y="10"/>
            <a:ext cx="9143980" cy="6095990"/>
          </a:xfrm>
          <a:custGeom>
            <a:avLst/>
            <a:gdLst/>
            <a:ahLst/>
            <a:cxnLst/>
            <a:rect l="l" t="t" r="r" b="b"/>
            <a:pathLst>
              <a:path w="12192000" h="6096000">
                <a:moveTo>
                  <a:pt x="7230262" y="5906862"/>
                </a:moveTo>
                <a:lnTo>
                  <a:pt x="7197115" y="5913338"/>
                </a:lnTo>
                <a:lnTo>
                  <a:pt x="7214545" y="5911744"/>
                </a:lnTo>
                <a:cubicBezTo>
                  <a:pt x="7220308" y="5910958"/>
                  <a:pt x="7225785" y="5909624"/>
                  <a:pt x="7230262" y="5906862"/>
                </a:cubicBezTo>
                <a:close/>
                <a:moveTo>
                  <a:pt x="7009120" y="5850263"/>
                </a:moveTo>
                <a:lnTo>
                  <a:pt x="7021563" y="5861355"/>
                </a:lnTo>
                <a:lnTo>
                  <a:pt x="7021563" y="5861354"/>
                </a:lnTo>
                <a:close/>
                <a:moveTo>
                  <a:pt x="7768443" y="5742074"/>
                </a:moveTo>
                <a:lnTo>
                  <a:pt x="7768443" y="5742075"/>
                </a:lnTo>
                <a:lnTo>
                  <a:pt x="7792447" y="5764553"/>
                </a:lnTo>
                <a:cubicBezTo>
                  <a:pt x="7785969" y="5758457"/>
                  <a:pt x="7779301" y="5752361"/>
                  <a:pt x="7768443" y="5742074"/>
                </a:cubicBezTo>
                <a:close/>
                <a:moveTo>
                  <a:pt x="4038748" y="5739955"/>
                </a:moveTo>
                <a:lnTo>
                  <a:pt x="4030517" y="5751599"/>
                </a:lnTo>
                <a:cubicBezTo>
                  <a:pt x="4026230" y="5759505"/>
                  <a:pt x="4021242" y="5765745"/>
                  <a:pt x="4015609" y="5770450"/>
                </a:cubicBezTo>
                <a:lnTo>
                  <a:pt x="3996845" y="5780104"/>
                </a:lnTo>
                <a:cubicBezTo>
                  <a:pt x="4010562" y="5776555"/>
                  <a:pt x="4021944" y="5767411"/>
                  <a:pt x="4030518" y="5751599"/>
                </a:cubicBezTo>
                <a:close/>
                <a:moveTo>
                  <a:pt x="6245343" y="5736549"/>
                </a:moveTo>
                <a:lnTo>
                  <a:pt x="6274406" y="5743345"/>
                </a:lnTo>
                <a:lnTo>
                  <a:pt x="6291247" y="5749662"/>
                </a:lnTo>
                <a:lnTo>
                  <a:pt x="6291385" y="5749714"/>
                </a:lnTo>
                <a:lnTo>
                  <a:pt x="6306284" y="5755552"/>
                </a:lnTo>
                <a:lnTo>
                  <a:pt x="6308075" y="5755968"/>
                </a:lnTo>
                <a:lnTo>
                  <a:pt x="6313855" y="5758133"/>
                </a:lnTo>
                <a:cubicBezTo>
                  <a:pt x="6321454" y="5760521"/>
                  <a:pt x="6329151" y="5762258"/>
                  <a:pt x="6337048" y="5762696"/>
                </a:cubicBezTo>
                <a:lnTo>
                  <a:pt x="6308075" y="5755968"/>
                </a:lnTo>
                <a:lnTo>
                  <a:pt x="6291385" y="5749714"/>
                </a:lnTo>
                <a:lnTo>
                  <a:pt x="6276197" y="5743764"/>
                </a:lnTo>
                <a:lnTo>
                  <a:pt x="6274406" y="5743345"/>
                </a:lnTo>
                <a:lnTo>
                  <a:pt x="6268613" y="5741171"/>
                </a:lnTo>
                <a:cubicBezTo>
                  <a:pt x="6260996" y="5738770"/>
                  <a:pt x="6253273" y="5737013"/>
                  <a:pt x="6245343" y="5736549"/>
                </a:cubicBezTo>
                <a:close/>
                <a:moveTo>
                  <a:pt x="6558837" y="5706717"/>
                </a:moveTo>
                <a:cubicBezTo>
                  <a:pt x="6548970" y="5706068"/>
                  <a:pt x="6539355" y="5706473"/>
                  <a:pt x="6529984" y="5708163"/>
                </a:cubicBezTo>
                <a:lnTo>
                  <a:pt x="6589207" y="5711593"/>
                </a:lnTo>
                <a:cubicBezTo>
                  <a:pt x="6578825" y="5709068"/>
                  <a:pt x="6568705" y="5707366"/>
                  <a:pt x="6558837" y="5706717"/>
                </a:cubicBezTo>
                <a:close/>
                <a:moveTo>
                  <a:pt x="4834454" y="5646059"/>
                </a:moveTo>
                <a:cubicBezTo>
                  <a:pt x="4849504" y="5662538"/>
                  <a:pt x="4866316" y="5668776"/>
                  <a:pt x="4883986" y="5670301"/>
                </a:cubicBezTo>
                <a:lnTo>
                  <a:pt x="4858238" y="5663787"/>
                </a:lnTo>
                <a:cubicBezTo>
                  <a:pt x="4849945" y="5659978"/>
                  <a:pt x="4841980" y="5654298"/>
                  <a:pt x="4834454" y="5646059"/>
                </a:cubicBezTo>
                <a:close/>
                <a:moveTo>
                  <a:pt x="5056443" y="5643725"/>
                </a:moveTo>
                <a:lnTo>
                  <a:pt x="5072588" y="5644505"/>
                </a:lnTo>
                <a:cubicBezTo>
                  <a:pt x="5078053" y="5645963"/>
                  <a:pt x="5083590" y="5648726"/>
                  <a:pt x="5089162" y="5653107"/>
                </a:cubicBezTo>
                <a:cubicBezTo>
                  <a:pt x="5078019" y="5644344"/>
                  <a:pt x="5067015" y="5642058"/>
                  <a:pt x="5056443" y="5643725"/>
                </a:cubicBezTo>
                <a:close/>
                <a:moveTo>
                  <a:pt x="739852" y="5343843"/>
                </a:moveTo>
                <a:cubicBezTo>
                  <a:pt x="733899" y="5350392"/>
                  <a:pt x="728660" y="5358013"/>
                  <a:pt x="724278" y="5365062"/>
                </a:cubicBezTo>
                <a:cubicBezTo>
                  <a:pt x="719849" y="5372206"/>
                  <a:pt x="714527" y="5377552"/>
                  <a:pt x="708621" y="5381222"/>
                </a:cubicBezTo>
                <a:lnTo>
                  <a:pt x="691439" y="5386697"/>
                </a:lnTo>
                <a:lnTo>
                  <a:pt x="708622" y="5381222"/>
                </a:lnTo>
                <a:cubicBezTo>
                  <a:pt x="714527" y="5377552"/>
                  <a:pt x="719849" y="5372206"/>
                  <a:pt x="724279" y="5365062"/>
                </a:cubicBezTo>
                <a:cubicBezTo>
                  <a:pt x="728660" y="5358013"/>
                  <a:pt x="733899" y="5350392"/>
                  <a:pt x="739852" y="5343843"/>
                </a:cubicBezTo>
                <a:close/>
                <a:moveTo>
                  <a:pt x="8934151" y="5275333"/>
                </a:moveTo>
                <a:cubicBezTo>
                  <a:pt x="8940248" y="5280573"/>
                  <a:pt x="8947058" y="5285906"/>
                  <a:pt x="8954249" y="5290264"/>
                </a:cubicBezTo>
                <a:lnTo>
                  <a:pt x="8962389" y="5293563"/>
                </a:lnTo>
                <a:lnTo>
                  <a:pt x="8954250" y="5290264"/>
                </a:lnTo>
                <a:cubicBezTo>
                  <a:pt x="8947058" y="5285906"/>
                  <a:pt x="8940248" y="5280573"/>
                  <a:pt x="8934151" y="5275333"/>
                </a:cubicBezTo>
                <a:close/>
                <a:moveTo>
                  <a:pt x="2314816" y="5273737"/>
                </a:moveTo>
                <a:cubicBezTo>
                  <a:pt x="2309720" y="5274714"/>
                  <a:pt x="2304339" y="5276762"/>
                  <a:pt x="2300909" y="5279143"/>
                </a:cubicBezTo>
                <a:cubicBezTo>
                  <a:pt x="2267856" y="5302385"/>
                  <a:pt x="2242281" y="5314291"/>
                  <a:pt x="2216515" y="5314887"/>
                </a:cubicBezTo>
                <a:cubicBezTo>
                  <a:pt x="2242281" y="5314291"/>
                  <a:pt x="2267856" y="5302385"/>
                  <a:pt x="2300910" y="5279143"/>
                </a:cubicBezTo>
                <a:close/>
                <a:moveTo>
                  <a:pt x="1916629" y="5252000"/>
                </a:moveTo>
                <a:lnTo>
                  <a:pt x="1907132" y="5255330"/>
                </a:lnTo>
                <a:lnTo>
                  <a:pt x="1866619" y="5265015"/>
                </a:lnTo>
                <a:lnTo>
                  <a:pt x="1907133" y="5255330"/>
                </a:lnTo>
                <a:close/>
                <a:moveTo>
                  <a:pt x="2058204" y="5241232"/>
                </a:moveTo>
                <a:cubicBezTo>
                  <a:pt x="2076636" y="5242946"/>
                  <a:pt x="2095174" y="5243803"/>
                  <a:pt x="2108194" y="5255939"/>
                </a:cubicBezTo>
                <a:cubicBezTo>
                  <a:pt x="2095175" y="5243803"/>
                  <a:pt x="2076636" y="5242946"/>
                  <a:pt x="2058204" y="5241232"/>
                </a:cubicBezTo>
                <a:close/>
                <a:moveTo>
                  <a:pt x="0" y="0"/>
                </a:moveTo>
                <a:lnTo>
                  <a:pt x="12191456" y="0"/>
                </a:lnTo>
                <a:lnTo>
                  <a:pt x="12191456" y="873938"/>
                </a:lnTo>
                <a:lnTo>
                  <a:pt x="12192000" y="873938"/>
                </a:lnTo>
                <a:lnTo>
                  <a:pt x="12192000" y="3249107"/>
                </a:lnTo>
                <a:cubicBezTo>
                  <a:pt x="12192000" y="3264730"/>
                  <a:pt x="12192000" y="3274255"/>
                  <a:pt x="12192000" y="3283970"/>
                </a:cubicBezTo>
                <a:lnTo>
                  <a:pt x="12192000" y="3681702"/>
                </a:lnTo>
                <a:lnTo>
                  <a:pt x="12160947" y="3710323"/>
                </a:lnTo>
                <a:cubicBezTo>
                  <a:pt x="12118083" y="3731849"/>
                  <a:pt x="12072360" y="3751282"/>
                  <a:pt x="12026448" y="3770523"/>
                </a:cubicBezTo>
                <a:cubicBezTo>
                  <a:pt x="12013114" y="3776049"/>
                  <a:pt x="11998443" y="3779097"/>
                  <a:pt x="11986443" y="3786526"/>
                </a:cubicBezTo>
                <a:cubicBezTo>
                  <a:pt x="11931195" y="3820436"/>
                  <a:pt x="11877664" y="3857014"/>
                  <a:pt x="11821656" y="3889591"/>
                </a:cubicBezTo>
                <a:cubicBezTo>
                  <a:pt x="11763931" y="3923310"/>
                  <a:pt x="11712304" y="3963126"/>
                  <a:pt x="11672489" y="4017039"/>
                </a:cubicBezTo>
                <a:cubicBezTo>
                  <a:pt x="11635529" y="4067143"/>
                  <a:pt x="11599714" y="4118007"/>
                  <a:pt x="11562947" y="4168300"/>
                </a:cubicBezTo>
                <a:cubicBezTo>
                  <a:pt x="11553613" y="4181065"/>
                  <a:pt x="11545039" y="4196115"/>
                  <a:pt x="11532275" y="4204307"/>
                </a:cubicBezTo>
                <a:cubicBezTo>
                  <a:pt x="11505795" y="4221452"/>
                  <a:pt x="11476838" y="4235359"/>
                  <a:pt x="11448453" y="4249457"/>
                </a:cubicBezTo>
                <a:cubicBezTo>
                  <a:pt x="11424069" y="4261459"/>
                  <a:pt x="11398160" y="4270411"/>
                  <a:pt x="11374346" y="4283366"/>
                </a:cubicBezTo>
                <a:cubicBezTo>
                  <a:pt x="11355296" y="4293655"/>
                  <a:pt x="11338339" y="4307943"/>
                  <a:pt x="11320623" y="4320897"/>
                </a:cubicBezTo>
                <a:cubicBezTo>
                  <a:pt x="11305192" y="4332136"/>
                  <a:pt x="11288238" y="4341852"/>
                  <a:pt x="11275283" y="4355378"/>
                </a:cubicBezTo>
                <a:cubicBezTo>
                  <a:pt x="11243658" y="4388145"/>
                  <a:pt x="11211843" y="4420340"/>
                  <a:pt x="11172600" y="4444536"/>
                </a:cubicBezTo>
                <a:cubicBezTo>
                  <a:pt x="11133927" y="4468538"/>
                  <a:pt x="11097350" y="4495401"/>
                  <a:pt x="11058869" y="4519786"/>
                </a:cubicBezTo>
                <a:cubicBezTo>
                  <a:pt x="11021146" y="4543599"/>
                  <a:pt x="10987046" y="4569697"/>
                  <a:pt x="10967423" y="4611991"/>
                </a:cubicBezTo>
                <a:cubicBezTo>
                  <a:pt x="10958661" y="4630659"/>
                  <a:pt x="10946279" y="4651044"/>
                  <a:pt x="10929704" y="4661903"/>
                </a:cubicBezTo>
                <a:cubicBezTo>
                  <a:pt x="10906081" y="4677334"/>
                  <a:pt x="10876171" y="4682859"/>
                  <a:pt x="10850453" y="4696003"/>
                </a:cubicBezTo>
                <a:cubicBezTo>
                  <a:pt x="10820162" y="4711434"/>
                  <a:pt x="10785111" y="4724770"/>
                  <a:pt x="10764534" y="4749345"/>
                </a:cubicBezTo>
                <a:cubicBezTo>
                  <a:pt x="10746246" y="4771255"/>
                  <a:pt x="10727767" y="4788399"/>
                  <a:pt x="10703573" y="4802305"/>
                </a:cubicBezTo>
                <a:cubicBezTo>
                  <a:pt x="10686617" y="4812022"/>
                  <a:pt x="10674046" y="4829738"/>
                  <a:pt x="10656519" y="4837740"/>
                </a:cubicBezTo>
                <a:cubicBezTo>
                  <a:pt x="10633467" y="4848409"/>
                  <a:pt x="10610225" y="4856791"/>
                  <a:pt x="10590031" y="4873366"/>
                </a:cubicBezTo>
                <a:cubicBezTo>
                  <a:pt x="10569075" y="4890510"/>
                  <a:pt x="10545263" y="4904036"/>
                  <a:pt x="10523354" y="4920039"/>
                </a:cubicBezTo>
                <a:cubicBezTo>
                  <a:pt x="10511734" y="4928611"/>
                  <a:pt x="10502208" y="4939851"/>
                  <a:pt x="10490969" y="4948806"/>
                </a:cubicBezTo>
                <a:cubicBezTo>
                  <a:pt x="10470394" y="4965188"/>
                  <a:pt x="10449438" y="4981191"/>
                  <a:pt x="10428291" y="4996622"/>
                </a:cubicBezTo>
                <a:cubicBezTo>
                  <a:pt x="10407146" y="5012055"/>
                  <a:pt x="10386952" y="5029961"/>
                  <a:pt x="10363709" y="5041201"/>
                </a:cubicBezTo>
                <a:cubicBezTo>
                  <a:pt x="10324086" y="5060251"/>
                  <a:pt x="10280840" y="5071682"/>
                  <a:pt x="10242357" y="5092257"/>
                </a:cubicBezTo>
                <a:cubicBezTo>
                  <a:pt x="10203304" y="5113211"/>
                  <a:pt x="10166536" y="5139503"/>
                  <a:pt x="10131863" y="5167315"/>
                </a:cubicBezTo>
                <a:cubicBezTo>
                  <a:pt x="10104430" y="5189224"/>
                  <a:pt x="10078713" y="5210943"/>
                  <a:pt x="10044230" y="5222182"/>
                </a:cubicBezTo>
                <a:cubicBezTo>
                  <a:pt x="10024990" y="5228470"/>
                  <a:pt x="10004797" y="5242186"/>
                  <a:pt x="9993175" y="5258189"/>
                </a:cubicBezTo>
                <a:cubicBezTo>
                  <a:pt x="9968027" y="5293049"/>
                  <a:pt x="9935832" y="5317626"/>
                  <a:pt x="9899446" y="5338582"/>
                </a:cubicBezTo>
                <a:cubicBezTo>
                  <a:pt x="9850865" y="5366776"/>
                  <a:pt x="9802858" y="5395543"/>
                  <a:pt x="9754088" y="5423166"/>
                </a:cubicBezTo>
                <a:cubicBezTo>
                  <a:pt x="9725323" y="5439551"/>
                  <a:pt x="9696749" y="5456885"/>
                  <a:pt x="9666265" y="5468888"/>
                </a:cubicBezTo>
                <a:cubicBezTo>
                  <a:pt x="9603971" y="5493655"/>
                  <a:pt x="9540152" y="5514799"/>
                  <a:pt x="9477283" y="5537851"/>
                </a:cubicBezTo>
                <a:cubicBezTo>
                  <a:pt x="9456709" y="5545280"/>
                  <a:pt x="9437278" y="5555949"/>
                  <a:pt x="9416321" y="5562426"/>
                </a:cubicBezTo>
                <a:cubicBezTo>
                  <a:pt x="9393650" y="5569475"/>
                  <a:pt x="9369267" y="5571571"/>
                  <a:pt x="9346597" y="5578619"/>
                </a:cubicBezTo>
                <a:cubicBezTo>
                  <a:pt x="9308875" y="5590240"/>
                  <a:pt x="9272298" y="5605101"/>
                  <a:pt x="9234579" y="5616911"/>
                </a:cubicBezTo>
                <a:cubicBezTo>
                  <a:pt x="9161805" y="5639582"/>
                  <a:pt x="9088840" y="5661299"/>
                  <a:pt x="9015878" y="5682826"/>
                </a:cubicBezTo>
                <a:cubicBezTo>
                  <a:pt x="9000257" y="5687399"/>
                  <a:pt x="8983301" y="5687970"/>
                  <a:pt x="8967871" y="5692923"/>
                </a:cubicBezTo>
                <a:cubicBezTo>
                  <a:pt x="8926911" y="5706259"/>
                  <a:pt x="8886142" y="5720736"/>
                  <a:pt x="8845565" y="5735407"/>
                </a:cubicBezTo>
                <a:cubicBezTo>
                  <a:pt x="8820990" y="5744361"/>
                  <a:pt x="8796985" y="5755409"/>
                  <a:pt x="8772219" y="5763982"/>
                </a:cubicBezTo>
                <a:cubicBezTo>
                  <a:pt x="8752407" y="5770840"/>
                  <a:pt x="8732023" y="5776174"/>
                  <a:pt x="8711448" y="5780366"/>
                </a:cubicBezTo>
                <a:cubicBezTo>
                  <a:pt x="8693731" y="5783986"/>
                  <a:pt x="8675253" y="5783603"/>
                  <a:pt x="8657726" y="5787986"/>
                </a:cubicBezTo>
                <a:cubicBezTo>
                  <a:pt x="8610288" y="5799797"/>
                  <a:pt x="8563425" y="5813133"/>
                  <a:pt x="8516369" y="5825705"/>
                </a:cubicBezTo>
                <a:cubicBezTo>
                  <a:pt x="8497511" y="5830659"/>
                  <a:pt x="8478269" y="5834280"/>
                  <a:pt x="8459979" y="5840566"/>
                </a:cubicBezTo>
                <a:cubicBezTo>
                  <a:pt x="8411019" y="5857141"/>
                  <a:pt x="8362822" y="5875999"/>
                  <a:pt x="8313671" y="5891622"/>
                </a:cubicBezTo>
                <a:cubicBezTo>
                  <a:pt x="8272903" y="5904576"/>
                  <a:pt x="8230992" y="5913910"/>
                  <a:pt x="8189651" y="5925341"/>
                </a:cubicBezTo>
                <a:cubicBezTo>
                  <a:pt x="8172124" y="5930295"/>
                  <a:pt x="8155359" y="5937343"/>
                  <a:pt x="8137835" y="5941534"/>
                </a:cubicBezTo>
                <a:cubicBezTo>
                  <a:pt x="8098590" y="5951059"/>
                  <a:pt x="8058774" y="5959059"/>
                  <a:pt x="8019339" y="5968586"/>
                </a:cubicBezTo>
                <a:cubicBezTo>
                  <a:pt x="7996859" y="5974110"/>
                  <a:pt x="7975142" y="5984017"/>
                  <a:pt x="7952280" y="5987637"/>
                </a:cubicBezTo>
                <a:cubicBezTo>
                  <a:pt x="7897987" y="5996209"/>
                  <a:pt x="7843311" y="6002305"/>
                  <a:pt x="7788636" y="6009163"/>
                </a:cubicBezTo>
                <a:cubicBezTo>
                  <a:pt x="7732247" y="6016211"/>
                  <a:pt x="7676047" y="6023642"/>
                  <a:pt x="7619655" y="6029928"/>
                </a:cubicBezTo>
                <a:cubicBezTo>
                  <a:pt x="7588795" y="6033168"/>
                  <a:pt x="7557742" y="6033738"/>
                  <a:pt x="7526880" y="6036786"/>
                </a:cubicBezTo>
                <a:cubicBezTo>
                  <a:pt x="7499828" y="6039455"/>
                  <a:pt x="7472967" y="6044407"/>
                  <a:pt x="7445916" y="6047647"/>
                </a:cubicBezTo>
                <a:cubicBezTo>
                  <a:pt x="7422483" y="6050313"/>
                  <a:pt x="7398860" y="6051837"/>
                  <a:pt x="7375428" y="6054505"/>
                </a:cubicBezTo>
                <a:cubicBezTo>
                  <a:pt x="7337899" y="6058885"/>
                  <a:pt x="7300559" y="6063839"/>
                  <a:pt x="7263220" y="6068411"/>
                </a:cubicBezTo>
                <a:cubicBezTo>
                  <a:pt x="7247599" y="6070126"/>
                  <a:pt x="7231214" y="6074888"/>
                  <a:pt x="7216547" y="6072032"/>
                </a:cubicBezTo>
                <a:cubicBezTo>
                  <a:pt x="7179587" y="6064791"/>
                  <a:pt x="7143199" y="6066887"/>
                  <a:pt x="7106432" y="6071840"/>
                </a:cubicBezTo>
                <a:cubicBezTo>
                  <a:pt x="7093860" y="6073555"/>
                  <a:pt x="7080334" y="6073174"/>
                  <a:pt x="7068141" y="6069936"/>
                </a:cubicBezTo>
                <a:cubicBezTo>
                  <a:pt x="7043184" y="6063457"/>
                  <a:pt x="7018991" y="6054313"/>
                  <a:pt x="6994415" y="6046313"/>
                </a:cubicBezTo>
                <a:cubicBezTo>
                  <a:pt x="6991747" y="6045361"/>
                  <a:pt x="6988509" y="6045169"/>
                  <a:pt x="6985653" y="6044599"/>
                </a:cubicBezTo>
                <a:cubicBezTo>
                  <a:pt x="6969457" y="6041359"/>
                  <a:pt x="6953457" y="6038120"/>
                  <a:pt x="6937263" y="6035263"/>
                </a:cubicBezTo>
                <a:cubicBezTo>
                  <a:pt x="6928501" y="6033738"/>
                  <a:pt x="6919547" y="6033549"/>
                  <a:pt x="6910782" y="6032214"/>
                </a:cubicBezTo>
                <a:cubicBezTo>
                  <a:pt x="6876872" y="6026880"/>
                  <a:pt x="6839534" y="6035834"/>
                  <a:pt x="6810195" y="6012784"/>
                </a:cubicBezTo>
                <a:cubicBezTo>
                  <a:pt x="6791144" y="5997923"/>
                  <a:pt x="6772665" y="6001353"/>
                  <a:pt x="6752283" y="6003639"/>
                </a:cubicBezTo>
                <a:cubicBezTo>
                  <a:pt x="6736851" y="6005353"/>
                  <a:pt x="6721038" y="6004782"/>
                  <a:pt x="6705417" y="6004974"/>
                </a:cubicBezTo>
                <a:cubicBezTo>
                  <a:pt x="6677984" y="6005543"/>
                  <a:pt x="6650551" y="6005735"/>
                  <a:pt x="6623118" y="6006687"/>
                </a:cubicBezTo>
                <a:cubicBezTo>
                  <a:pt x="6614353" y="6007067"/>
                  <a:pt x="6605401" y="6011832"/>
                  <a:pt x="6596828" y="6011070"/>
                </a:cubicBezTo>
                <a:cubicBezTo>
                  <a:pt x="6557201" y="6007449"/>
                  <a:pt x="6517576" y="6001734"/>
                  <a:pt x="6477951" y="5998495"/>
                </a:cubicBezTo>
                <a:cubicBezTo>
                  <a:pt x="6455472" y="5996591"/>
                  <a:pt x="6432420" y="6000209"/>
                  <a:pt x="6410131" y="5997543"/>
                </a:cubicBezTo>
                <a:cubicBezTo>
                  <a:pt x="6384414" y="5994495"/>
                  <a:pt x="6359268" y="5986685"/>
                  <a:pt x="6333739" y="5981920"/>
                </a:cubicBezTo>
                <a:cubicBezTo>
                  <a:pt x="6326691" y="5980589"/>
                  <a:pt x="6318880" y="5982303"/>
                  <a:pt x="6311449" y="5982682"/>
                </a:cubicBezTo>
                <a:cubicBezTo>
                  <a:pt x="6303068" y="5983064"/>
                  <a:pt x="6294876" y="5983826"/>
                  <a:pt x="6286493" y="5984017"/>
                </a:cubicBezTo>
                <a:cubicBezTo>
                  <a:pt x="6260964" y="5984399"/>
                  <a:pt x="6235437" y="5983826"/>
                  <a:pt x="6209909" y="5985161"/>
                </a:cubicBezTo>
                <a:cubicBezTo>
                  <a:pt x="6194288" y="5985922"/>
                  <a:pt x="6177905" y="5993733"/>
                  <a:pt x="6163425" y="5990874"/>
                </a:cubicBezTo>
                <a:cubicBezTo>
                  <a:pt x="6133897" y="5985351"/>
                  <a:pt x="6104368" y="5997733"/>
                  <a:pt x="6074842" y="5987447"/>
                </a:cubicBezTo>
                <a:cubicBezTo>
                  <a:pt x="6065695" y="5984399"/>
                  <a:pt x="6053124" y="5992019"/>
                  <a:pt x="6042072" y="5992399"/>
                </a:cubicBezTo>
                <a:cubicBezTo>
                  <a:pt x="6014449" y="5993351"/>
                  <a:pt x="5986828" y="5993161"/>
                  <a:pt x="5959204" y="5992971"/>
                </a:cubicBezTo>
                <a:cubicBezTo>
                  <a:pt x="5934438" y="5992781"/>
                  <a:pt x="5908719" y="5995447"/>
                  <a:pt x="5884906" y="5990113"/>
                </a:cubicBezTo>
                <a:cubicBezTo>
                  <a:pt x="5859949" y="5984399"/>
                  <a:pt x="5837471" y="5985161"/>
                  <a:pt x="5813275" y="5991637"/>
                </a:cubicBezTo>
                <a:cubicBezTo>
                  <a:pt x="5796702" y="5996019"/>
                  <a:pt x="5779174" y="5996591"/>
                  <a:pt x="5762029" y="5997923"/>
                </a:cubicBezTo>
                <a:cubicBezTo>
                  <a:pt x="5743551" y="5999447"/>
                  <a:pt x="5723166" y="5995447"/>
                  <a:pt x="5706401" y="6001734"/>
                </a:cubicBezTo>
                <a:cubicBezTo>
                  <a:pt x="5656488" y="6020403"/>
                  <a:pt x="5605244" y="6024403"/>
                  <a:pt x="5553045" y="6024403"/>
                </a:cubicBezTo>
                <a:cubicBezTo>
                  <a:pt x="5543518" y="6024403"/>
                  <a:pt x="5533802" y="6021738"/>
                  <a:pt x="5524660" y="6018880"/>
                </a:cubicBezTo>
                <a:cubicBezTo>
                  <a:pt x="5471316" y="6001734"/>
                  <a:pt x="5417784" y="6003257"/>
                  <a:pt x="5363491" y="6013736"/>
                </a:cubicBezTo>
                <a:cubicBezTo>
                  <a:pt x="5352250" y="6016022"/>
                  <a:pt x="5339677" y="6016403"/>
                  <a:pt x="5328438" y="6014118"/>
                </a:cubicBezTo>
                <a:cubicBezTo>
                  <a:pt x="5296812" y="6007449"/>
                  <a:pt x="5266141" y="5996399"/>
                  <a:pt x="5234326" y="5991637"/>
                </a:cubicBezTo>
                <a:cubicBezTo>
                  <a:pt x="5181748" y="5983826"/>
                  <a:pt x="5136216" y="6010115"/>
                  <a:pt x="5089162" y="6027262"/>
                </a:cubicBezTo>
                <a:cubicBezTo>
                  <a:pt x="5044391" y="6043455"/>
                  <a:pt x="5006292" y="6080032"/>
                  <a:pt x="4953328" y="6071840"/>
                </a:cubicBezTo>
                <a:cubicBezTo>
                  <a:pt x="4947996" y="6071078"/>
                  <a:pt x="4942089" y="6076222"/>
                  <a:pt x="4936184" y="6077555"/>
                </a:cubicBezTo>
                <a:cubicBezTo>
                  <a:pt x="4919991" y="6081176"/>
                  <a:pt x="4903799" y="6085555"/>
                  <a:pt x="4887415" y="6087272"/>
                </a:cubicBezTo>
                <a:cubicBezTo>
                  <a:pt x="4867412" y="6089558"/>
                  <a:pt x="4847027" y="6088797"/>
                  <a:pt x="4827024" y="6090701"/>
                </a:cubicBezTo>
                <a:cubicBezTo>
                  <a:pt x="4814165" y="6091844"/>
                  <a:pt x="4801401" y="6093939"/>
                  <a:pt x="4788661" y="6095749"/>
                </a:cubicBezTo>
                <a:lnTo>
                  <a:pt x="4785776" y="6096000"/>
                </a:lnTo>
                <a:lnTo>
                  <a:pt x="4726469" y="6096000"/>
                </a:lnTo>
                <a:lnTo>
                  <a:pt x="4719697" y="6095130"/>
                </a:lnTo>
                <a:cubicBezTo>
                  <a:pt x="4709481" y="6092939"/>
                  <a:pt x="4699289" y="6090320"/>
                  <a:pt x="4689098" y="6088605"/>
                </a:cubicBezTo>
                <a:cubicBezTo>
                  <a:pt x="4660331" y="6083842"/>
                  <a:pt x="4628705" y="6085176"/>
                  <a:pt x="4603368" y="6072984"/>
                </a:cubicBezTo>
                <a:cubicBezTo>
                  <a:pt x="4576318" y="6060029"/>
                  <a:pt x="4550599" y="6054123"/>
                  <a:pt x="4522596" y="6058123"/>
                </a:cubicBezTo>
                <a:cubicBezTo>
                  <a:pt x="4513260" y="6059457"/>
                  <a:pt x="4501257" y="6067459"/>
                  <a:pt x="4497068" y="6075649"/>
                </a:cubicBezTo>
                <a:cubicBezTo>
                  <a:pt x="4487731" y="6093938"/>
                  <a:pt x="4474969" y="6097178"/>
                  <a:pt x="4457632" y="6090890"/>
                </a:cubicBezTo>
                <a:cubicBezTo>
                  <a:pt x="4442581" y="6085555"/>
                  <a:pt x="4424104" y="6082890"/>
                  <a:pt x="4413817" y="6072601"/>
                </a:cubicBezTo>
                <a:cubicBezTo>
                  <a:pt x="4384668" y="6043455"/>
                  <a:pt x="4347518" y="6042503"/>
                  <a:pt x="4311323" y="6034693"/>
                </a:cubicBezTo>
                <a:cubicBezTo>
                  <a:pt x="4289227" y="6029928"/>
                  <a:pt x="4268649" y="6029738"/>
                  <a:pt x="4246551" y="6032976"/>
                </a:cubicBezTo>
                <a:cubicBezTo>
                  <a:pt x="4198546" y="6040216"/>
                  <a:pt x="4151870" y="6029928"/>
                  <a:pt x="4105766" y="6016784"/>
                </a:cubicBezTo>
                <a:cubicBezTo>
                  <a:pt x="4075285" y="6008022"/>
                  <a:pt x="4044043" y="6002687"/>
                  <a:pt x="4013753" y="5993733"/>
                </a:cubicBezTo>
                <a:cubicBezTo>
                  <a:pt x="3991083" y="5986874"/>
                  <a:pt x="3968414" y="5978682"/>
                  <a:pt x="3947648" y="5967634"/>
                </a:cubicBezTo>
                <a:cubicBezTo>
                  <a:pt x="3917546" y="5951440"/>
                  <a:pt x="3891259" y="5927055"/>
                  <a:pt x="3852966" y="5933533"/>
                </a:cubicBezTo>
                <a:cubicBezTo>
                  <a:pt x="3819245" y="5939247"/>
                  <a:pt x="3788766" y="5927247"/>
                  <a:pt x="3757902" y="5915816"/>
                </a:cubicBezTo>
                <a:cubicBezTo>
                  <a:pt x="3735231" y="5907434"/>
                  <a:pt x="3712565" y="5898859"/>
                  <a:pt x="3689131" y="5893526"/>
                </a:cubicBezTo>
                <a:cubicBezTo>
                  <a:pt x="3661315" y="5887239"/>
                  <a:pt x="3629882" y="5889907"/>
                  <a:pt x="3605116" y="5878285"/>
                </a:cubicBezTo>
                <a:cubicBezTo>
                  <a:pt x="3579206" y="5866093"/>
                  <a:pt x="3557682" y="5874285"/>
                  <a:pt x="3534629" y="5877715"/>
                </a:cubicBezTo>
                <a:cubicBezTo>
                  <a:pt x="3497862" y="5883049"/>
                  <a:pt x="3461282" y="5892955"/>
                  <a:pt x="3424135" y="5880382"/>
                </a:cubicBezTo>
                <a:cubicBezTo>
                  <a:pt x="3378986" y="5865141"/>
                  <a:pt x="3334216" y="5848758"/>
                  <a:pt x="3288877" y="5834280"/>
                </a:cubicBezTo>
                <a:cubicBezTo>
                  <a:pt x="3271348" y="5828753"/>
                  <a:pt x="3252492" y="5826467"/>
                  <a:pt x="3234202" y="5823991"/>
                </a:cubicBezTo>
                <a:cubicBezTo>
                  <a:pt x="3216867" y="5821895"/>
                  <a:pt x="3196102" y="5827230"/>
                  <a:pt x="3182763" y="5819229"/>
                </a:cubicBezTo>
                <a:cubicBezTo>
                  <a:pt x="3148472" y="5798655"/>
                  <a:pt x="3113231" y="5788558"/>
                  <a:pt x="3073604" y="5788558"/>
                </a:cubicBezTo>
                <a:cubicBezTo>
                  <a:pt x="3058743" y="5788558"/>
                  <a:pt x="3044264" y="5779984"/>
                  <a:pt x="3029216" y="5778459"/>
                </a:cubicBezTo>
                <a:cubicBezTo>
                  <a:pt x="3008639" y="5776555"/>
                  <a:pt x="2985016" y="5771411"/>
                  <a:pt x="2967110" y="5778651"/>
                </a:cubicBezTo>
                <a:cubicBezTo>
                  <a:pt x="2925008" y="5795797"/>
                  <a:pt x="2890910" y="5781507"/>
                  <a:pt x="2854140" y="5764553"/>
                </a:cubicBezTo>
                <a:cubicBezTo>
                  <a:pt x="2817943" y="5747789"/>
                  <a:pt x="2779842" y="5734455"/>
                  <a:pt x="2741360" y="5723403"/>
                </a:cubicBezTo>
                <a:cubicBezTo>
                  <a:pt x="2726882" y="5719403"/>
                  <a:pt x="2709548" y="5726072"/>
                  <a:pt x="2693543" y="5727405"/>
                </a:cubicBezTo>
                <a:cubicBezTo>
                  <a:pt x="2687827" y="5727786"/>
                  <a:pt x="2681540" y="5728358"/>
                  <a:pt x="2676398" y="5726453"/>
                </a:cubicBezTo>
                <a:cubicBezTo>
                  <a:pt x="2626677" y="5708163"/>
                  <a:pt x="2576191" y="5694257"/>
                  <a:pt x="2522279" y="5703782"/>
                </a:cubicBezTo>
                <a:cubicBezTo>
                  <a:pt x="2517327" y="5704735"/>
                  <a:pt x="2511800" y="5702639"/>
                  <a:pt x="2506847" y="5701305"/>
                </a:cubicBezTo>
                <a:cubicBezTo>
                  <a:pt x="2482652" y="5694447"/>
                  <a:pt x="2459029" y="5683589"/>
                  <a:pt x="2434456" y="5681112"/>
                </a:cubicBezTo>
                <a:cubicBezTo>
                  <a:pt x="2373874" y="5675016"/>
                  <a:pt x="2312915" y="5672538"/>
                  <a:pt x="2251948" y="5668538"/>
                </a:cubicBezTo>
                <a:cubicBezTo>
                  <a:pt x="2248138" y="5668349"/>
                  <a:pt x="2244137" y="5668349"/>
                  <a:pt x="2240710" y="5667014"/>
                </a:cubicBezTo>
                <a:cubicBezTo>
                  <a:pt x="2218229" y="5658822"/>
                  <a:pt x="2198608" y="5661490"/>
                  <a:pt x="2179556" y="5677111"/>
                </a:cubicBezTo>
                <a:cubicBezTo>
                  <a:pt x="2171173" y="5683969"/>
                  <a:pt x="2159743" y="5687589"/>
                  <a:pt x="2149267" y="5691399"/>
                </a:cubicBezTo>
                <a:cubicBezTo>
                  <a:pt x="2133834" y="5697115"/>
                  <a:pt x="2118023" y="5702639"/>
                  <a:pt x="2102021" y="5706259"/>
                </a:cubicBezTo>
                <a:cubicBezTo>
                  <a:pt x="2086208" y="5709688"/>
                  <a:pt x="2069254" y="5714449"/>
                  <a:pt x="2054013" y="5711784"/>
                </a:cubicBezTo>
                <a:cubicBezTo>
                  <a:pt x="2026581" y="5707022"/>
                  <a:pt x="2000479" y="5696353"/>
                  <a:pt x="1973429" y="5689303"/>
                </a:cubicBezTo>
                <a:cubicBezTo>
                  <a:pt x="1964094" y="5686826"/>
                  <a:pt x="1953806" y="5687209"/>
                  <a:pt x="1944092" y="5687017"/>
                </a:cubicBezTo>
                <a:cubicBezTo>
                  <a:pt x="1921800" y="5686447"/>
                  <a:pt x="1898940" y="5691971"/>
                  <a:pt x="1878748" y="5676159"/>
                </a:cubicBezTo>
                <a:cubicBezTo>
                  <a:pt x="1860079" y="5661299"/>
                  <a:pt x="1841216" y="5665680"/>
                  <a:pt x="1821596" y="5676920"/>
                </a:cubicBezTo>
                <a:cubicBezTo>
                  <a:pt x="1807497" y="5684922"/>
                  <a:pt x="1791496" y="5691209"/>
                  <a:pt x="1775684" y="5694257"/>
                </a:cubicBezTo>
                <a:cubicBezTo>
                  <a:pt x="1753965" y="5698447"/>
                  <a:pt x="1732439" y="5700163"/>
                  <a:pt x="1709006" y="5697685"/>
                </a:cubicBezTo>
                <a:cubicBezTo>
                  <a:pt x="1692431" y="5695971"/>
                  <a:pt x="1678904" y="5695209"/>
                  <a:pt x="1665950" y="5685113"/>
                </a:cubicBezTo>
                <a:cubicBezTo>
                  <a:pt x="1663856" y="5683589"/>
                  <a:pt x="1660046" y="5683207"/>
                  <a:pt x="1657188" y="5683399"/>
                </a:cubicBezTo>
                <a:cubicBezTo>
                  <a:pt x="1619658" y="5686637"/>
                  <a:pt x="1582510" y="5684922"/>
                  <a:pt x="1544598" y="5682634"/>
                </a:cubicBezTo>
                <a:cubicBezTo>
                  <a:pt x="1496403" y="5679589"/>
                  <a:pt x="1445725" y="5688541"/>
                  <a:pt x="1404006" y="5720546"/>
                </a:cubicBezTo>
                <a:cubicBezTo>
                  <a:pt x="1397909" y="5725310"/>
                  <a:pt x="1388765" y="5727405"/>
                  <a:pt x="1380762" y="5728549"/>
                </a:cubicBezTo>
                <a:cubicBezTo>
                  <a:pt x="1343044" y="5733501"/>
                  <a:pt x="1305132" y="5736930"/>
                  <a:pt x="1267411" y="5742455"/>
                </a:cubicBezTo>
                <a:cubicBezTo>
                  <a:pt x="1246837" y="5745503"/>
                  <a:pt x="1225310" y="5748170"/>
                  <a:pt x="1206641" y="5756553"/>
                </a:cubicBezTo>
                <a:cubicBezTo>
                  <a:pt x="1188354" y="5764743"/>
                  <a:pt x="1173681" y="5774459"/>
                  <a:pt x="1162823" y="5757315"/>
                </a:cubicBezTo>
                <a:cubicBezTo>
                  <a:pt x="1143394" y="5766459"/>
                  <a:pt x="1126437" y="5774080"/>
                  <a:pt x="1109865" y="5782270"/>
                </a:cubicBezTo>
                <a:cubicBezTo>
                  <a:pt x="1103767" y="5785318"/>
                  <a:pt x="1098623" y="5790272"/>
                  <a:pt x="1092527" y="5793130"/>
                </a:cubicBezTo>
                <a:cubicBezTo>
                  <a:pt x="1086048" y="5796178"/>
                  <a:pt x="1078810" y="5798082"/>
                  <a:pt x="1071762" y="5799607"/>
                </a:cubicBezTo>
                <a:cubicBezTo>
                  <a:pt x="1040327" y="5806465"/>
                  <a:pt x="1008894" y="5812751"/>
                  <a:pt x="977653" y="5820182"/>
                </a:cubicBezTo>
                <a:cubicBezTo>
                  <a:pt x="971554" y="5821705"/>
                  <a:pt x="966411" y="5827801"/>
                  <a:pt x="960887" y="5831801"/>
                </a:cubicBezTo>
                <a:cubicBezTo>
                  <a:pt x="957266" y="5834470"/>
                  <a:pt x="953648" y="5838470"/>
                  <a:pt x="949646" y="5839042"/>
                </a:cubicBezTo>
                <a:cubicBezTo>
                  <a:pt x="919165" y="5843614"/>
                  <a:pt x="888877" y="5848949"/>
                  <a:pt x="858205" y="5851234"/>
                </a:cubicBezTo>
                <a:cubicBezTo>
                  <a:pt x="832486" y="5853138"/>
                  <a:pt x="807719" y="5852568"/>
                  <a:pt x="801053" y="5885715"/>
                </a:cubicBezTo>
                <a:cubicBezTo>
                  <a:pt x="799909" y="5891432"/>
                  <a:pt x="791717" y="5897528"/>
                  <a:pt x="785432" y="5900384"/>
                </a:cubicBezTo>
                <a:cubicBezTo>
                  <a:pt x="767524" y="5908576"/>
                  <a:pt x="748471" y="5914101"/>
                  <a:pt x="730754" y="5922482"/>
                </a:cubicBezTo>
                <a:cubicBezTo>
                  <a:pt x="672650" y="5950488"/>
                  <a:pt x="611880" y="5968205"/>
                  <a:pt x="546917" y="5964966"/>
                </a:cubicBezTo>
                <a:cubicBezTo>
                  <a:pt x="526724" y="5964014"/>
                  <a:pt x="507102" y="5953726"/>
                  <a:pt x="494337" y="5949915"/>
                </a:cubicBezTo>
                <a:cubicBezTo>
                  <a:pt x="457572" y="5964966"/>
                  <a:pt x="426709" y="5979445"/>
                  <a:pt x="394511" y="5990303"/>
                </a:cubicBezTo>
                <a:cubicBezTo>
                  <a:pt x="366127" y="6000019"/>
                  <a:pt x="336408" y="6006115"/>
                  <a:pt x="307259" y="6013163"/>
                </a:cubicBezTo>
                <a:cubicBezTo>
                  <a:pt x="296590" y="6015832"/>
                  <a:pt x="285732" y="6017355"/>
                  <a:pt x="274873" y="6018690"/>
                </a:cubicBezTo>
                <a:cubicBezTo>
                  <a:pt x="240965" y="6022880"/>
                  <a:pt x="205529" y="6012784"/>
                  <a:pt x="172384" y="6028786"/>
                </a:cubicBezTo>
                <a:cubicBezTo>
                  <a:pt x="155046" y="6037168"/>
                  <a:pt x="137898" y="6047265"/>
                  <a:pt x="119613" y="6051647"/>
                </a:cubicBezTo>
                <a:cubicBezTo>
                  <a:pt x="99990" y="6056409"/>
                  <a:pt x="80794" y="6063839"/>
                  <a:pt x="61197" y="6069150"/>
                </a:cubicBezTo>
                <a:lnTo>
                  <a:pt x="544" y="6073921"/>
                </a:lnTo>
                <a:lnTo>
                  <a:pt x="544" y="5946682"/>
                </a:lnTo>
                <a:lnTo>
                  <a:pt x="0" y="5946682"/>
                </a:lnTo>
                <a:lnTo>
                  <a:pt x="0" y="1335314"/>
                </a:lnTo>
                <a:lnTo>
                  <a:pt x="0" y="873938"/>
                </a:lnTo>
                <a:close/>
              </a:path>
            </a:pathLst>
          </a:custGeom>
          <a:effectLst>
            <a:outerShdw blurRad="381000" dist="152400" dir="5400000" algn="t" rotWithShape="0">
              <a:prstClr val="black">
                <a:alpha val="20000"/>
              </a:prstClr>
            </a:outerShdw>
          </a:effectLst>
        </p:spPr>
      </p:pic>
      <p:grpSp>
        <p:nvGrpSpPr>
          <p:cNvPr id="19" name="Group 18">
            <a:extLst>
              <a:ext uri="{FF2B5EF4-FFF2-40B4-BE49-F238E27FC236}">
                <a16:creationId xmlns:a16="http://schemas.microsoft.com/office/drawing/2014/main" id="{4252769E-B9F0-4068-A645-5BBEF16E9C2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08" y="3296010"/>
            <a:ext cx="9143592" cy="2849976"/>
            <a:chOff x="476" y="-3923157"/>
            <a:chExt cx="10667524" cy="2493729"/>
          </a:xfrm>
        </p:grpSpPr>
        <p:sp>
          <p:nvSpPr>
            <p:cNvPr id="25" name="Freeform: Shape 24">
              <a:extLst>
                <a:ext uri="{FF2B5EF4-FFF2-40B4-BE49-F238E27FC236}">
                  <a16:creationId xmlns:a16="http://schemas.microsoft.com/office/drawing/2014/main" id="{1E12D6AD-7096-45BB-9C02-468B2704C1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6" y="-3923156"/>
              <a:ext cx="10667524" cy="2493728"/>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39953252-97DE-4766-B2F6-E4FDA2FDA6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6" y="-3923157"/>
              <a:ext cx="10667524" cy="2493728"/>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blipFill dpi="0" rotWithShape="1">
              <a:blip r:embed="rId4">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34825661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advClick="0" advTm="1000">
        <p159:morph option="byObject"/>
      </p:transition>
    </mc:Choice>
    <mc:Fallback xmlns="">
      <p:transition spd="slow" advClick="0" advTm="10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804566E-C934-4BF4-A5BB-42511965DA46}">
  <we:reference id="4567b711-9f2d-454d-b0d0-74708a29b461" version="1.0.0.0" store="EXCatalog" storeType="EXCatalog"/>
  <we:alternateReferences>
    <we:reference id="WA200001313" version="1.0.0.0" store="en-U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1837</TotalTime>
  <Words>2200</Words>
  <Application>Microsoft Office PowerPoint</Application>
  <PresentationFormat>On-screen Show (4:3)</PresentationFormat>
  <Paragraphs>86</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Industry Analytics &amp; Forecasting -By Riya Goel</vt:lpstr>
      <vt:lpstr>About The Project</vt:lpstr>
      <vt:lpstr>Executive Summary</vt:lpstr>
      <vt:lpstr>Correlation Insights</vt:lpstr>
      <vt:lpstr>Clustering &amp; Anomaly Detection</vt:lpstr>
      <vt:lpstr>Results Comparison</vt:lpstr>
      <vt:lpstr>Forecasting Summary</vt:lpstr>
      <vt:lpstr>Univariable Insights</vt:lpstr>
      <vt:lpstr>Bivariable Insights</vt:lpstr>
      <vt:lpstr>Multivariable Insights</vt:lpstr>
      <vt:lpstr>Final Insights</vt:lpstr>
      <vt:lpstr>Business Recommendations</vt:lpstr>
      <vt:lpstr>Project Conclusion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Riya Goel (MSc Business Analytics FT)</cp:lastModifiedBy>
  <cp:revision>38</cp:revision>
  <dcterms:created xsi:type="dcterms:W3CDTF">2013-01-27T09:14:16Z</dcterms:created>
  <dcterms:modified xsi:type="dcterms:W3CDTF">2026-06-04T23:34:25Z</dcterms:modified>
  <cp:category/>
</cp:coreProperties>
</file>