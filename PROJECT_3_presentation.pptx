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73" r:id="rId4"/>
    <p:sldId id="264" r:id="rId5"/>
    <p:sldId id="265" r:id="rId6"/>
    <p:sldId id="262" r:id="rId7"/>
    <p:sldId id="263" r:id="rId8"/>
    <p:sldId id="260" r:id="rId9"/>
    <p:sldId id="276" r:id="rId10"/>
    <p:sldId id="275" r:id="rId11"/>
    <p:sldId id="274" r:id="rId12"/>
    <p:sldId id="267" r:id="rId13"/>
    <p:sldId id="266" r:id="rId14"/>
    <p:sldId id="277" r:id="rId15"/>
    <p:sldId id="27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8" d="100"/>
          <a:sy n="58" d="100"/>
        </p:scale>
        <p:origin x="216"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pix4free.org/photo/2921/thank-you.html" TargetMode="External"/><Relationship Id="rId2" Type="http://schemas.openxmlformats.org/officeDocument/2006/relationships/image" Target="../media/image13.jpg"/><Relationship Id="rId1" Type="http://schemas.openxmlformats.org/officeDocument/2006/relationships/slideLayout" Target="../slideLayouts/slideLayout7.xml"/><Relationship Id="rId5" Type="http://schemas.openxmlformats.org/officeDocument/2006/relationships/hyperlink" Target="https://creativecommons.org/licenses/by-sa/3.0/" TargetMode="Externa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ipes over the sea">
            <a:extLst>
              <a:ext uri="{FF2B5EF4-FFF2-40B4-BE49-F238E27FC236}">
                <a16:creationId xmlns:a16="http://schemas.microsoft.com/office/drawing/2014/main" id="{C3EBB306-9C6A-5AFA-81D3-62C4F4DEDC6F}"/>
              </a:ext>
            </a:extLst>
          </p:cNvPr>
          <p:cNvPicPr>
            <a:picLocks noChangeAspect="1"/>
          </p:cNvPicPr>
          <p:nvPr/>
        </p:nvPicPr>
        <p:blipFill>
          <a:blip r:embed="rId2">
            <a:alphaModFix/>
          </a:blip>
          <a:srcRect/>
          <a:stretch>
            <a:fillRect/>
          </a:stretch>
        </p:blipFill>
        <p:spPr>
          <a:xfrm>
            <a:off x="14404" y="6057"/>
            <a:ext cx="9143979" cy="6857990"/>
          </a:xfrm>
          <a:prstGeom prst="rect">
            <a:avLst/>
          </a:prstGeom>
        </p:spPr>
      </p:pic>
      <p:sp>
        <p:nvSpPr>
          <p:cNvPr id="9" name="Rectangle 8">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19465" y="-2819458"/>
            <a:ext cx="3512260" cy="9151192"/>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829" y="374267"/>
            <a:ext cx="9143958" cy="2122424"/>
          </a:xfrm>
        </p:spPr>
        <p:txBody>
          <a:bodyPr anchor="ctr">
            <a:normAutofit/>
          </a:bodyPr>
          <a:lstStyle/>
          <a:p>
            <a:pPr>
              <a:lnSpc>
                <a:spcPct val="150000"/>
              </a:lnSpc>
            </a:pPr>
            <a:r>
              <a:rPr lang="en-US" sz="4800" dirty="0">
                <a:solidFill>
                  <a:srgbClr val="FFFFFF"/>
                </a:solidFill>
              </a:rPr>
              <a:t>Industry Analytics &amp; Forecasting</a:t>
            </a:r>
            <a:br>
              <a:rPr lang="en-US" sz="4800" dirty="0">
                <a:solidFill>
                  <a:srgbClr val="FFFFFF"/>
                </a:solidFill>
              </a:rPr>
            </a:br>
            <a:r>
              <a:rPr lang="en-US" sz="2400" dirty="0">
                <a:solidFill>
                  <a:srgbClr val="FFFFFF"/>
                </a:solidFill>
              </a:rPr>
              <a:t>-By Riya Goel</a:t>
            </a:r>
            <a:endParaRPr lang="en-US" sz="4800" dirty="0">
              <a:solidFill>
                <a:srgbClr val="FFFFFF"/>
              </a:solidFill>
            </a:endParaRPr>
          </a:p>
        </p:txBody>
      </p:sp>
      <p:sp>
        <p:nvSpPr>
          <p:cNvPr id="11" name="Rectangle 10">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355769" y="1075816"/>
            <a:ext cx="2425271" cy="9151191"/>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0" y="4021156"/>
            <a:ext cx="9143978" cy="2721167"/>
          </a:xfrm>
        </p:spPr>
        <p:txBody>
          <a:bodyPr anchor="ctr">
            <a:normAutofit fontScale="92500" lnSpcReduction="20000"/>
          </a:bodyPr>
          <a:lstStyle/>
          <a:p>
            <a:pPr algn="just"/>
            <a:r>
              <a:rPr lang="en-US" sz="2400" dirty="0">
                <a:solidFill>
                  <a:srgbClr val="FFFFFF"/>
                </a:solidFill>
                <a:latin typeface="Times New Roman" panose="02020603050405020304" pitchFamily="18" charset="0"/>
                <a:cs typeface="Times New Roman" panose="02020603050405020304" pitchFamily="18" charset="0"/>
              </a:rPr>
              <a:t>EDA, ML modeling, forecasting, clustering, and executive insights.</a:t>
            </a:r>
          </a:p>
          <a:p>
            <a:pPr algn="just"/>
            <a:r>
              <a:rPr lang="en-US" sz="2400" dirty="0">
                <a:solidFill>
                  <a:srgbClr val="FFFFFF"/>
                </a:solidFill>
                <a:latin typeface="Times New Roman" panose="02020603050405020304" pitchFamily="18" charset="0"/>
                <a:cs typeface="Times New Roman" panose="02020603050405020304" pitchFamily="18" charset="0"/>
              </a:rPr>
              <a:t>This project analyzes over 15,000 industrial business records across multiple sectors, countries, and operational regions to uncover actionable insights using data analytics, machine learning, forecasting, and clustering techniques. The project demonstrates how analytics can support strategic planning, operational optimization, and business forecasting. The system evaluates critical business metrics, including: Revenue performance, Profit margins, Employee productivity, Customer growth, Industry distribution, and Regional performance trends</a:t>
            </a:r>
          </a:p>
        </p:txBody>
      </p:sp>
      <p:cxnSp>
        <p:nvCxnSpPr>
          <p:cNvPr id="13" name="Straight Connector 12">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F10C2C-E753-5524-5187-6880A2D00A18}"/>
              </a:ext>
            </a:extLst>
          </p:cNvPr>
          <p:cNvSpPr>
            <a:spLocks noGrp="1"/>
          </p:cNvSpPr>
          <p:nvPr>
            <p:ph type="title"/>
          </p:nvPr>
        </p:nvSpPr>
        <p:spPr>
          <a:xfrm>
            <a:off x="-1" y="0"/>
            <a:ext cx="9141713" cy="1230086"/>
          </a:xfrm>
        </p:spPr>
        <p:txBody>
          <a:bodyPr>
            <a:normAutofit/>
          </a:bodyPr>
          <a:lstStyle/>
          <a:p>
            <a:r>
              <a:rPr lang="en-IN" b="1" dirty="0">
                <a:latin typeface="Times New Roman" panose="02020603050405020304" pitchFamily="18" charset="0"/>
                <a:cs typeface="Times New Roman" panose="02020603050405020304" pitchFamily="18" charset="0"/>
              </a:rPr>
              <a:t>About The Project</a:t>
            </a:r>
          </a:p>
        </p:txBody>
      </p:sp>
      <p:sp>
        <p:nvSpPr>
          <p:cNvPr id="3" name="Content Placeholder 2">
            <a:extLst>
              <a:ext uri="{FF2B5EF4-FFF2-40B4-BE49-F238E27FC236}">
                <a16:creationId xmlns:a16="http://schemas.microsoft.com/office/drawing/2014/main" id="{A40F9A6B-2AD8-1107-4F0A-41BF72ADA345}"/>
              </a:ext>
            </a:extLst>
          </p:cNvPr>
          <p:cNvSpPr>
            <a:spLocks noGrp="1"/>
          </p:cNvSpPr>
          <p:nvPr>
            <p:ph idx="1"/>
          </p:nvPr>
        </p:nvSpPr>
        <p:spPr>
          <a:xfrm>
            <a:off x="-1" y="1230086"/>
            <a:ext cx="5100737" cy="5627915"/>
          </a:xfrm>
        </p:spPr>
        <p:txBody>
          <a:bodyPr>
            <a:noAutofit/>
          </a:bodyPr>
          <a:lstStyle/>
          <a:p>
            <a:pPr algn="just">
              <a:lnSpc>
                <a:spcPct val="90000"/>
              </a:lnSpc>
            </a:pPr>
            <a:r>
              <a:rPr lang="en-US" sz="1800" dirty="0">
                <a:latin typeface="Times New Roman" panose="02020603050405020304" pitchFamily="18" charset="0"/>
                <a:cs typeface="Times New Roman" panose="02020603050405020304" pitchFamily="18" charset="0"/>
              </a:rPr>
              <a:t>The project employs </a:t>
            </a:r>
            <a:r>
              <a:rPr lang="en-US" sz="1800" b="1" dirty="0">
                <a:solidFill>
                  <a:schemeClr val="accent2">
                    <a:lumMod val="75000"/>
                  </a:schemeClr>
                </a:solidFill>
                <a:latin typeface="Times New Roman" panose="02020603050405020304" pitchFamily="18" charset="0"/>
                <a:cs typeface="Times New Roman" panose="02020603050405020304" pitchFamily="18" charset="0"/>
              </a:rPr>
              <a:t>Python</a:t>
            </a:r>
            <a:r>
              <a:rPr lang="en-US" sz="1800" dirty="0">
                <a:latin typeface="Times New Roman" panose="02020603050405020304" pitchFamily="18" charset="0"/>
                <a:cs typeface="Times New Roman" panose="02020603050405020304" pitchFamily="18" charset="0"/>
              </a:rPr>
              <a:t> along with a range of robust libraries, such as </a:t>
            </a:r>
            <a:r>
              <a:rPr lang="en-US" sz="1800" b="1" dirty="0">
                <a:solidFill>
                  <a:schemeClr val="accent2">
                    <a:lumMod val="75000"/>
                  </a:schemeClr>
                </a:solidFill>
                <a:latin typeface="Times New Roman" panose="02020603050405020304" pitchFamily="18" charset="0"/>
                <a:cs typeface="Times New Roman" panose="02020603050405020304" pitchFamily="18" charset="0"/>
              </a:rPr>
              <a:t>Scrapy, Pandas, NumPy, Matplotlib, Seaborn</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and</a:t>
            </a:r>
            <a:r>
              <a:rPr lang="en-US" sz="1800" b="1" dirty="0">
                <a:latin typeface="Times New Roman" panose="02020603050405020304" pitchFamily="18" charset="0"/>
                <a:cs typeface="Times New Roman" panose="02020603050405020304" pitchFamily="18" charset="0"/>
              </a:rPr>
              <a:t> </a:t>
            </a:r>
            <a:r>
              <a:rPr lang="en-US" sz="1800" b="1" dirty="0">
                <a:solidFill>
                  <a:schemeClr val="accent2">
                    <a:lumMod val="75000"/>
                  </a:schemeClr>
                </a:solidFill>
                <a:latin typeface="Times New Roman" panose="02020603050405020304" pitchFamily="18" charset="0"/>
                <a:cs typeface="Times New Roman" panose="02020603050405020304" pitchFamily="18" charset="0"/>
              </a:rPr>
              <a:t>Scikit-learn</a:t>
            </a:r>
            <a:r>
              <a:rPr lang="en-US" sz="1800" dirty="0">
                <a:latin typeface="Times New Roman" panose="02020603050405020304" pitchFamily="18" charset="0"/>
                <a:cs typeface="Times New Roman" panose="02020603050405020304" pitchFamily="18" charset="0"/>
              </a:rPr>
              <a:t>, to conduct a </a:t>
            </a:r>
            <a:r>
              <a:rPr lang="en-US" sz="1800" b="1" dirty="0">
                <a:solidFill>
                  <a:schemeClr val="accent2">
                    <a:lumMod val="75000"/>
                  </a:schemeClr>
                </a:solidFill>
                <a:latin typeface="Times New Roman" panose="02020603050405020304" pitchFamily="18" charset="0"/>
                <a:cs typeface="Times New Roman" panose="02020603050405020304" pitchFamily="18" charset="0"/>
              </a:rPr>
              <a:t>comprehensive analysis </a:t>
            </a:r>
            <a:r>
              <a:rPr lang="en-US" sz="1800" dirty="0">
                <a:latin typeface="Times New Roman" panose="02020603050405020304" pitchFamily="18" charset="0"/>
                <a:cs typeface="Times New Roman" panose="02020603050405020304" pitchFamily="18" charset="0"/>
              </a:rPr>
              <a:t>of data across various industries.</a:t>
            </a:r>
          </a:p>
          <a:p>
            <a:pPr algn="just">
              <a:lnSpc>
                <a:spcPct val="90000"/>
              </a:lnSpc>
            </a:pPr>
            <a:r>
              <a:rPr lang="en-US" sz="1800" dirty="0">
                <a:latin typeface="Times New Roman" panose="02020603050405020304" pitchFamily="18" charset="0"/>
                <a:cs typeface="Times New Roman" panose="02020603050405020304" pitchFamily="18" charset="0"/>
              </a:rPr>
              <a:t>Key statistical metrics, including the </a:t>
            </a:r>
            <a:r>
              <a:rPr lang="en-US" sz="1800" b="1" dirty="0">
                <a:solidFill>
                  <a:schemeClr val="accent2">
                    <a:lumMod val="75000"/>
                  </a:schemeClr>
                </a:solidFill>
                <a:latin typeface="Times New Roman" panose="02020603050405020304" pitchFamily="18" charset="0"/>
                <a:cs typeface="Times New Roman" panose="02020603050405020304" pitchFamily="18" charset="0"/>
              </a:rPr>
              <a:t>mean, median, and quantiles</a:t>
            </a:r>
            <a:r>
              <a:rPr lang="en-US" sz="1800" dirty="0">
                <a:latin typeface="Times New Roman" panose="02020603050405020304" pitchFamily="18" charset="0"/>
                <a:cs typeface="Times New Roman" panose="02020603050405020304" pitchFamily="18" charset="0"/>
              </a:rPr>
              <a:t>, are calculated to provide insights into dataset distribution and central tendencies. Diverse visual representations—such as </a:t>
            </a:r>
            <a:r>
              <a:rPr lang="en-US" sz="1800" b="1" dirty="0">
                <a:solidFill>
                  <a:schemeClr val="accent2">
                    <a:lumMod val="75000"/>
                  </a:schemeClr>
                </a:solidFill>
                <a:latin typeface="Times New Roman" panose="02020603050405020304" pitchFamily="18" charset="0"/>
                <a:cs typeface="Times New Roman" panose="02020603050405020304" pitchFamily="18" charset="0"/>
              </a:rPr>
              <a:t>bar charts, pie charts, heat maps, </a:t>
            </a:r>
            <a:r>
              <a:rPr lang="en-US" sz="1800" dirty="0">
                <a:latin typeface="Times New Roman" panose="02020603050405020304" pitchFamily="18" charset="0"/>
                <a:cs typeface="Times New Roman" panose="02020603050405020304" pitchFamily="18" charset="0"/>
              </a:rPr>
              <a:t>and</a:t>
            </a:r>
            <a:r>
              <a:rPr lang="en-US" sz="1800" b="1" dirty="0">
                <a:latin typeface="Times New Roman" panose="02020603050405020304" pitchFamily="18" charset="0"/>
                <a:cs typeface="Times New Roman" panose="02020603050405020304" pitchFamily="18" charset="0"/>
              </a:rPr>
              <a:t> </a:t>
            </a:r>
            <a:r>
              <a:rPr lang="en-US" sz="1800" b="1" dirty="0">
                <a:solidFill>
                  <a:schemeClr val="accent2">
                    <a:lumMod val="75000"/>
                  </a:schemeClr>
                </a:solidFill>
                <a:latin typeface="Times New Roman" panose="02020603050405020304" pitchFamily="18" charset="0"/>
                <a:cs typeface="Times New Roman" panose="02020603050405020304" pitchFamily="18" charset="0"/>
              </a:rPr>
              <a:t>scatter plots</a:t>
            </a:r>
            <a:r>
              <a:rPr lang="en-US" sz="1800" dirty="0">
                <a:latin typeface="Times New Roman" panose="02020603050405020304" pitchFamily="18" charset="0"/>
                <a:cs typeface="Times New Roman" panose="02020603050405020304" pitchFamily="18" charset="0"/>
              </a:rPr>
              <a:t>—enhance clarity and facilitate informed insights into industry trends.</a:t>
            </a:r>
          </a:p>
          <a:p>
            <a:pPr algn="just">
              <a:lnSpc>
                <a:spcPct val="90000"/>
              </a:lnSpc>
            </a:pPr>
            <a:r>
              <a:rPr lang="en-US" sz="1800" b="1" dirty="0">
                <a:solidFill>
                  <a:schemeClr val="accent2">
                    <a:lumMod val="75000"/>
                  </a:schemeClr>
                </a:solidFill>
                <a:latin typeface="Times New Roman" panose="02020603050405020304" pitchFamily="18" charset="0"/>
                <a:cs typeface="Times New Roman" panose="02020603050405020304" pitchFamily="18" charset="0"/>
              </a:rPr>
              <a:t>Exploratory Data Analysis (EDA) </a:t>
            </a:r>
            <a:r>
              <a:rPr lang="en-US" sz="1800" dirty="0">
                <a:latin typeface="Times New Roman" panose="02020603050405020304" pitchFamily="18" charset="0"/>
                <a:cs typeface="Times New Roman" panose="02020603050405020304" pitchFamily="18" charset="0"/>
              </a:rPr>
              <a:t>is performed to </a:t>
            </a:r>
            <a:r>
              <a:rPr lang="en-US" sz="1800" b="1" dirty="0">
                <a:solidFill>
                  <a:schemeClr val="accent2">
                    <a:lumMod val="75000"/>
                  </a:schemeClr>
                </a:solidFill>
                <a:latin typeface="Times New Roman" panose="02020603050405020304" pitchFamily="18" charset="0"/>
                <a:cs typeface="Times New Roman" panose="02020603050405020304" pitchFamily="18" charset="0"/>
              </a:rPr>
              <a:t>analyze data distributions, identify patterns, </a:t>
            </a:r>
            <a:r>
              <a:rPr lang="en-US" sz="1800" dirty="0">
                <a:latin typeface="Times New Roman" panose="02020603050405020304" pitchFamily="18" charset="0"/>
                <a:cs typeface="Times New Roman" panose="02020603050405020304" pitchFamily="18" charset="0"/>
              </a:rPr>
              <a:t>and</a:t>
            </a:r>
            <a:r>
              <a:rPr lang="en-US" sz="1800" b="1" dirty="0">
                <a:latin typeface="Times New Roman" panose="02020603050405020304" pitchFamily="18" charset="0"/>
                <a:cs typeface="Times New Roman" panose="02020603050405020304" pitchFamily="18" charset="0"/>
              </a:rPr>
              <a:t> </a:t>
            </a:r>
            <a:r>
              <a:rPr lang="en-US" sz="1800" b="1" dirty="0">
                <a:solidFill>
                  <a:schemeClr val="accent2">
                    <a:lumMod val="75000"/>
                  </a:schemeClr>
                </a:solidFill>
                <a:latin typeface="Times New Roman" panose="02020603050405020304" pitchFamily="18" charset="0"/>
                <a:cs typeface="Times New Roman" panose="02020603050405020304" pitchFamily="18" charset="0"/>
              </a:rPr>
              <a:t>uncover hidden business insights</a:t>
            </a:r>
            <a:r>
              <a:rPr lang="en-US" sz="1800" dirty="0">
                <a:latin typeface="Times New Roman" panose="02020603050405020304" pitchFamily="18" charset="0"/>
                <a:cs typeface="Times New Roman" panose="02020603050405020304" pitchFamily="18" charset="0"/>
              </a:rPr>
              <a:t>. Various visualizations, including </a:t>
            </a:r>
            <a:r>
              <a:rPr lang="en-US" sz="1800" b="1" dirty="0">
                <a:solidFill>
                  <a:schemeClr val="accent2">
                    <a:lumMod val="75000"/>
                  </a:schemeClr>
                </a:solidFill>
                <a:latin typeface="Times New Roman" panose="02020603050405020304" pitchFamily="18" charset="0"/>
                <a:cs typeface="Times New Roman" panose="02020603050405020304" pitchFamily="18" charset="0"/>
              </a:rPr>
              <a:t>histograms, box plots, heat maps,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and</a:t>
            </a:r>
            <a:r>
              <a:rPr lang="en-US" sz="1800" b="1" dirty="0">
                <a:latin typeface="Times New Roman" panose="02020603050405020304" pitchFamily="18" charset="0"/>
                <a:cs typeface="Times New Roman" panose="02020603050405020304" pitchFamily="18" charset="0"/>
              </a:rPr>
              <a:t> </a:t>
            </a:r>
            <a:r>
              <a:rPr lang="en-US" sz="1800" b="1" dirty="0">
                <a:solidFill>
                  <a:schemeClr val="accent2">
                    <a:lumMod val="75000"/>
                  </a:schemeClr>
                </a:solidFill>
                <a:latin typeface="Times New Roman" panose="02020603050405020304" pitchFamily="18" charset="0"/>
                <a:cs typeface="Times New Roman" panose="02020603050405020304" pitchFamily="18" charset="0"/>
              </a:rPr>
              <a:t>trend charts</a:t>
            </a:r>
            <a:r>
              <a:rPr lang="en-US" sz="1800" dirty="0">
                <a:latin typeface="Times New Roman" panose="02020603050405020304" pitchFamily="18" charset="0"/>
                <a:cs typeface="Times New Roman" panose="02020603050405020304" pitchFamily="18" charset="0"/>
              </a:rPr>
              <a:t>, reveal key findings, including uneven revenue distributions, regional business concentration, significant variability in profit margins, and operational outliers.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FCC0903-9B36-15A9-BFB7-579296BFF944}"/>
              </a:ext>
            </a:extLst>
          </p:cNvPr>
          <p:cNvPicPr>
            <a:picLocks noChangeAspect="1"/>
          </p:cNvPicPr>
          <p:nvPr/>
        </p:nvPicPr>
        <p:blipFill>
          <a:blip r:embed="rId2"/>
          <a:srcRect r="56348" b="2"/>
          <a:stretch>
            <a:fillRect/>
          </a:stretch>
        </p:blipFill>
        <p:spPr>
          <a:xfrm>
            <a:off x="5100739" y="1230086"/>
            <a:ext cx="3560660" cy="5155865"/>
          </a:xfrm>
          <a:prstGeom prst="rect">
            <a:avLst/>
          </a:prstGeom>
        </p:spPr>
      </p:pic>
    </p:spTree>
    <p:extLst>
      <p:ext uri="{BB962C8B-B14F-4D97-AF65-F5344CB8AC3E}">
        <p14:creationId xmlns:p14="http://schemas.microsoft.com/office/powerpoint/2010/main" val="1458469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FBC17-33DB-E8A8-A9C9-A82741050FB1}"/>
              </a:ext>
            </a:extLst>
          </p:cNvPr>
          <p:cNvSpPr>
            <a:spLocks noGrp="1"/>
          </p:cNvSpPr>
          <p:nvPr>
            <p:ph type="title"/>
          </p:nvPr>
        </p:nvSpPr>
        <p:spPr>
          <a:xfrm>
            <a:off x="0" y="1"/>
            <a:ext cx="5078778" cy="705080"/>
          </a:xfrm>
        </p:spPr>
        <p:txBody>
          <a:bodyPr anchor="ctr">
            <a:normAutofit/>
          </a:bodyPr>
          <a:lstStyle/>
          <a:p>
            <a:r>
              <a:rPr lang="en-IN" sz="3500" b="1" dirty="0">
                <a:latin typeface="Times New Roman" panose="02020603050405020304" pitchFamily="18" charset="0"/>
                <a:cs typeface="Times New Roman" panose="02020603050405020304" pitchFamily="18" charset="0"/>
              </a:rPr>
              <a:t>Executive Summary</a:t>
            </a:r>
          </a:p>
        </p:txBody>
      </p:sp>
      <p:sp>
        <p:nvSpPr>
          <p:cNvPr id="3" name="Content Placeholder 2">
            <a:extLst>
              <a:ext uri="{FF2B5EF4-FFF2-40B4-BE49-F238E27FC236}">
                <a16:creationId xmlns:a16="http://schemas.microsoft.com/office/drawing/2014/main" id="{22575478-92AD-1BD9-3DAF-0914B4913498}"/>
              </a:ext>
            </a:extLst>
          </p:cNvPr>
          <p:cNvSpPr>
            <a:spLocks noGrp="1"/>
          </p:cNvSpPr>
          <p:nvPr>
            <p:ph idx="1"/>
          </p:nvPr>
        </p:nvSpPr>
        <p:spPr>
          <a:xfrm>
            <a:off x="-1" y="705081"/>
            <a:ext cx="5143347" cy="6152920"/>
          </a:xfrm>
        </p:spPr>
        <p:txBody>
          <a:bodyPr anchor="t">
            <a:normAutofit fontScale="25000" lnSpcReduction="20000"/>
          </a:bodyPr>
          <a:lstStyle/>
          <a:p>
            <a:pPr algn="just">
              <a:lnSpc>
                <a:spcPct val="90000"/>
              </a:lnSpc>
            </a:pPr>
            <a:r>
              <a:rPr lang="en-US" sz="7600" dirty="0">
                <a:latin typeface="Times New Roman" panose="02020603050405020304" pitchFamily="18" charset="0"/>
                <a:cs typeface="Times New Roman" panose="02020603050405020304" pitchFamily="18" charset="0"/>
              </a:rPr>
              <a:t>The analysis identified several major business trends and performance indicators across industries and regions.</a:t>
            </a:r>
            <a:endParaRPr lang="en-US" sz="7600" b="1" dirty="0">
              <a:latin typeface="Times New Roman" panose="02020603050405020304" pitchFamily="18" charset="0"/>
              <a:cs typeface="Times New Roman" panose="02020603050405020304" pitchFamily="18" charset="0"/>
            </a:endParaRPr>
          </a:p>
          <a:p>
            <a:pPr algn="just">
              <a:lnSpc>
                <a:spcPct val="90000"/>
              </a:lnSpc>
            </a:pPr>
            <a:r>
              <a:rPr lang="en-US" sz="7600" dirty="0">
                <a:latin typeface="Times New Roman" panose="02020603050405020304" pitchFamily="18" charset="0"/>
                <a:cs typeface="Times New Roman" panose="02020603050405020304" pitchFamily="18" charset="0"/>
              </a:rPr>
              <a:t>Each industry contributes approximately </a:t>
            </a:r>
            <a:r>
              <a:rPr lang="en-US" sz="7600" b="1" dirty="0">
                <a:solidFill>
                  <a:schemeClr val="accent2">
                    <a:lumMod val="75000"/>
                  </a:schemeClr>
                </a:solidFill>
                <a:latin typeface="Times New Roman" panose="02020603050405020304" pitchFamily="18" charset="0"/>
                <a:cs typeface="Times New Roman" panose="02020603050405020304" pitchFamily="18" charset="0"/>
              </a:rPr>
              <a:t>3,000 companies, representing 20% of the dataset. </a:t>
            </a:r>
            <a:r>
              <a:rPr lang="en-US" sz="7600" dirty="0">
                <a:latin typeface="Times New Roman" panose="02020603050405020304" pitchFamily="18" charset="0"/>
                <a:cs typeface="Times New Roman" panose="02020603050405020304" pitchFamily="18" charset="0"/>
              </a:rPr>
              <a:t>The industry distribution is balanced across Technology, Finance, Retail, Healthcare, and Manufacturing sectors.</a:t>
            </a:r>
          </a:p>
          <a:p>
            <a:pPr algn="just">
              <a:lnSpc>
                <a:spcPct val="90000"/>
              </a:lnSpc>
            </a:pPr>
            <a:r>
              <a:rPr lang="en-US" sz="7600" b="1" dirty="0">
                <a:solidFill>
                  <a:schemeClr val="accent2">
                    <a:lumMod val="75000"/>
                  </a:schemeClr>
                </a:solidFill>
                <a:latin typeface="Times New Roman" panose="02020603050405020304" pitchFamily="18" charset="0"/>
                <a:cs typeface="Times New Roman" panose="02020603050405020304" pitchFamily="18" charset="0"/>
              </a:rPr>
              <a:t>North America accounted for nearly 7,500 entities</a:t>
            </a:r>
            <a:r>
              <a:rPr lang="en-US" sz="7600" dirty="0">
                <a:latin typeface="Times New Roman" panose="02020603050405020304" pitchFamily="18" charset="0"/>
                <a:cs typeface="Times New Roman" panose="02020603050405020304" pitchFamily="18" charset="0"/>
              </a:rPr>
              <a:t>, emerging as the most dominant operational region. </a:t>
            </a:r>
          </a:p>
          <a:p>
            <a:pPr algn="just">
              <a:lnSpc>
                <a:spcPct val="90000"/>
              </a:lnSpc>
            </a:pPr>
            <a:r>
              <a:rPr lang="en-US" sz="7600" dirty="0">
                <a:latin typeface="Times New Roman" panose="02020603050405020304" pitchFamily="18" charset="0"/>
                <a:cs typeface="Times New Roman" panose="02020603050405020304" pitchFamily="18" charset="0"/>
              </a:rPr>
              <a:t>Revenue distribution was highly concentrated, with an </a:t>
            </a:r>
            <a:r>
              <a:rPr lang="en-US" sz="7600" b="1" dirty="0">
                <a:solidFill>
                  <a:schemeClr val="accent2">
                    <a:lumMod val="75000"/>
                  </a:schemeClr>
                </a:solidFill>
                <a:latin typeface="Times New Roman" panose="02020603050405020304" pitchFamily="18" charset="0"/>
                <a:cs typeface="Times New Roman" panose="02020603050405020304" pitchFamily="18" charset="0"/>
              </a:rPr>
              <a:t>average revenue of approximately $549.73M, </a:t>
            </a:r>
            <a:r>
              <a:rPr lang="en-US" sz="7600" dirty="0">
                <a:latin typeface="Times New Roman" panose="02020603050405020304" pitchFamily="18" charset="0"/>
                <a:cs typeface="Times New Roman" panose="02020603050405020304" pitchFamily="18" charset="0"/>
              </a:rPr>
              <a:t>indicating that a small number of companies dominate the market. </a:t>
            </a:r>
          </a:p>
          <a:p>
            <a:pPr algn="just">
              <a:lnSpc>
                <a:spcPct val="90000"/>
              </a:lnSpc>
            </a:pPr>
            <a:r>
              <a:rPr lang="en-US" sz="7600" dirty="0">
                <a:latin typeface="Times New Roman" panose="02020603050405020304" pitchFamily="18" charset="0"/>
                <a:cs typeface="Times New Roman" panose="02020603050405020304" pitchFamily="18" charset="0"/>
              </a:rPr>
              <a:t>Customer count showed almost no linear correlation with revenue </a:t>
            </a:r>
            <a:r>
              <a:rPr lang="en-US" sz="7600" b="1" dirty="0">
                <a:solidFill>
                  <a:schemeClr val="accent2">
                    <a:lumMod val="75000"/>
                  </a:schemeClr>
                </a:solidFill>
                <a:latin typeface="Times New Roman" panose="02020603050405020304" pitchFamily="18" charset="0"/>
                <a:cs typeface="Times New Roman" panose="02020603050405020304" pitchFamily="18" charset="0"/>
              </a:rPr>
              <a:t>(≈ -0.003), </a:t>
            </a:r>
            <a:r>
              <a:rPr lang="en-US" sz="7600" dirty="0">
                <a:latin typeface="Times New Roman" panose="02020603050405020304" pitchFamily="18" charset="0"/>
                <a:cs typeface="Times New Roman" panose="02020603050405020304" pitchFamily="18" charset="0"/>
              </a:rPr>
              <a:t>indicating that revenue performance is influenced by multiple operational and market factors rather than customer volume alone.</a:t>
            </a:r>
          </a:p>
          <a:p>
            <a:pPr algn="just">
              <a:lnSpc>
                <a:spcPct val="90000"/>
              </a:lnSpc>
            </a:pPr>
            <a:r>
              <a:rPr lang="en-US" sz="7600" dirty="0">
                <a:latin typeface="Times New Roman" panose="02020603050405020304" pitchFamily="18" charset="0"/>
                <a:cs typeface="Times New Roman" panose="02020603050405020304" pitchFamily="18" charset="0"/>
              </a:rPr>
              <a:t>Approximately </a:t>
            </a:r>
            <a:r>
              <a:rPr lang="en-US" sz="7600" b="1" dirty="0">
                <a:solidFill>
                  <a:schemeClr val="accent2">
                    <a:lumMod val="75000"/>
                  </a:schemeClr>
                </a:solidFill>
                <a:latin typeface="Times New Roman" panose="02020603050405020304" pitchFamily="18" charset="0"/>
                <a:cs typeface="Times New Roman" panose="02020603050405020304" pitchFamily="18" charset="0"/>
              </a:rPr>
              <a:t>750 operational anomalies</a:t>
            </a:r>
            <a:r>
              <a:rPr lang="en-US" sz="7600" dirty="0">
                <a:solidFill>
                  <a:schemeClr val="accent2">
                    <a:lumMod val="75000"/>
                  </a:schemeClr>
                </a:solidFill>
                <a:latin typeface="Times New Roman" panose="02020603050405020304" pitchFamily="18" charset="0"/>
                <a:cs typeface="Times New Roman" panose="02020603050405020304" pitchFamily="18" charset="0"/>
              </a:rPr>
              <a:t> </a:t>
            </a:r>
            <a:r>
              <a:rPr lang="en-US" sz="7600" dirty="0">
                <a:latin typeface="Times New Roman" panose="02020603050405020304" pitchFamily="18" charset="0"/>
                <a:cs typeface="Times New Roman" panose="02020603050405020304" pitchFamily="18" charset="0"/>
              </a:rPr>
              <a:t>were detected through Isolation Forest algorithms. </a:t>
            </a:r>
          </a:p>
          <a:p>
            <a:pPr algn="just">
              <a:lnSpc>
                <a:spcPct val="90000"/>
              </a:lnSpc>
            </a:pPr>
            <a:r>
              <a:rPr lang="en-US" sz="7600" dirty="0">
                <a:latin typeface="Times New Roman" panose="02020603050405020304" pitchFamily="18" charset="0"/>
                <a:cs typeface="Times New Roman" panose="02020603050405020304" pitchFamily="18" charset="0"/>
              </a:rPr>
              <a:t>The project successfully combines statistical analytics and machine learning to improve business intelligence and forecasting capabilities.</a:t>
            </a:r>
          </a:p>
          <a:p>
            <a:pPr>
              <a:lnSpc>
                <a:spcPct val="90000"/>
              </a:lnSpc>
            </a:pPr>
            <a:endParaRPr lang="en-IN" sz="1100" dirty="0"/>
          </a:p>
        </p:txBody>
      </p:sp>
      <p:pic>
        <p:nvPicPr>
          <p:cNvPr id="5" name="Picture 4" descr="Digital financial graph">
            <a:extLst>
              <a:ext uri="{FF2B5EF4-FFF2-40B4-BE49-F238E27FC236}">
                <a16:creationId xmlns:a16="http://schemas.microsoft.com/office/drawing/2014/main" id="{8690098E-168A-5640-A266-737A97AA7549}"/>
              </a:ext>
            </a:extLst>
          </p:cNvPr>
          <p:cNvPicPr>
            <a:picLocks noChangeAspect="1"/>
          </p:cNvPicPr>
          <p:nvPr/>
        </p:nvPicPr>
        <p:blipFill>
          <a:blip r:embed="rId2"/>
          <a:srcRect l="41263" r="25975"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002996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414" y="0"/>
            <a:ext cx="5653586"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3875314" y="119743"/>
            <a:ext cx="5127172" cy="1322887"/>
          </a:xfrm>
        </p:spPr>
        <p:txBody>
          <a:bodyPr>
            <a:normAutofit/>
          </a:bodyPr>
          <a:lstStyle/>
          <a:p>
            <a:pPr>
              <a:lnSpc>
                <a:spcPct val="90000"/>
              </a:lnSpc>
            </a:pPr>
            <a:r>
              <a:rPr lang="en-IN" b="1" dirty="0">
                <a:latin typeface="Times New Roman" panose="02020603050405020304" pitchFamily="18" charset="0"/>
                <a:cs typeface="Times New Roman" panose="02020603050405020304" pitchFamily="18" charset="0"/>
              </a:rPr>
              <a:t>Correlation Insights</a:t>
            </a:r>
          </a:p>
        </p:txBody>
      </p:sp>
      <p:pic>
        <p:nvPicPr>
          <p:cNvPr id="5" name="Picture 4">
            <a:extLst>
              <a:ext uri="{FF2B5EF4-FFF2-40B4-BE49-F238E27FC236}">
                <a16:creationId xmlns:a16="http://schemas.microsoft.com/office/drawing/2014/main" id="{46B5C5E4-1294-C096-1DD4-92FE5D2735DB}"/>
              </a:ext>
            </a:extLst>
          </p:cNvPr>
          <p:cNvPicPr>
            <a:picLocks noChangeAspect="1"/>
          </p:cNvPicPr>
          <p:nvPr/>
        </p:nvPicPr>
        <p:blipFill>
          <a:blip r:embed="rId2"/>
          <a:stretch>
            <a:fillRect/>
          </a:stretch>
        </p:blipFill>
        <p:spPr>
          <a:xfrm rot="16200000">
            <a:off x="-1564052" y="1683792"/>
            <a:ext cx="6618517" cy="3490414"/>
          </a:xfrm>
          <a:prstGeom prst="rect">
            <a:avLst/>
          </a:prstGeom>
        </p:spPr>
      </p:pic>
      <p:sp>
        <p:nvSpPr>
          <p:cNvPr id="3" name="Content Placeholder 2"/>
          <p:cNvSpPr>
            <a:spLocks noGrp="1"/>
          </p:cNvSpPr>
          <p:nvPr>
            <p:ph idx="1"/>
          </p:nvPr>
        </p:nvSpPr>
        <p:spPr>
          <a:xfrm>
            <a:off x="3875314" y="1143000"/>
            <a:ext cx="5127172" cy="5595257"/>
          </a:xfrm>
        </p:spPr>
        <p:txBody>
          <a:bodyPr>
            <a:normAutofit lnSpcReduction="10000"/>
          </a:bodyPr>
          <a:lstStyle/>
          <a:p>
            <a:pPr algn="just">
              <a:lnSpc>
                <a:spcPct val="90000"/>
              </a:lnSpc>
            </a:pPr>
            <a:r>
              <a:rPr lang="en-US" sz="1800" dirty="0">
                <a:latin typeface="Times New Roman" panose="02020603050405020304" pitchFamily="18" charset="0"/>
                <a:cs typeface="Times New Roman" panose="02020603050405020304" pitchFamily="18" charset="0"/>
              </a:rPr>
              <a:t>A correlation analysis of 15,000 companies revealed relationships between employee count, customer count, and annual revenue (in millions). The findings indicated that most business variables had weak correlations, suggesting that a company’s performance is influenced by various operational and market factors rather than relying on a single metric.</a:t>
            </a:r>
          </a:p>
          <a:p>
            <a:pPr algn="just">
              <a:lnSpc>
                <a:spcPct val="90000"/>
              </a:lnSpc>
            </a:pPr>
            <a:r>
              <a:rPr lang="en-US" sz="1800" dirty="0">
                <a:latin typeface="Times New Roman" panose="02020603050405020304" pitchFamily="18" charset="0"/>
                <a:cs typeface="Times New Roman" panose="02020603050405020304" pitchFamily="18" charset="0"/>
              </a:rPr>
              <a:t>A weak positive relationship was observed between </a:t>
            </a:r>
            <a:r>
              <a:rPr lang="en-US" sz="1800" dirty="0" err="1">
                <a:latin typeface="Times New Roman" panose="02020603050405020304" pitchFamily="18" charset="0"/>
                <a:cs typeface="Times New Roman" panose="02020603050405020304" pitchFamily="18" charset="0"/>
              </a:rPr>
              <a:t>market_rating</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profit_margin_percent</a:t>
            </a:r>
            <a:r>
              <a:rPr lang="en-US" sz="1800" dirty="0">
                <a:latin typeface="Times New Roman" panose="02020603050405020304" pitchFamily="18" charset="0"/>
                <a:cs typeface="Times New Roman" panose="02020603050405020304" pitchFamily="18" charset="0"/>
              </a:rPr>
              <a:t>, suggesting limited linear association between brand perception and profitability. </a:t>
            </a:r>
          </a:p>
          <a:p>
            <a:pPr algn="just">
              <a:lnSpc>
                <a:spcPct val="90000"/>
              </a:lnSpc>
            </a:pPr>
            <a:r>
              <a:rPr lang="en-US" sz="1800" dirty="0">
                <a:latin typeface="Times New Roman" panose="02020603050405020304" pitchFamily="18" charset="0"/>
                <a:cs typeface="Times New Roman" panose="02020603050405020304" pitchFamily="18" charset="0"/>
              </a:rPr>
              <a:t>In contrast, </a:t>
            </a:r>
            <a:r>
              <a:rPr lang="en-US" sz="1800" b="1" dirty="0" err="1">
                <a:latin typeface="Times New Roman" panose="02020603050405020304" pitchFamily="18" charset="0"/>
                <a:cs typeface="Times New Roman" panose="02020603050405020304" pitchFamily="18" charset="0"/>
              </a:rPr>
              <a:t>founded_year</a:t>
            </a:r>
            <a:r>
              <a:rPr lang="en-US" sz="1800" dirty="0">
                <a:latin typeface="Times New Roman" panose="02020603050405020304" pitchFamily="18" charset="0"/>
                <a:cs typeface="Times New Roman" panose="02020603050405020304" pitchFamily="18" charset="0"/>
              </a:rPr>
              <a:t> showed weak correlation with revenue, demonstrating that innovation and scalability outweighed organizational age in determining enterprise success.</a:t>
            </a:r>
          </a:p>
          <a:p>
            <a:pPr algn="just">
              <a:lnSpc>
                <a:spcPct val="90000"/>
              </a:lnSpc>
            </a:pPr>
            <a:r>
              <a:rPr lang="en-US" sz="1800" dirty="0">
                <a:latin typeface="Times New Roman" panose="02020603050405020304" pitchFamily="18" charset="0"/>
                <a:cs typeface="Times New Roman" panose="02020603050405020304" pitchFamily="18" charset="0"/>
              </a:rPr>
              <a:t>The heatmap further confirmed that the correlation analysis suggests that revenue performance is influenced by a combination of operational, market, and organizational factors rather than a single dominant variable.</a:t>
            </a:r>
          </a:p>
          <a:p>
            <a:pPr>
              <a:lnSpc>
                <a:spcPct val="90000"/>
              </a:lnSpc>
            </a:pPr>
            <a:endParaRPr lang="en-US" sz="13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Shape 59">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414" y="0"/>
            <a:ext cx="5653586"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3875314" y="0"/>
            <a:ext cx="5268686" cy="1643743"/>
          </a:xfrm>
        </p:spPr>
        <p:txBody>
          <a:bodyPr>
            <a:normAutofit/>
          </a:bodyPr>
          <a:lstStyle/>
          <a:p>
            <a:pPr>
              <a:lnSpc>
                <a:spcPct val="90000"/>
              </a:lnSpc>
            </a:pPr>
            <a:r>
              <a:rPr lang="en-IN" sz="3400" b="1" dirty="0">
                <a:latin typeface="Times New Roman" panose="02020603050405020304" pitchFamily="18" charset="0"/>
                <a:cs typeface="Times New Roman" panose="02020603050405020304" pitchFamily="18" charset="0"/>
              </a:rPr>
              <a:t>Clustering &amp; Anomaly Detection</a:t>
            </a:r>
          </a:p>
        </p:txBody>
      </p:sp>
      <p:pic>
        <p:nvPicPr>
          <p:cNvPr id="5" name="Picture 4">
            <a:extLst>
              <a:ext uri="{FF2B5EF4-FFF2-40B4-BE49-F238E27FC236}">
                <a16:creationId xmlns:a16="http://schemas.microsoft.com/office/drawing/2014/main" id="{654F05E2-AD74-896D-4995-0137BBA015E4}"/>
              </a:ext>
            </a:extLst>
          </p:cNvPr>
          <p:cNvPicPr>
            <a:picLocks noChangeAspect="1"/>
          </p:cNvPicPr>
          <p:nvPr/>
        </p:nvPicPr>
        <p:blipFill>
          <a:blip r:embed="rId2"/>
          <a:stretch>
            <a:fillRect/>
          </a:stretch>
        </p:blipFill>
        <p:spPr>
          <a:xfrm rot="16200000">
            <a:off x="-1683792" y="1683790"/>
            <a:ext cx="6857999" cy="3490413"/>
          </a:xfrm>
          <a:prstGeom prst="rect">
            <a:avLst/>
          </a:prstGeom>
        </p:spPr>
      </p:pic>
      <p:sp>
        <p:nvSpPr>
          <p:cNvPr id="3" name="Content Placeholder 2"/>
          <p:cNvSpPr>
            <a:spLocks noGrp="1"/>
          </p:cNvSpPr>
          <p:nvPr>
            <p:ph idx="1"/>
          </p:nvPr>
        </p:nvSpPr>
        <p:spPr>
          <a:xfrm>
            <a:off x="3701144" y="1360714"/>
            <a:ext cx="5442856" cy="5497284"/>
          </a:xfrm>
        </p:spPr>
        <p:txBody>
          <a:bodyPr>
            <a:normAutofit/>
          </a:bodyPr>
          <a:lstStyle/>
          <a:p>
            <a:pPr algn="just">
              <a:lnSpc>
                <a:spcPct val="90000"/>
              </a:lnSpc>
            </a:pPr>
            <a:r>
              <a:rPr lang="en-US" sz="1700" dirty="0">
                <a:latin typeface="Times New Roman" panose="02020603050405020304" pitchFamily="18" charset="0"/>
                <a:cs typeface="Times New Roman" panose="02020603050405020304" pitchFamily="18" charset="0"/>
              </a:rPr>
              <a:t>K-Means clustering identified three business segments, although the low silhouette score (0.11) indicates weak separation between clusters.</a:t>
            </a:r>
          </a:p>
          <a:p>
            <a:pPr algn="just">
              <a:lnSpc>
                <a:spcPct val="90000"/>
              </a:lnSpc>
            </a:pPr>
            <a:r>
              <a:rPr lang="en-US" sz="1700" dirty="0">
                <a:latin typeface="Times New Roman" panose="02020603050405020304" pitchFamily="18" charset="0"/>
                <a:cs typeface="Times New Roman" panose="02020603050405020304" pitchFamily="18" charset="0"/>
              </a:rPr>
              <a:t>PCA visualization showed partial separation among clusters, while the silhouette score of 0.11 indicates relatively weak cluster boundaries.</a:t>
            </a:r>
          </a:p>
          <a:p>
            <a:pPr algn="just">
              <a:lnSpc>
                <a:spcPct val="90000"/>
              </a:lnSpc>
            </a:pPr>
            <a:r>
              <a:rPr lang="en-US" sz="1700" dirty="0">
                <a:latin typeface="Times New Roman" panose="02020603050405020304" pitchFamily="18" charset="0"/>
                <a:cs typeface="Times New Roman" panose="02020603050405020304" pitchFamily="18" charset="0"/>
              </a:rPr>
              <a:t>Cluster formation was primarily driven by </a:t>
            </a:r>
            <a:r>
              <a:rPr lang="en-US" sz="1700" b="1" dirty="0">
                <a:latin typeface="Times New Roman" panose="02020603050405020304" pitchFamily="18" charset="0"/>
                <a:cs typeface="Times New Roman" panose="02020603050405020304" pitchFamily="18" charset="0"/>
              </a:rPr>
              <a:t>employee count (15,000 records distribution skewed with high variance)</a:t>
            </a:r>
            <a:r>
              <a:rPr lang="en-US" sz="1700" dirty="0">
                <a:latin typeface="Times New Roman" panose="02020603050405020304" pitchFamily="18" charset="0"/>
                <a:cs typeface="Times New Roman" panose="02020603050405020304" pitchFamily="18" charset="0"/>
              </a:rPr>
              <a:t>, </a:t>
            </a:r>
            <a:r>
              <a:rPr lang="en-US" sz="1700" b="1" dirty="0">
                <a:latin typeface="Times New Roman" panose="02020603050405020304" pitchFamily="18" charset="0"/>
                <a:cs typeface="Times New Roman" panose="02020603050405020304" pitchFamily="18" charset="0"/>
              </a:rPr>
              <a:t>customer count (strong right-skew across firms)</a:t>
            </a:r>
            <a:r>
              <a:rPr lang="en-US" sz="1700" dirty="0">
                <a:latin typeface="Times New Roman" panose="02020603050405020304" pitchFamily="18" charset="0"/>
                <a:cs typeface="Times New Roman" panose="02020603050405020304" pitchFamily="18" charset="0"/>
              </a:rPr>
              <a:t>, and </a:t>
            </a:r>
            <a:r>
              <a:rPr lang="en-US" sz="1700" b="1" dirty="0" err="1">
                <a:latin typeface="Times New Roman" panose="02020603050405020304" pitchFamily="18" charset="0"/>
                <a:cs typeface="Times New Roman" panose="02020603050405020304" pitchFamily="18" charset="0"/>
              </a:rPr>
              <a:t>annual_revenue_million</a:t>
            </a:r>
            <a:r>
              <a:rPr lang="en-US" sz="1700" b="1" dirty="0">
                <a:latin typeface="Times New Roman" panose="02020603050405020304" pitchFamily="18" charset="0"/>
                <a:cs typeface="Times New Roman" panose="02020603050405020304" pitchFamily="18" charset="0"/>
              </a:rPr>
              <a:t> (high kurtosis with extreme upper tail values)</a:t>
            </a:r>
            <a:r>
              <a:rPr lang="en-US" sz="1700" dirty="0">
                <a:latin typeface="Times New Roman" panose="02020603050405020304" pitchFamily="18" charset="0"/>
                <a:cs typeface="Times New Roman" panose="02020603050405020304" pitchFamily="18" charset="0"/>
              </a:rPr>
              <a:t>. Companies in the top cluster typically showed revenue levels </a:t>
            </a:r>
            <a:r>
              <a:rPr lang="en-US" sz="1700" b="1" dirty="0">
                <a:latin typeface="Times New Roman" panose="02020603050405020304" pitchFamily="18" charset="0"/>
                <a:cs typeface="Times New Roman" panose="02020603050405020304" pitchFamily="18" charset="0"/>
              </a:rPr>
              <a:t>3–8× higher</a:t>
            </a:r>
            <a:r>
              <a:rPr lang="en-US" sz="1700" dirty="0">
                <a:latin typeface="Times New Roman" panose="02020603050405020304" pitchFamily="18" charset="0"/>
                <a:cs typeface="Times New Roman" panose="02020603050405020304" pitchFamily="18" charset="0"/>
              </a:rPr>
              <a:t> than mid-tier firms and employee bases exceeding </a:t>
            </a:r>
            <a:r>
              <a:rPr lang="en-US" sz="1700" b="1" dirty="0">
                <a:latin typeface="Times New Roman" panose="02020603050405020304" pitchFamily="18" charset="0"/>
                <a:cs typeface="Times New Roman" panose="02020603050405020304" pitchFamily="18" charset="0"/>
              </a:rPr>
              <a:t>10,000+ in large enterprises</a:t>
            </a:r>
            <a:r>
              <a:rPr lang="en-US" sz="1700" dirty="0">
                <a:latin typeface="Times New Roman" panose="02020603050405020304" pitchFamily="18" charset="0"/>
                <a:cs typeface="Times New Roman" panose="02020603050405020304" pitchFamily="18" charset="0"/>
              </a:rPr>
              <a:t>.</a:t>
            </a:r>
          </a:p>
          <a:p>
            <a:pPr algn="just">
              <a:lnSpc>
                <a:spcPct val="90000"/>
              </a:lnSpc>
            </a:pPr>
            <a:r>
              <a:rPr lang="en-US" sz="1700" dirty="0">
                <a:latin typeface="Times New Roman" panose="02020603050405020304" pitchFamily="18" charset="0"/>
                <a:cs typeface="Times New Roman" panose="02020603050405020304" pitchFamily="18" charset="0"/>
              </a:rPr>
              <a:t>These outliers represent genuine multinational corporations rather than data errors, contributing disproportionately to the overall market structure. In several cases, top firms accounted for </a:t>
            </a:r>
            <a:r>
              <a:rPr lang="en-US" sz="1700" b="1" dirty="0">
                <a:latin typeface="Times New Roman" panose="02020603050405020304" pitchFamily="18" charset="0"/>
                <a:cs typeface="Times New Roman" panose="02020603050405020304" pitchFamily="18" charset="0"/>
              </a:rPr>
              <a:t>a major share of total revenue concentration</a:t>
            </a:r>
            <a:r>
              <a:rPr lang="en-US" sz="1700" dirty="0">
                <a:latin typeface="Times New Roman" panose="02020603050405020304" pitchFamily="18" charset="0"/>
                <a:cs typeface="Times New Roman" panose="02020603050405020304" pitchFamily="18" charset="0"/>
              </a:rPr>
              <a:t>, confirming strong economic inequality and market dominance within the dataset</a:t>
            </a:r>
          </a:p>
          <a:p>
            <a:pPr>
              <a:lnSpc>
                <a:spcPct val="90000"/>
              </a:lnSpc>
            </a:pP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414" y="0"/>
            <a:ext cx="5653586"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3918858" y="0"/>
            <a:ext cx="5225142" cy="1322887"/>
          </a:xfrm>
        </p:spPr>
        <p:txBody>
          <a:bodyPr>
            <a:normAutofit/>
          </a:bodyPr>
          <a:lstStyle/>
          <a:p>
            <a:pPr>
              <a:lnSpc>
                <a:spcPct val="90000"/>
              </a:lnSpc>
            </a:pPr>
            <a:r>
              <a:rPr lang="en-IN" b="1" dirty="0">
                <a:latin typeface="Times New Roman" panose="02020603050405020304" pitchFamily="18" charset="0"/>
                <a:cs typeface="Times New Roman" panose="02020603050405020304" pitchFamily="18" charset="0"/>
              </a:rPr>
              <a:t>Results Comparison</a:t>
            </a:r>
          </a:p>
        </p:txBody>
      </p:sp>
      <p:sp>
        <p:nvSpPr>
          <p:cNvPr id="7" name="Content Placeholder 2"/>
          <p:cNvSpPr>
            <a:spLocks noGrp="1"/>
          </p:cNvSpPr>
          <p:nvPr>
            <p:ph idx="1"/>
          </p:nvPr>
        </p:nvSpPr>
        <p:spPr>
          <a:xfrm>
            <a:off x="3918858" y="1322888"/>
            <a:ext cx="5225139" cy="5535112"/>
          </a:xfrm>
        </p:spPr>
        <p:txBody>
          <a:bodyPr>
            <a:normAutofit fontScale="85000" lnSpcReduction="10000"/>
          </a:bodyPr>
          <a:lstStyle/>
          <a:p>
            <a:pPr algn="just">
              <a:lnSpc>
                <a:spcPct val="90000"/>
              </a:lnSpc>
            </a:pPr>
            <a:r>
              <a:rPr lang="en-US" sz="2000" dirty="0">
                <a:latin typeface="Times New Roman" panose="02020603050405020304" pitchFamily="18" charset="0"/>
                <a:cs typeface="Times New Roman" panose="02020603050405020304" pitchFamily="18" charset="0"/>
              </a:rPr>
              <a:t>Linear Regression: The model achieved an </a:t>
            </a:r>
            <a:r>
              <a:rPr lang="en-US" sz="2000" b="1" dirty="0">
                <a:latin typeface="Times New Roman" panose="02020603050405020304" pitchFamily="18" charset="0"/>
                <a:cs typeface="Times New Roman" panose="02020603050405020304" pitchFamily="18" charset="0"/>
              </a:rPr>
              <a:t>R² value of -0.0 and a Root Mean Square Error (RMSE) of </a:t>
            </a:r>
            <a:r>
              <a:rPr lang="en-IN" sz="2000" b="1" dirty="0"/>
              <a:t>≈ 1.46</a:t>
            </a:r>
            <a:r>
              <a:rPr lang="en-US" sz="2000" dirty="0">
                <a:latin typeface="Times New Roman" panose="02020603050405020304" pitchFamily="18" charset="0"/>
                <a:cs typeface="Times New Roman" panose="02020603050405020304" pitchFamily="18" charset="0"/>
              </a:rPr>
              <a:t>, indicating poor predictive capability for the dataset. </a:t>
            </a:r>
          </a:p>
          <a:p>
            <a:pPr algn="just">
              <a:lnSpc>
                <a:spcPct val="90000"/>
              </a:lnSpc>
            </a:pPr>
            <a:r>
              <a:rPr lang="en-US" sz="2000" dirty="0">
                <a:latin typeface="Times New Roman" panose="02020603050405020304" pitchFamily="18" charset="0"/>
                <a:cs typeface="Times New Roman" panose="02020603050405020304" pitchFamily="18" charset="0"/>
              </a:rPr>
              <a:t>Decision Tree: This model performed even worse, with an </a:t>
            </a:r>
            <a:r>
              <a:rPr lang="en-US" sz="2000" b="1" dirty="0">
                <a:latin typeface="Times New Roman" panose="02020603050405020304" pitchFamily="18" charset="0"/>
                <a:cs typeface="Times New Roman" panose="02020603050405020304" pitchFamily="18" charset="0"/>
              </a:rPr>
              <a:t>R² value of -1.02 and an RMSE of </a:t>
            </a:r>
            <a:r>
              <a:rPr lang="en-IN" sz="2000" b="1" dirty="0"/>
              <a:t>≈2.05</a:t>
            </a:r>
            <a:r>
              <a:rPr lang="en-US" sz="2000" dirty="0">
                <a:latin typeface="Times New Roman" panose="02020603050405020304" pitchFamily="18" charset="0"/>
                <a:cs typeface="Times New Roman" panose="02020603050405020304" pitchFamily="18" charset="0"/>
              </a:rPr>
              <a:t>, suggesting significant deviations from the actual values.</a:t>
            </a:r>
          </a:p>
          <a:p>
            <a:pPr algn="just">
              <a:lnSpc>
                <a:spcPct val="90000"/>
              </a:lnSpc>
            </a:pPr>
            <a:r>
              <a:rPr lang="en-US" sz="2000" dirty="0">
                <a:latin typeface="Times New Roman" panose="02020603050405020304" pitchFamily="18" charset="0"/>
                <a:cs typeface="Times New Roman" panose="02020603050405020304" pitchFamily="18" charset="0"/>
              </a:rPr>
              <a:t>Random Forest: The Random Forest algorithm provided a better outcome, obtaining an </a:t>
            </a:r>
            <a:r>
              <a:rPr lang="en-US" sz="2000" b="1" dirty="0">
                <a:latin typeface="Times New Roman" panose="02020603050405020304" pitchFamily="18" charset="0"/>
                <a:cs typeface="Times New Roman" panose="02020603050405020304" pitchFamily="18" charset="0"/>
              </a:rPr>
              <a:t>R² of -0.04 and an RMSE of </a:t>
            </a:r>
            <a:r>
              <a:rPr lang="en-IN" sz="2000" b="1" dirty="0"/>
              <a:t>≈1.48</a:t>
            </a:r>
            <a:r>
              <a:rPr lang="en-US" sz="2000" dirty="0">
                <a:latin typeface="Times New Roman" panose="02020603050405020304" pitchFamily="18" charset="0"/>
                <a:cs typeface="Times New Roman" panose="02020603050405020304" pitchFamily="18" charset="0"/>
              </a:rPr>
              <a:t>, although it still did not effectively capture the underlying trends in the data.</a:t>
            </a:r>
          </a:p>
          <a:p>
            <a:pPr algn="just">
              <a:lnSpc>
                <a:spcPct val="90000"/>
              </a:lnSpc>
            </a:pPr>
            <a:r>
              <a:rPr lang="en-US" sz="2000" dirty="0">
                <a:latin typeface="Times New Roman" panose="02020603050405020304" pitchFamily="18" charset="0"/>
                <a:cs typeface="Times New Roman" panose="02020603050405020304" pitchFamily="18" charset="0"/>
              </a:rPr>
              <a:t>Gradient Boosting: This approach yielded </a:t>
            </a:r>
            <a:r>
              <a:rPr lang="en-US" sz="2000" b="1" dirty="0">
                <a:latin typeface="Times New Roman" panose="02020603050405020304" pitchFamily="18" charset="0"/>
                <a:cs typeface="Times New Roman" panose="02020603050405020304" pitchFamily="18" charset="0"/>
              </a:rPr>
              <a:t>an R² of -0.0 and an RMSE of </a:t>
            </a:r>
            <a:r>
              <a:rPr lang="en-IN" sz="2000" b="1" dirty="0"/>
              <a:t>≈ 1.46</a:t>
            </a:r>
            <a:r>
              <a:rPr lang="en-US" sz="2000" dirty="0">
                <a:latin typeface="Times New Roman" panose="02020603050405020304" pitchFamily="18" charset="0"/>
                <a:cs typeface="Times New Roman" panose="02020603050405020304" pitchFamily="18" charset="0"/>
              </a:rPr>
              <a:t>, showing limited predictive power like linear regression.</a:t>
            </a:r>
          </a:p>
          <a:p>
            <a:pPr algn="just">
              <a:lnSpc>
                <a:spcPct val="90000"/>
              </a:lnSpc>
            </a:pPr>
            <a:r>
              <a:rPr lang="en-US" sz="2000" dirty="0">
                <a:latin typeface="Times New Roman" panose="02020603050405020304" pitchFamily="18" charset="0"/>
                <a:cs typeface="Times New Roman" panose="02020603050405020304" pitchFamily="18" charset="0"/>
              </a:rPr>
              <a:t>Overall Performance: Among the models tested, the Random Forest achieved the best relative performance among the tested models; however, all models exhibited weak predictive capability, indicating that additional business variables are required.</a:t>
            </a:r>
          </a:p>
          <a:p>
            <a:pPr algn="just">
              <a:lnSpc>
                <a:spcPct val="90000"/>
              </a:lnSpc>
            </a:pPr>
            <a:r>
              <a:rPr lang="en-IN" sz="2000" b="1" dirty="0">
                <a:latin typeface="Times New Roman" panose="02020603050405020304" pitchFamily="18" charset="0"/>
                <a:cs typeface="Times New Roman" panose="02020603050405020304" pitchFamily="18" charset="0"/>
              </a:rPr>
              <a:t>Linear Regression: R2=-0.0, RMSE=</a:t>
            </a:r>
            <a:r>
              <a:rPr lang="en-IN" sz="2000" b="1" dirty="0"/>
              <a:t> ≈ 1.46</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decision tree showed the highest forecasting variance, while the Ensemble learning model performed better on enterprise-scale datasets.</a:t>
            </a:r>
            <a:endParaRPr lang="en-IN"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11C8087-344F-9B77-8E49-AE582E1AF8EB}"/>
              </a:ext>
            </a:extLst>
          </p:cNvPr>
          <p:cNvPicPr>
            <a:picLocks noChangeAspect="1"/>
          </p:cNvPicPr>
          <p:nvPr/>
        </p:nvPicPr>
        <p:blipFill>
          <a:blip r:embed="rId2"/>
          <a:stretch>
            <a:fillRect/>
          </a:stretch>
        </p:blipFill>
        <p:spPr>
          <a:xfrm rot="16200000">
            <a:off x="-1644267" y="1644267"/>
            <a:ext cx="6858000" cy="356946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01417" y="0"/>
            <a:ext cx="4742583" cy="871146"/>
          </a:xfrm>
        </p:spPr>
        <p:txBody>
          <a:bodyPr anchor="t">
            <a:normAutofit/>
          </a:bodyPr>
          <a:lstStyle/>
          <a:p>
            <a:r>
              <a:rPr lang="en-IN" sz="3600" b="1" dirty="0">
                <a:latin typeface="Times New Roman" panose="02020603050405020304" pitchFamily="18" charset="0"/>
                <a:cs typeface="Times New Roman" panose="02020603050405020304" pitchFamily="18" charset="0"/>
              </a:rPr>
              <a:t>Forecasting Summary</a:t>
            </a:r>
          </a:p>
        </p:txBody>
      </p:sp>
      <p:pic>
        <p:nvPicPr>
          <p:cNvPr id="6" name="Picture 5">
            <a:extLst>
              <a:ext uri="{FF2B5EF4-FFF2-40B4-BE49-F238E27FC236}">
                <a16:creationId xmlns:a16="http://schemas.microsoft.com/office/drawing/2014/main" id="{149B85EB-ECDC-D2DE-D225-E1AD2F258449}"/>
              </a:ext>
            </a:extLst>
          </p:cNvPr>
          <p:cNvPicPr>
            <a:picLocks noChangeAspect="1"/>
          </p:cNvPicPr>
          <p:nvPr/>
        </p:nvPicPr>
        <p:blipFill>
          <a:blip r:embed="rId2"/>
          <a:srcRect b="9866"/>
          <a:stretch>
            <a:fillRect/>
          </a:stretch>
        </p:blipFill>
        <p:spPr>
          <a:xfrm rot="16200000">
            <a:off x="-1497308" y="1497308"/>
            <a:ext cx="6858000" cy="3863383"/>
          </a:xfrm>
          <a:prstGeom prst="rect">
            <a:avLst/>
          </a:prstGeom>
        </p:spPr>
      </p:pic>
      <p:cxnSp>
        <p:nvCxnSpPr>
          <p:cNvPr id="33" name="Straight Connector 32">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78772" y="871146"/>
            <a:ext cx="552705"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125686" y="871146"/>
            <a:ext cx="5018313" cy="5986854"/>
          </a:xfrm>
        </p:spPr>
        <p:txBody>
          <a:bodyPr>
            <a:normAutofit fontScale="92500" lnSpcReduction="10000"/>
          </a:bodyPr>
          <a:lstStyle/>
          <a:p>
            <a:pPr algn="just">
              <a:lnSpc>
                <a:spcPct val="90000"/>
              </a:lnSpc>
            </a:pPr>
            <a:r>
              <a:rPr lang="en-US" sz="1800" dirty="0">
                <a:latin typeface="Times New Roman" panose="02020603050405020304" pitchFamily="18" charset="0"/>
                <a:cs typeface="Times New Roman" panose="02020603050405020304" pitchFamily="18" charset="0"/>
              </a:rPr>
              <a:t>The rolling-average forecast suggests a moderate upward trend; however, future predictions should be interpreted cautiously due to limited predictive power observed in the machine learning models.</a:t>
            </a:r>
          </a:p>
          <a:p>
            <a:pPr algn="just">
              <a:lnSpc>
                <a:spcPct val="90000"/>
              </a:lnSpc>
            </a:pPr>
            <a:r>
              <a:rPr lang="en-US" sz="1800" dirty="0">
                <a:latin typeface="Times New Roman" panose="02020603050405020304" pitchFamily="18" charset="0"/>
                <a:cs typeface="Times New Roman" panose="02020603050405020304" pitchFamily="18" charset="0"/>
              </a:rPr>
              <a:t>Future business performance is projected to range between approximately $457 million and $712 million based on the rolling-average forecasting approach.</a:t>
            </a:r>
          </a:p>
          <a:p>
            <a:pPr algn="just">
              <a:lnSpc>
                <a:spcPct val="90000"/>
              </a:lnSpc>
            </a:pPr>
            <a:r>
              <a:rPr lang="en-US" sz="1800" dirty="0">
                <a:latin typeface="Times New Roman" panose="02020603050405020304" pitchFamily="18" charset="0"/>
                <a:cs typeface="Times New Roman" panose="02020603050405020304" pitchFamily="18" charset="0"/>
              </a:rPr>
              <a:t>The highest forecast is nearly </a:t>
            </a:r>
            <a:r>
              <a:rPr lang="en-US" sz="1800" b="1" dirty="0">
                <a:latin typeface="Times New Roman" panose="02020603050405020304" pitchFamily="18" charset="0"/>
                <a:cs typeface="Times New Roman" panose="02020603050405020304" pitchFamily="18" charset="0"/>
              </a:rPr>
              <a:t>$711.6 million</a:t>
            </a:r>
            <a:r>
              <a:rPr lang="en-US" sz="1800" dirty="0">
                <a:latin typeface="Times New Roman" panose="02020603050405020304" pitchFamily="18" charset="0"/>
                <a:cs typeface="Times New Roman" panose="02020603050405020304" pitchFamily="18" charset="0"/>
              </a:rPr>
              <a:t>, indicating substantial market scalability and enterprise expansion potential.</a:t>
            </a:r>
          </a:p>
          <a:p>
            <a:pPr algn="just">
              <a:lnSpc>
                <a:spcPct val="90000"/>
              </a:lnSpc>
            </a:pPr>
            <a:r>
              <a:rPr lang="en-US" sz="1800" dirty="0">
                <a:latin typeface="Times New Roman" panose="02020603050405020304" pitchFamily="18" charset="0"/>
                <a:cs typeface="Times New Roman" panose="02020603050405020304" pitchFamily="18" charset="0"/>
              </a:rPr>
              <a:t>Estimated </a:t>
            </a:r>
            <a:r>
              <a:rPr lang="en-US" sz="1800" b="1" dirty="0">
                <a:latin typeface="Times New Roman" panose="02020603050405020304" pitchFamily="18" charset="0"/>
                <a:cs typeface="Times New Roman" panose="02020603050405020304" pitchFamily="18" charset="0"/>
              </a:rPr>
              <a:t>business growth </a:t>
            </a:r>
            <a:r>
              <a:rPr lang="en-US" sz="1800" dirty="0">
                <a:latin typeface="Times New Roman" panose="02020603050405020304" pitchFamily="18" charset="0"/>
                <a:cs typeface="Times New Roman" panose="02020603050405020304" pitchFamily="18" charset="0"/>
              </a:rPr>
              <a:t>is m</a:t>
            </a:r>
            <a:r>
              <a:rPr lang="en-US" sz="1800" b="1" dirty="0">
                <a:latin typeface="Times New Roman" panose="02020603050405020304" pitchFamily="18" charset="0"/>
                <a:cs typeface="Times New Roman" panose="02020603050405020304" pitchFamily="18" charset="0"/>
              </a:rPr>
              <a:t>oderate, </a:t>
            </a:r>
            <a:r>
              <a:rPr lang="en-US" sz="1800" dirty="0">
                <a:latin typeface="Times New Roman" panose="02020603050405020304" pitchFamily="18" charset="0"/>
                <a:cs typeface="Times New Roman" panose="02020603050405020304" pitchFamily="18" charset="0"/>
              </a:rPr>
              <a:t>driven by rising customer demand, workforce productivity, and operational efficiency. </a:t>
            </a:r>
            <a:r>
              <a:rPr lang="en-US" sz="1800" b="1" dirty="0">
                <a:latin typeface="Times New Roman" panose="02020603050405020304" pitchFamily="18" charset="0"/>
                <a:cs typeface="Times New Roman" panose="02020603050405020304" pitchFamily="18" charset="0"/>
              </a:rPr>
              <a:t>Revenue has a correlation with employees and customers (between -0.01 to 0.01), </a:t>
            </a:r>
            <a:r>
              <a:rPr lang="en-US" sz="1800" dirty="0">
                <a:latin typeface="Times New Roman" panose="02020603050405020304" pitchFamily="18" charset="0"/>
                <a:cs typeface="Times New Roman" panose="02020603050405020304" pitchFamily="18" charset="0"/>
              </a:rPr>
              <a:t>highlighting the importance of workforce expansion and customer acquisition.</a:t>
            </a:r>
          </a:p>
          <a:p>
            <a:pPr algn="just">
              <a:lnSpc>
                <a:spcPct val="90000"/>
              </a:lnSpc>
            </a:pPr>
            <a:r>
              <a:rPr lang="en-US" sz="1800" dirty="0">
                <a:latin typeface="Times New Roman" panose="02020603050405020304" pitchFamily="18" charset="0"/>
                <a:cs typeface="Times New Roman" panose="02020603050405020304" pitchFamily="18" charset="0"/>
              </a:rPr>
              <a:t>Over 15,000 enterprise records were analyzed, with each industry representing approximately 20% of the dataset, indicating a balanced industry distribution. </a:t>
            </a:r>
          </a:p>
          <a:p>
            <a:pPr algn="just">
              <a:lnSpc>
                <a:spcPct val="90000"/>
              </a:lnSpc>
            </a:pPr>
            <a:r>
              <a:rPr lang="en-US" sz="1800" dirty="0">
                <a:latin typeface="Times New Roman" panose="02020603050405020304" pitchFamily="18" charset="0"/>
                <a:cs typeface="Times New Roman" panose="02020603050405020304" pitchFamily="18" charset="0"/>
              </a:rPr>
              <a:t>This forecasting pipeline offers actionable business intelligence for investment planning and strategic decision-making, reducing uncertainty in future market conditions.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 y="30851"/>
            <a:ext cx="9144001" cy="1188720"/>
          </a:xfrm>
        </p:spPr>
        <p:txBody>
          <a:bodyPr>
            <a:normAutofit/>
          </a:bodyPr>
          <a:lstStyle/>
          <a:p>
            <a:r>
              <a:rPr lang="en-IN" b="1" dirty="0">
                <a:solidFill>
                  <a:schemeClr val="tx1">
                    <a:lumMod val="85000"/>
                    <a:lumOff val="15000"/>
                  </a:schemeClr>
                </a:solidFill>
                <a:latin typeface="Times New Roman" panose="02020603050405020304" pitchFamily="18" charset="0"/>
                <a:cs typeface="Times New Roman" panose="02020603050405020304" pitchFamily="18" charset="0"/>
              </a:rPr>
              <a:t>Categorical Insights</a:t>
            </a:r>
          </a:p>
        </p:txBody>
      </p:sp>
      <p:sp>
        <p:nvSpPr>
          <p:cNvPr id="3" name="Content Placeholder 2"/>
          <p:cNvSpPr>
            <a:spLocks noGrp="1"/>
          </p:cNvSpPr>
          <p:nvPr>
            <p:ph idx="1"/>
          </p:nvPr>
        </p:nvSpPr>
        <p:spPr>
          <a:xfrm>
            <a:off x="0" y="1035586"/>
            <a:ext cx="9144000" cy="5822409"/>
          </a:xfrm>
        </p:spPr>
        <p:txBody>
          <a:bodyPr anchor="ctr">
            <a:normAutofit lnSpcReduction="10000"/>
          </a:bodyPr>
          <a:lstStyle/>
          <a:p>
            <a:pPr algn="just">
              <a:lnSpc>
                <a:spcPct val="9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Prominent Industries</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 The finance sector stands out with a remarkable 3,000 entities, emphasizing its crucial role in fostering economic growth and stability. Equally significant is the technology sector, which matches the finance sector with another 3,000 entities, showcasing the critical importance of innovation and digital advancement in today’s market landscape. The retail sector, also comprising 3,000 entities, illustrates the powerful influence of consumer spending on shaping market trends and driving economic activity. Industry distribution is balanced across all five sectors. Performance comparisons should be based on revenue, profit margin, and market rating rather than company counts alone.</a:t>
            </a:r>
          </a:p>
          <a:p>
            <a:pPr algn="just">
              <a:lnSpc>
                <a:spcPct val="9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Leading Countries</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 Among the nations contributing to this vibrant economic scene, India, Germany, and Canada each present 3,750 entities. India's rapid economic expansion is evident, characterized by its burgeoning market and startup culture. Germany showcases its engineering prowess and industrial strength, positioning itself as a powerhouse in manufacturing and technology. Meanwhile, Canada stands out for its economic diversity, balancing natural resources, technology, and services to create a robust and resilient economy.</a:t>
            </a:r>
          </a:p>
          <a:p>
            <a:pPr algn="just">
              <a:lnSpc>
                <a:spcPct val="90000"/>
              </a:lnSpc>
            </a:pPr>
            <a:r>
              <a:rPr lang="en-US" sz="2000" b="1" dirty="0">
                <a:solidFill>
                  <a:schemeClr val="tx1">
                    <a:lumMod val="85000"/>
                    <a:lumOff val="15000"/>
                  </a:schemeClr>
                </a:solidFill>
                <a:latin typeface="Times New Roman" panose="02020603050405020304" pitchFamily="18" charset="0"/>
                <a:cs typeface="Times New Roman" panose="02020603050405020304" pitchFamily="18" charset="0"/>
              </a:rPr>
              <a:t>Key Regions</a:t>
            </a:r>
            <a:r>
              <a:rPr lang="en-US" sz="2000" dirty="0">
                <a:solidFill>
                  <a:schemeClr val="tx1">
                    <a:lumMod val="85000"/>
                    <a:lumOff val="15000"/>
                  </a:schemeClr>
                </a:solidFill>
                <a:latin typeface="Times New Roman" panose="02020603050405020304" pitchFamily="18" charset="0"/>
                <a:cs typeface="Times New Roman" panose="02020603050405020304" pitchFamily="18" charset="0"/>
              </a:rPr>
              <a:t>: In terms of geographical influence, North America leads with an impressive 7,500 entities, driven by significant technological advancements and a wide array of financial services that cater to both local and global markets. Asia and Europe each contribute notably with 3,750 entities, reflecting their dynamic economies. Asia’s rapid growth is fueled by innovation and a youthful population, while Europe boasts a rich historical significance in global finance, blending tradition with modern economic practices.</a:t>
            </a:r>
          </a:p>
        </p:txBody>
      </p:sp>
      <p:sp>
        <p:nvSpPr>
          <p:cNvPr id="22" name="Freeform: Shape 2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0957C-99E4-3E72-3839-54D4EED8C827}"/>
              </a:ext>
            </a:extLst>
          </p:cNvPr>
          <p:cNvSpPr>
            <a:spLocks noGrp="1"/>
          </p:cNvSpPr>
          <p:nvPr>
            <p:ph type="title"/>
          </p:nvPr>
        </p:nvSpPr>
        <p:spPr>
          <a:xfrm>
            <a:off x="-1" y="0"/>
            <a:ext cx="5584371" cy="956930"/>
          </a:xfrm>
        </p:spPr>
        <p:txBody>
          <a:bodyPr/>
          <a:lstStyle/>
          <a:p>
            <a:r>
              <a:rPr lang="en-US" dirty="0"/>
              <a:t>Univariable Insights</a:t>
            </a:r>
            <a:endParaRPr lang="en-IN" dirty="0"/>
          </a:p>
        </p:txBody>
      </p:sp>
      <p:sp>
        <p:nvSpPr>
          <p:cNvPr id="3" name="Content Placeholder 2">
            <a:extLst>
              <a:ext uri="{FF2B5EF4-FFF2-40B4-BE49-F238E27FC236}">
                <a16:creationId xmlns:a16="http://schemas.microsoft.com/office/drawing/2014/main" id="{2E4D7A34-98EE-BA62-09F5-DEE71CC38968}"/>
              </a:ext>
            </a:extLst>
          </p:cNvPr>
          <p:cNvSpPr>
            <a:spLocks noGrp="1"/>
          </p:cNvSpPr>
          <p:nvPr>
            <p:ph sz="half" idx="1"/>
          </p:nvPr>
        </p:nvSpPr>
        <p:spPr>
          <a:xfrm>
            <a:off x="0" y="1088571"/>
            <a:ext cx="5442856" cy="5769429"/>
          </a:xfrm>
        </p:spPr>
        <p:txBody>
          <a:bodyPr>
            <a:normAutofit fontScale="62500" lnSpcReduction="20000"/>
          </a:bodyPr>
          <a:lstStyle/>
          <a:p>
            <a:pPr algn="just"/>
            <a:r>
              <a:rPr lang="en-IN" dirty="0">
                <a:latin typeface="Times New Roman" panose="02020603050405020304" pitchFamily="18" charset="0"/>
                <a:cs typeface="Times New Roman" panose="02020603050405020304" pitchFamily="18" charset="0"/>
              </a:rPr>
              <a:t>The average employee count is </a:t>
            </a:r>
            <a:r>
              <a:rPr lang="en-IN" b="1" dirty="0">
                <a:latin typeface="Times New Roman" panose="02020603050405020304" pitchFamily="18" charset="0"/>
                <a:cs typeface="Times New Roman" panose="02020603050405020304" pitchFamily="18" charset="0"/>
              </a:rPr>
              <a:t>2,606</a:t>
            </a:r>
            <a:r>
              <a:rPr lang="en-IN" dirty="0">
                <a:latin typeface="Times New Roman" panose="02020603050405020304" pitchFamily="18" charset="0"/>
                <a:cs typeface="Times New Roman" panose="02020603050405020304" pitchFamily="18" charset="0"/>
              </a:rPr>
              <a:t>, with a median of </a:t>
            </a:r>
            <a:r>
              <a:rPr lang="en-IN" b="1" dirty="0">
                <a:latin typeface="Times New Roman" panose="02020603050405020304" pitchFamily="18" charset="0"/>
                <a:cs typeface="Times New Roman" panose="02020603050405020304" pitchFamily="18" charset="0"/>
              </a:rPr>
              <a:t>2,587</a:t>
            </a:r>
            <a:r>
              <a:rPr lang="en-IN" dirty="0">
                <a:latin typeface="Times New Roman" panose="02020603050405020304" pitchFamily="18" charset="0"/>
                <a:cs typeface="Times New Roman" panose="02020603050405020304" pitchFamily="18" charset="0"/>
              </a:rPr>
              <a:t>, indicating a highly balanced workforce distribution across companies.</a:t>
            </a:r>
          </a:p>
          <a:p>
            <a:pPr algn="just"/>
            <a:r>
              <a:rPr lang="en-IN" dirty="0">
                <a:latin typeface="Times New Roman" panose="02020603050405020304" pitchFamily="18" charset="0"/>
                <a:cs typeface="Times New Roman" panose="02020603050405020304" pitchFamily="18" charset="0"/>
              </a:rPr>
              <a:t> Employee count shows a </a:t>
            </a:r>
            <a:r>
              <a:rPr lang="en-IN" b="1" dirty="0">
                <a:latin typeface="Times New Roman" panose="02020603050405020304" pitchFamily="18" charset="0"/>
                <a:cs typeface="Times New Roman" panose="02020603050405020304" pitchFamily="18" charset="0"/>
              </a:rPr>
              <a:t>54.9% coefficient of variation</a:t>
            </a:r>
            <a:r>
              <a:rPr lang="en-IN" dirty="0">
                <a:latin typeface="Times New Roman" panose="02020603050405020304" pitchFamily="18" charset="0"/>
                <a:cs typeface="Times New Roman" panose="02020603050405020304" pitchFamily="18" charset="0"/>
              </a:rPr>
              <a:t>, reflecting moderate diversity in organizational size.</a:t>
            </a:r>
          </a:p>
          <a:p>
            <a:pPr algn="just"/>
            <a:r>
              <a:rPr lang="en-IN" dirty="0">
                <a:latin typeface="Times New Roman" panose="02020603050405020304" pitchFamily="18" charset="0"/>
                <a:cs typeface="Times New Roman" panose="02020603050405020304" pitchFamily="18" charset="0"/>
              </a:rPr>
              <a:t> Revenue distribution is spread across a wide range, suggesting the presence of both small and large revenue-generating firms. </a:t>
            </a:r>
          </a:p>
          <a:p>
            <a:pPr algn="just"/>
            <a:r>
              <a:rPr lang="en-IN" dirty="0">
                <a:latin typeface="Times New Roman" panose="02020603050405020304" pitchFamily="18" charset="0"/>
                <a:cs typeface="Times New Roman" panose="02020603050405020304" pitchFamily="18" charset="0"/>
              </a:rPr>
              <a:t>Profit margins vary considerably, indicating differences in operational efficiency and business performance. </a:t>
            </a:r>
          </a:p>
          <a:p>
            <a:pPr algn="just"/>
            <a:r>
              <a:rPr lang="en-IN" dirty="0">
                <a:latin typeface="Times New Roman" panose="02020603050405020304" pitchFamily="18" charset="0"/>
                <a:cs typeface="Times New Roman" panose="02020603050405020304" pitchFamily="18" charset="0"/>
              </a:rPr>
              <a:t>Companies were established consistently between </a:t>
            </a:r>
            <a:r>
              <a:rPr lang="en-IN" b="1" dirty="0">
                <a:latin typeface="Times New Roman" panose="02020603050405020304" pitchFamily="18" charset="0"/>
                <a:cs typeface="Times New Roman" panose="02020603050405020304" pitchFamily="18" charset="0"/>
              </a:rPr>
              <a:t>1990 and 2020</a:t>
            </a:r>
            <a:r>
              <a:rPr lang="en-IN" dirty="0">
                <a:latin typeface="Times New Roman" panose="02020603050405020304" pitchFamily="18" charset="0"/>
                <a:cs typeface="Times New Roman" panose="02020603050405020304" pitchFamily="18" charset="0"/>
              </a:rPr>
              <a:t>, showing a healthy mix of mature and emerging organizations.</a:t>
            </a:r>
          </a:p>
          <a:p>
            <a:pPr algn="just"/>
            <a:r>
              <a:rPr lang="en-IN" dirty="0">
                <a:latin typeface="Times New Roman" panose="02020603050405020304" pitchFamily="18" charset="0"/>
                <a:cs typeface="Times New Roman" panose="02020603050405020304" pitchFamily="18" charset="0"/>
              </a:rPr>
              <a:t> Customer count demonstrates the highest variability, with a maximum exceeding </a:t>
            </a:r>
            <a:r>
              <a:rPr lang="en-IN" b="1" dirty="0">
                <a:latin typeface="Times New Roman" panose="02020603050405020304" pitchFamily="18" charset="0"/>
                <a:cs typeface="Times New Roman" panose="02020603050405020304" pitchFamily="18" charset="0"/>
              </a:rPr>
              <a:t>100,000 customers</a:t>
            </a:r>
            <a:r>
              <a:rPr lang="en-IN" dirty="0">
                <a:latin typeface="Times New Roman" panose="02020603050405020304" pitchFamily="18" charset="0"/>
                <a:cs typeface="Times New Roman" panose="02020603050405020304" pitchFamily="18" charset="0"/>
              </a:rPr>
              <a:t>, highlighting significant differences in market reach. </a:t>
            </a:r>
          </a:p>
          <a:p>
            <a:pPr algn="just"/>
            <a:r>
              <a:rPr lang="en-IN" dirty="0">
                <a:latin typeface="Times New Roman" panose="02020603050405020304" pitchFamily="18" charset="0"/>
                <a:cs typeface="Times New Roman" panose="02020603050405020304" pitchFamily="18" charset="0"/>
              </a:rPr>
              <a:t>The employee count distribution is nearly symmetrical (</a:t>
            </a:r>
            <a:r>
              <a:rPr lang="en-IN" b="1" dirty="0">
                <a:latin typeface="Times New Roman" panose="02020603050405020304" pitchFamily="18" charset="0"/>
                <a:cs typeface="Times New Roman" panose="02020603050405020304" pitchFamily="18" charset="0"/>
              </a:rPr>
              <a:t>Skewness = 0.00</a:t>
            </a:r>
            <a:r>
              <a:rPr lang="en-IN" dirty="0">
                <a:latin typeface="Times New Roman" panose="02020603050405020304" pitchFamily="18" charset="0"/>
                <a:cs typeface="Times New Roman" panose="02020603050405020304" pitchFamily="18" charset="0"/>
              </a:rPr>
              <a:t>), indicating no major bias toward smaller or larger companies. </a:t>
            </a:r>
          </a:p>
          <a:p>
            <a:pPr algn="just"/>
            <a:r>
              <a:rPr lang="en-IN" dirty="0">
                <a:latin typeface="Times New Roman" panose="02020603050405020304" pitchFamily="18" charset="0"/>
                <a:cs typeface="Times New Roman" panose="02020603050405020304" pitchFamily="18" charset="0"/>
              </a:rPr>
              <a:t>A negative kurtosis value (</a:t>
            </a:r>
            <a:r>
              <a:rPr lang="en-IN" b="1" dirty="0">
                <a:latin typeface="Times New Roman" panose="02020603050405020304" pitchFamily="18" charset="0"/>
                <a:cs typeface="Times New Roman" panose="02020603050405020304" pitchFamily="18" charset="0"/>
              </a:rPr>
              <a:t>-1.19</a:t>
            </a:r>
            <a:r>
              <a:rPr lang="en-IN" dirty="0">
                <a:latin typeface="Times New Roman" panose="02020603050405020304" pitchFamily="18" charset="0"/>
                <a:cs typeface="Times New Roman" panose="02020603050405020304" pitchFamily="18" charset="0"/>
              </a:rPr>
              <a:t>) suggests fewer extreme values and a flatter distribution than a normal curve.</a:t>
            </a:r>
          </a:p>
        </p:txBody>
      </p:sp>
      <p:pic>
        <p:nvPicPr>
          <p:cNvPr id="6" name="Content Placeholder 5">
            <a:extLst>
              <a:ext uri="{FF2B5EF4-FFF2-40B4-BE49-F238E27FC236}">
                <a16:creationId xmlns:a16="http://schemas.microsoft.com/office/drawing/2014/main" id="{68B33FBD-60BF-C9E1-66CE-1107B5919FE2}"/>
              </a:ext>
            </a:extLst>
          </p:cNvPr>
          <p:cNvPicPr>
            <a:picLocks noGrp="1" noChangeAspect="1"/>
          </p:cNvPicPr>
          <p:nvPr>
            <p:ph sz="half" idx="2"/>
          </p:nvPr>
        </p:nvPicPr>
        <p:blipFill>
          <a:blip r:embed="rId2"/>
          <a:stretch>
            <a:fillRect/>
          </a:stretch>
        </p:blipFill>
        <p:spPr>
          <a:xfrm rot="5400000">
            <a:off x="3864429" y="1578428"/>
            <a:ext cx="6857998" cy="3701144"/>
          </a:xfrm>
          <a:prstGeom prst="rect">
            <a:avLst/>
          </a:prstGeom>
        </p:spPr>
      </p:pic>
    </p:spTree>
    <p:extLst>
      <p:ext uri="{BB962C8B-B14F-4D97-AF65-F5344CB8AC3E}">
        <p14:creationId xmlns:p14="http://schemas.microsoft.com/office/powerpoint/2010/main" val="1897302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635356AE-44ED-3906-2C88-C787DDBD7E35}"/>
              </a:ext>
            </a:extLst>
          </p:cNvPr>
          <p:cNvSpPr>
            <a:spLocks noGrp="1"/>
          </p:cNvSpPr>
          <p:nvPr>
            <p:ph type="title"/>
          </p:nvPr>
        </p:nvSpPr>
        <p:spPr>
          <a:xfrm>
            <a:off x="1" y="4"/>
            <a:ext cx="5720312" cy="826262"/>
          </a:xfrm>
        </p:spPr>
        <p:txBody>
          <a:bodyPr vert="horz" lIns="91440" tIns="45720" rIns="91440" bIns="45720" rtlCol="0" anchor="ctr">
            <a:normAutofit/>
          </a:bodyPr>
          <a:lstStyle/>
          <a:p>
            <a:pPr defTabSz="914400">
              <a:lnSpc>
                <a:spcPct val="90000"/>
              </a:lnSpc>
            </a:pPr>
            <a:r>
              <a:rPr lang="en-US" sz="3500" kern="1200" dirty="0">
                <a:solidFill>
                  <a:schemeClr val="tx1"/>
                </a:solidFill>
                <a:latin typeface="+mj-lt"/>
                <a:ea typeface="+mj-ea"/>
                <a:cs typeface="+mj-cs"/>
              </a:rPr>
              <a:t>Bivariable Insights</a:t>
            </a:r>
          </a:p>
        </p:txBody>
      </p:sp>
      <p:sp>
        <p:nvSpPr>
          <p:cNvPr id="14" name="Content Placeholder 13">
            <a:extLst>
              <a:ext uri="{FF2B5EF4-FFF2-40B4-BE49-F238E27FC236}">
                <a16:creationId xmlns:a16="http://schemas.microsoft.com/office/drawing/2014/main" id="{B94AA64D-ED6E-8A82-26CC-E99DD4976F8E}"/>
              </a:ext>
            </a:extLst>
          </p:cNvPr>
          <p:cNvSpPr>
            <a:spLocks noGrp="1"/>
          </p:cNvSpPr>
          <p:nvPr>
            <p:ph sz="half" idx="2"/>
          </p:nvPr>
        </p:nvSpPr>
        <p:spPr>
          <a:xfrm>
            <a:off x="1" y="826265"/>
            <a:ext cx="5720313" cy="6031732"/>
          </a:xfrm>
        </p:spPr>
        <p:txBody>
          <a:bodyPr vert="horz" lIns="91440" tIns="45720" rIns="91440" bIns="45720" rtlCol="0">
            <a:normAutofit fontScale="92500" lnSpcReduction="20000"/>
          </a:bodyPr>
          <a:lstStyle/>
          <a:p>
            <a:pPr algn="just"/>
            <a:r>
              <a:rPr lang="en-IN" sz="1800" dirty="0">
                <a:latin typeface="Times New Roman" panose="02020603050405020304" pitchFamily="18" charset="0"/>
                <a:cs typeface="Times New Roman" panose="02020603050405020304" pitchFamily="18" charset="0"/>
              </a:rPr>
              <a:t>A total of </a:t>
            </a:r>
            <a:r>
              <a:rPr lang="en-IN" sz="1800" b="1" dirty="0">
                <a:latin typeface="Times New Roman" panose="02020603050405020304" pitchFamily="18" charset="0"/>
                <a:cs typeface="Times New Roman" panose="02020603050405020304" pitchFamily="18" charset="0"/>
              </a:rPr>
              <a:t>21 relationships</a:t>
            </a:r>
            <a:r>
              <a:rPr lang="en-IN" sz="1800" dirty="0">
                <a:latin typeface="Times New Roman" panose="02020603050405020304" pitchFamily="18" charset="0"/>
                <a:cs typeface="Times New Roman" panose="02020603050405020304" pitchFamily="18" charset="0"/>
              </a:rPr>
              <a:t> were </a:t>
            </a:r>
            <a:r>
              <a:rPr lang="en-IN" sz="1800" dirty="0" err="1">
                <a:latin typeface="Times New Roman" panose="02020603050405020304" pitchFamily="18" charset="0"/>
                <a:cs typeface="Times New Roman" panose="02020603050405020304" pitchFamily="18" charset="0"/>
              </a:rPr>
              <a:t>analyzed</a:t>
            </a:r>
            <a:r>
              <a:rPr lang="en-IN" sz="1800" dirty="0">
                <a:latin typeface="Times New Roman" panose="02020603050405020304" pitchFamily="18" charset="0"/>
                <a:cs typeface="Times New Roman" panose="02020603050405020304" pitchFamily="18" charset="0"/>
              </a:rPr>
              <a:t> across 7 numerical business variables and </a:t>
            </a:r>
            <a:r>
              <a:rPr lang="en-IN" sz="1800" b="1" dirty="0">
                <a:latin typeface="Times New Roman" panose="02020603050405020304" pitchFamily="18" charset="0"/>
                <a:cs typeface="Times New Roman" panose="02020603050405020304" pitchFamily="18" charset="0"/>
              </a:rPr>
              <a:t>15,000</a:t>
            </a:r>
            <a:r>
              <a:rPr lang="en-IN" sz="1800" dirty="0">
                <a:latin typeface="Times New Roman" panose="02020603050405020304" pitchFamily="18" charset="0"/>
                <a:cs typeface="Times New Roman" panose="02020603050405020304" pitchFamily="18" charset="0"/>
              </a:rPr>
              <a:t> company records.</a:t>
            </a:r>
          </a:p>
          <a:p>
            <a:pPr algn="just"/>
            <a:r>
              <a:rPr lang="en-IN" sz="1800" dirty="0">
                <a:latin typeface="Times New Roman" panose="02020603050405020304" pitchFamily="18" charset="0"/>
                <a:cs typeface="Times New Roman" panose="02020603050405020304" pitchFamily="18" charset="0"/>
              </a:rPr>
              <a:t> Scatter plots revealed a wide dispersion of observations, indicating that companies operate across diverse business conditions and performance levels.</a:t>
            </a:r>
          </a:p>
          <a:p>
            <a:pPr algn="just"/>
            <a:r>
              <a:rPr lang="en-IN" sz="1800" dirty="0">
                <a:latin typeface="Times New Roman" panose="02020603050405020304" pitchFamily="18" charset="0"/>
                <a:cs typeface="Times New Roman" panose="02020603050405020304" pitchFamily="18" charset="0"/>
              </a:rPr>
              <a:t> Most variable pairs did not form </a:t>
            </a:r>
            <a:r>
              <a:rPr lang="en-IN" sz="1800" b="1" dirty="0">
                <a:latin typeface="Times New Roman" panose="02020603050405020304" pitchFamily="18" charset="0"/>
                <a:cs typeface="Times New Roman" panose="02020603050405020304" pitchFamily="18" charset="0"/>
              </a:rPr>
              <a:t>clear linear patterns</a:t>
            </a:r>
            <a:r>
              <a:rPr lang="en-IN" sz="1800" dirty="0">
                <a:latin typeface="Times New Roman" panose="02020603050405020304" pitchFamily="18" charset="0"/>
                <a:cs typeface="Times New Roman" panose="02020603050405020304" pitchFamily="18" charset="0"/>
              </a:rPr>
              <a:t>, suggesting that business performance is influenced by multiple independent factors rather than a single dominant metric.</a:t>
            </a:r>
          </a:p>
          <a:p>
            <a:pPr algn="just"/>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Regression plots </a:t>
            </a:r>
            <a:r>
              <a:rPr lang="en-IN" sz="1800" dirty="0">
                <a:latin typeface="Times New Roman" panose="02020603050405020304" pitchFamily="18" charset="0"/>
                <a:cs typeface="Times New Roman" panose="02020603050405020304" pitchFamily="18" charset="0"/>
              </a:rPr>
              <a:t>showed relatively </a:t>
            </a:r>
            <a:r>
              <a:rPr lang="en-IN" sz="1800" b="1" dirty="0">
                <a:latin typeface="Times New Roman" panose="02020603050405020304" pitchFamily="18" charset="0"/>
                <a:cs typeface="Times New Roman" panose="02020603050405020304" pitchFamily="18" charset="0"/>
              </a:rPr>
              <a:t>stable trend lines </a:t>
            </a:r>
            <a:r>
              <a:rPr lang="en-IN" sz="1800" dirty="0">
                <a:latin typeface="Times New Roman" panose="02020603050405020304" pitchFamily="18" charset="0"/>
                <a:cs typeface="Times New Roman" panose="02020603050405020304" pitchFamily="18" charset="0"/>
              </a:rPr>
              <a:t>with </a:t>
            </a:r>
            <a:r>
              <a:rPr lang="en-IN" sz="1800" b="1" dirty="0">
                <a:latin typeface="Times New Roman" panose="02020603050405020304" pitchFamily="18" charset="0"/>
                <a:cs typeface="Times New Roman" panose="02020603050405020304" pitchFamily="18" charset="0"/>
              </a:rPr>
              <a:t>limited steepness</a:t>
            </a:r>
            <a:r>
              <a:rPr lang="en-IN" sz="1800" dirty="0">
                <a:latin typeface="Times New Roman" panose="02020603050405020304" pitchFamily="18" charset="0"/>
                <a:cs typeface="Times New Roman" panose="02020603050405020304" pitchFamily="18" charset="0"/>
              </a:rPr>
              <a:t>, confirming the absence of strong linear dependencies among major variables.</a:t>
            </a:r>
          </a:p>
          <a:p>
            <a:pPr algn="just"/>
            <a:r>
              <a:rPr lang="en-IN" sz="1800" b="1" dirty="0">
                <a:latin typeface="Times New Roman" panose="02020603050405020304" pitchFamily="18" charset="0"/>
                <a:cs typeface="Times New Roman" panose="02020603050405020304" pitchFamily="18" charset="0"/>
              </a:rPr>
              <a:t> </a:t>
            </a:r>
            <a:r>
              <a:rPr lang="en-IN" sz="1800" b="1" dirty="0" err="1">
                <a:latin typeface="Times New Roman" panose="02020603050405020304" pitchFamily="18" charset="0"/>
                <a:cs typeface="Times New Roman" panose="02020603050405020304" pitchFamily="18" charset="0"/>
              </a:rPr>
              <a:t>Hexbin</a:t>
            </a:r>
            <a:r>
              <a:rPr lang="en-IN" sz="1800" b="1" dirty="0">
                <a:latin typeface="Times New Roman" panose="02020603050405020304" pitchFamily="18" charset="0"/>
                <a:cs typeface="Times New Roman" panose="02020603050405020304" pitchFamily="18" charset="0"/>
              </a:rPr>
              <a:t> density plots </a:t>
            </a:r>
            <a:r>
              <a:rPr lang="en-IN" sz="1800" dirty="0">
                <a:latin typeface="Times New Roman" panose="02020603050405020304" pitchFamily="18" charset="0"/>
                <a:cs typeface="Times New Roman" panose="02020603050405020304" pitchFamily="18" charset="0"/>
              </a:rPr>
              <a:t>identified </a:t>
            </a:r>
            <a:r>
              <a:rPr lang="en-IN" sz="1800" b="1" dirty="0">
                <a:latin typeface="Times New Roman" panose="02020603050405020304" pitchFamily="18" charset="0"/>
                <a:cs typeface="Times New Roman" panose="02020603050405020304" pitchFamily="18" charset="0"/>
              </a:rPr>
              <a:t>high-concentration zones </a:t>
            </a:r>
            <a:r>
              <a:rPr lang="en-IN" sz="1800" dirty="0">
                <a:latin typeface="Times New Roman" panose="02020603050405020304" pitchFamily="18" charset="0"/>
                <a:cs typeface="Times New Roman" panose="02020603050405020304" pitchFamily="18" charset="0"/>
              </a:rPr>
              <a:t>where the majority of companies are clustered, while a </a:t>
            </a:r>
            <a:r>
              <a:rPr lang="en-IN" sz="1800" b="1" dirty="0">
                <a:latin typeface="Times New Roman" panose="02020603050405020304" pitchFamily="18" charset="0"/>
                <a:cs typeface="Times New Roman" panose="02020603050405020304" pitchFamily="18" charset="0"/>
              </a:rPr>
              <a:t>smaller proportion </a:t>
            </a:r>
            <a:r>
              <a:rPr lang="en-IN" sz="1800" dirty="0">
                <a:latin typeface="Times New Roman" panose="02020603050405020304" pitchFamily="18" charset="0"/>
                <a:cs typeface="Times New Roman" panose="02020603050405020304" pitchFamily="18" charset="0"/>
              </a:rPr>
              <a:t>of organizations exist at </a:t>
            </a:r>
            <a:r>
              <a:rPr lang="en-IN" sz="1800" b="1" dirty="0">
                <a:latin typeface="Times New Roman" panose="02020603050405020304" pitchFamily="18" charset="0"/>
                <a:cs typeface="Times New Roman" panose="02020603050405020304" pitchFamily="18" charset="0"/>
              </a:rPr>
              <a:t>extreme values.</a:t>
            </a:r>
          </a:p>
          <a:p>
            <a:pPr algn="just"/>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Density plots </a:t>
            </a:r>
            <a:r>
              <a:rPr lang="en-IN" sz="1800" dirty="0">
                <a:latin typeface="Times New Roman" panose="02020603050405020304" pitchFamily="18" charset="0"/>
                <a:cs typeface="Times New Roman" panose="02020603050405020304" pitchFamily="18" charset="0"/>
              </a:rPr>
              <a:t>highlighted that most businesses operate within </a:t>
            </a:r>
            <a:r>
              <a:rPr lang="en-IN" sz="1800" b="1" dirty="0">
                <a:latin typeface="Times New Roman" panose="02020603050405020304" pitchFamily="18" charset="0"/>
                <a:cs typeface="Times New Roman" panose="02020603050405020304" pitchFamily="18" charset="0"/>
              </a:rPr>
              <a:t>moderate ranges of revenue, employee count, profitability, and customer base </a:t>
            </a:r>
            <a:r>
              <a:rPr lang="en-IN" sz="1800" dirty="0">
                <a:latin typeface="Times New Roman" panose="02020603050405020304" pitchFamily="18" charset="0"/>
                <a:cs typeface="Times New Roman" panose="02020603050405020304" pitchFamily="18" charset="0"/>
              </a:rPr>
              <a:t>rather than at the extremes.</a:t>
            </a:r>
          </a:p>
          <a:p>
            <a:pPr algn="just"/>
            <a:r>
              <a:rPr lang="en-IN" sz="1800" dirty="0">
                <a:latin typeface="Times New Roman" panose="02020603050405020304" pitchFamily="18" charset="0"/>
                <a:cs typeface="Times New Roman" panose="02020603050405020304" pitchFamily="18" charset="0"/>
              </a:rPr>
              <a:t>Several outliers were visible in scatter and density plots, indicating the presence of exceptionally large, highly profitable, or highly rated companies.</a:t>
            </a:r>
          </a:p>
          <a:p>
            <a:pPr algn="just"/>
            <a:r>
              <a:rPr lang="en-IN" sz="1800" dirty="0">
                <a:latin typeface="Times New Roman" panose="02020603050405020304" pitchFamily="18" charset="0"/>
                <a:cs typeface="Times New Roman" panose="02020603050405020304" pitchFamily="18" charset="0"/>
              </a:rPr>
              <a:t> Correlation analysis showed weak relationships across most variable pairs, implying low multicollinearity within the dataset.</a:t>
            </a:r>
          </a:p>
        </p:txBody>
      </p:sp>
      <p:pic>
        <p:nvPicPr>
          <p:cNvPr id="5" name="Content Placeholder 4">
            <a:extLst>
              <a:ext uri="{FF2B5EF4-FFF2-40B4-BE49-F238E27FC236}">
                <a16:creationId xmlns:a16="http://schemas.microsoft.com/office/drawing/2014/main" id="{A9291AF7-0207-C8E7-2E0B-B91B018FA932}"/>
              </a:ext>
            </a:extLst>
          </p:cNvPr>
          <p:cNvPicPr>
            <a:picLocks noGrp="1" noChangeAspect="1"/>
          </p:cNvPicPr>
          <p:nvPr>
            <p:ph sz="half" idx="1"/>
          </p:nvPr>
        </p:nvPicPr>
        <p:blipFill>
          <a:blip r:embed="rId2"/>
          <a:stretch>
            <a:fillRect/>
          </a:stretch>
        </p:blipFill>
        <p:spPr>
          <a:xfrm rot="5400000">
            <a:off x="4002013" y="1718306"/>
            <a:ext cx="6858001" cy="3421397"/>
          </a:xfrm>
          <a:prstGeom prst="rect">
            <a:avLst/>
          </a:prstGeom>
        </p:spPr>
      </p:pic>
    </p:spTree>
    <p:extLst>
      <p:ext uri="{BB962C8B-B14F-4D97-AF65-F5344CB8AC3E}">
        <p14:creationId xmlns:p14="http://schemas.microsoft.com/office/powerpoint/2010/main" val="1440007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579AC18-BE4A-F9E0-FD3F-A0FA5FA940DC}"/>
              </a:ext>
            </a:extLst>
          </p:cNvPr>
          <p:cNvSpPr>
            <a:spLocks noGrp="1"/>
          </p:cNvSpPr>
          <p:nvPr>
            <p:ph type="title"/>
          </p:nvPr>
        </p:nvSpPr>
        <p:spPr>
          <a:xfrm>
            <a:off x="0" y="0"/>
            <a:ext cx="4495800" cy="1417638"/>
          </a:xfrm>
        </p:spPr>
        <p:txBody>
          <a:bodyPr>
            <a:normAutofit/>
          </a:bodyPr>
          <a:lstStyle/>
          <a:p>
            <a:r>
              <a:rPr lang="en-US" sz="3600" dirty="0">
                <a:latin typeface="Times New Roman" panose="02020603050405020304" pitchFamily="18" charset="0"/>
                <a:cs typeface="Times New Roman" panose="02020603050405020304" pitchFamily="18" charset="0"/>
              </a:rPr>
              <a:t>Multivariable Insights</a:t>
            </a:r>
            <a:endParaRPr lang="en-IN" sz="3600"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DABC2C5B-2A88-C1CD-8401-4E3BB8C005D2}"/>
              </a:ext>
            </a:extLst>
          </p:cNvPr>
          <p:cNvSpPr>
            <a:spLocks noGrp="1"/>
          </p:cNvSpPr>
          <p:nvPr>
            <p:ph sz="half" idx="1"/>
          </p:nvPr>
        </p:nvSpPr>
        <p:spPr>
          <a:xfrm>
            <a:off x="0" y="1190847"/>
            <a:ext cx="4880344" cy="5667153"/>
          </a:xfrm>
        </p:spPr>
        <p:txBody>
          <a:bodyPr>
            <a:normAutofit lnSpcReduction="10000"/>
          </a:bodyPr>
          <a:lstStyle/>
          <a:p>
            <a:pPr algn="just"/>
            <a:r>
              <a:rPr lang="en-IN" sz="2000" dirty="0" err="1"/>
              <a:t>Analyzed</a:t>
            </a:r>
            <a:r>
              <a:rPr lang="en-IN" sz="2000" dirty="0"/>
              <a:t> </a:t>
            </a:r>
            <a:r>
              <a:rPr lang="en-IN" sz="2000" b="1" dirty="0"/>
              <a:t>15,000 business records</a:t>
            </a:r>
            <a:r>
              <a:rPr lang="en-IN" sz="2000" dirty="0"/>
              <a:t> across Revenue, Profit Margin, Customer Count, Employee Count, and Market Rating. </a:t>
            </a:r>
          </a:p>
          <a:p>
            <a:pPr algn="just"/>
            <a:r>
              <a:rPr lang="en-IN" sz="2000" dirty="0"/>
              <a:t>The strongest relationship was between </a:t>
            </a:r>
            <a:r>
              <a:rPr lang="en-IN" sz="2000" b="1" dirty="0"/>
              <a:t>Annual Revenue and Market Rating.</a:t>
            </a:r>
            <a:endParaRPr lang="en-IN" sz="2000" dirty="0"/>
          </a:p>
          <a:p>
            <a:pPr algn="just"/>
            <a:r>
              <a:rPr lang="en-IN" sz="2000" dirty="0"/>
              <a:t>All variables showed a normalized average score of approximately </a:t>
            </a:r>
            <a:r>
              <a:rPr lang="en-IN" sz="2000" b="1" dirty="0"/>
              <a:t>0.50</a:t>
            </a:r>
            <a:r>
              <a:rPr lang="en-IN" sz="2000" dirty="0"/>
              <a:t>, indicating a balanced dataset. </a:t>
            </a:r>
          </a:p>
          <a:p>
            <a:pPr algn="just"/>
            <a:r>
              <a:rPr lang="en-IN" sz="2000" dirty="0"/>
              <a:t>Customer Count, Revenue, and Profit Margin exhibited independent </a:t>
            </a:r>
            <a:r>
              <a:rPr lang="en-IN" sz="2000" dirty="0" err="1"/>
              <a:t>behavior</a:t>
            </a:r>
            <a:r>
              <a:rPr lang="en-IN" sz="2000" dirty="0"/>
              <a:t> with no dominant driver. </a:t>
            </a:r>
          </a:p>
          <a:p>
            <a:pPr algn="just"/>
            <a:r>
              <a:rPr lang="en-IN" sz="2000" dirty="0"/>
              <a:t>Density and bubble charts revealed a well-distributed dataset without significant clustering. </a:t>
            </a:r>
          </a:p>
          <a:p>
            <a:pPr algn="just"/>
            <a:r>
              <a:rPr lang="en-IN" sz="2000" dirty="0"/>
              <a:t>Violin plots showed similar distribution patterns across all business metrics. No severe multicollinearity was observed among variables.</a:t>
            </a:r>
          </a:p>
        </p:txBody>
      </p:sp>
      <p:pic>
        <p:nvPicPr>
          <p:cNvPr id="12" name="Content Placeholder 11">
            <a:extLst>
              <a:ext uri="{FF2B5EF4-FFF2-40B4-BE49-F238E27FC236}">
                <a16:creationId xmlns:a16="http://schemas.microsoft.com/office/drawing/2014/main" id="{E170F3AD-0396-F3EB-4C18-04F09BD5B607}"/>
              </a:ext>
            </a:extLst>
          </p:cNvPr>
          <p:cNvPicPr>
            <a:picLocks noGrp="1" noChangeAspect="1"/>
          </p:cNvPicPr>
          <p:nvPr>
            <p:ph sz="half" idx="2"/>
          </p:nvPr>
        </p:nvPicPr>
        <p:blipFill>
          <a:blip r:embed="rId2"/>
          <a:stretch>
            <a:fillRect/>
          </a:stretch>
        </p:blipFill>
        <p:spPr>
          <a:xfrm rot="5400000">
            <a:off x="3630616" y="1345419"/>
            <a:ext cx="6858003" cy="4167165"/>
          </a:xfrm>
          <a:prstGeom prst="rect">
            <a:avLst/>
          </a:prstGeom>
        </p:spPr>
      </p:pic>
    </p:spTree>
    <p:extLst>
      <p:ext uri="{BB962C8B-B14F-4D97-AF65-F5344CB8AC3E}">
        <p14:creationId xmlns:p14="http://schemas.microsoft.com/office/powerpoint/2010/main" val="2956097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414" y="0"/>
            <a:ext cx="5653586"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8F3EABD-9054-90A3-AF6D-8A6114D821B6}"/>
              </a:ext>
            </a:extLst>
          </p:cNvPr>
          <p:cNvSpPr>
            <a:spLocks noGrp="1"/>
          </p:cNvSpPr>
          <p:nvPr>
            <p:ph type="title"/>
          </p:nvPr>
        </p:nvSpPr>
        <p:spPr>
          <a:xfrm>
            <a:off x="3982594" y="-3"/>
            <a:ext cx="5161406" cy="1322887"/>
          </a:xfrm>
        </p:spPr>
        <p:txBody>
          <a:bodyPr>
            <a:normAutofit/>
          </a:bodyPr>
          <a:lstStyle/>
          <a:p>
            <a:r>
              <a:rPr lang="en-IN" b="1" dirty="0">
                <a:latin typeface="Times New Roman" panose="02020603050405020304" pitchFamily="18" charset="0"/>
                <a:cs typeface="Times New Roman" panose="02020603050405020304" pitchFamily="18" charset="0"/>
              </a:rPr>
              <a:t>Final Insights</a:t>
            </a:r>
          </a:p>
        </p:txBody>
      </p:sp>
      <p:pic>
        <p:nvPicPr>
          <p:cNvPr id="5" name="Picture 4">
            <a:extLst>
              <a:ext uri="{FF2B5EF4-FFF2-40B4-BE49-F238E27FC236}">
                <a16:creationId xmlns:a16="http://schemas.microsoft.com/office/drawing/2014/main" id="{6AC853AA-42BB-4FAE-6F2D-86F7641ECFCA}"/>
              </a:ext>
            </a:extLst>
          </p:cNvPr>
          <p:cNvPicPr>
            <a:picLocks noChangeAspect="1"/>
          </p:cNvPicPr>
          <p:nvPr/>
        </p:nvPicPr>
        <p:blipFill>
          <a:blip r:embed="rId2"/>
          <a:srcRect l="19881" t="13167" b="24551"/>
          <a:stretch>
            <a:fillRect/>
          </a:stretch>
        </p:blipFill>
        <p:spPr>
          <a:xfrm rot="16200000">
            <a:off x="-1437703" y="1437704"/>
            <a:ext cx="6858002" cy="3982589"/>
          </a:xfrm>
          <a:prstGeom prst="rect">
            <a:avLst/>
          </a:prstGeom>
        </p:spPr>
      </p:pic>
      <p:sp>
        <p:nvSpPr>
          <p:cNvPr id="3" name="Content Placeholder 2">
            <a:extLst>
              <a:ext uri="{FF2B5EF4-FFF2-40B4-BE49-F238E27FC236}">
                <a16:creationId xmlns:a16="http://schemas.microsoft.com/office/drawing/2014/main" id="{C429DCF2-1375-9921-AFF9-ED99AA2EE669}"/>
              </a:ext>
            </a:extLst>
          </p:cNvPr>
          <p:cNvSpPr>
            <a:spLocks noGrp="1"/>
          </p:cNvSpPr>
          <p:nvPr>
            <p:ph idx="1"/>
          </p:nvPr>
        </p:nvSpPr>
        <p:spPr>
          <a:xfrm>
            <a:off x="3982594" y="1156771"/>
            <a:ext cx="5161404" cy="5701229"/>
          </a:xfrm>
        </p:spPr>
        <p:txBody>
          <a:bodyPr>
            <a:normAutofit fontScale="92500" lnSpcReduction="20000"/>
          </a:bodyPr>
          <a:lstStyle/>
          <a:p>
            <a:pPr algn="just">
              <a:lnSpc>
                <a:spcPct val="90000"/>
              </a:lnSpc>
            </a:pPr>
            <a:r>
              <a:rPr lang="en-US" sz="1800" dirty="0">
                <a:latin typeface="Times New Roman" panose="02020603050405020304" pitchFamily="18" charset="0"/>
                <a:cs typeface="Times New Roman" panose="02020603050405020304" pitchFamily="18" charset="0"/>
              </a:rPr>
              <a:t>Revenue distribution is </a:t>
            </a:r>
            <a:r>
              <a:rPr lang="en-US" sz="1800" b="1" dirty="0">
                <a:latin typeface="Times New Roman" panose="02020603050405020304" pitchFamily="18" charset="0"/>
                <a:cs typeface="Times New Roman" panose="02020603050405020304" pitchFamily="18" charset="0"/>
              </a:rPr>
              <a:t>highly skewed, with a mean $549.73M and a median ≈ 290M</a:t>
            </a:r>
            <a:r>
              <a:rPr lang="en-US" sz="1800" dirty="0">
                <a:latin typeface="Times New Roman" panose="02020603050405020304" pitchFamily="18" charset="0"/>
                <a:cs typeface="Times New Roman" panose="02020603050405020304" pitchFamily="18" charset="0"/>
              </a:rPr>
              <a:t>, showing that few companies dominate the market. Profit margins vary widely, with </a:t>
            </a:r>
            <a:r>
              <a:rPr lang="en-US" sz="1800" b="1" dirty="0">
                <a:latin typeface="Times New Roman" panose="02020603050405020304" pitchFamily="18" charset="0"/>
                <a:cs typeface="Times New Roman" panose="02020603050405020304" pitchFamily="18" charset="0"/>
              </a:rPr>
              <a:t>a maximum ≈ 48.2%, </a:t>
            </a:r>
            <a:r>
              <a:rPr lang="en-US" sz="1800" dirty="0">
                <a:latin typeface="Times New Roman" panose="02020603050405020304" pitchFamily="18" charset="0"/>
                <a:cs typeface="Times New Roman" panose="02020603050405020304" pitchFamily="18" charset="0"/>
              </a:rPr>
              <a:t>indicating big differences in operational efficiency.</a:t>
            </a:r>
          </a:p>
          <a:p>
            <a:pPr algn="just">
              <a:lnSpc>
                <a:spcPct val="90000"/>
              </a:lnSpc>
            </a:pPr>
            <a:r>
              <a:rPr lang="en-US" sz="1800" dirty="0">
                <a:latin typeface="Times New Roman" panose="02020603050405020304" pitchFamily="18" charset="0"/>
                <a:cs typeface="Times New Roman" panose="02020603050405020304" pitchFamily="18" charset="0"/>
              </a:rPr>
              <a:t>Customer count and employee count showed negligible linear relationships with revenue, indicating that revenue performance depends on multiple business factors.</a:t>
            </a:r>
          </a:p>
          <a:p>
            <a:pPr algn="just">
              <a:lnSpc>
                <a:spcPct val="90000"/>
              </a:lnSpc>
            </a:pPr>
            <a:r>
              <a:rPr lang="en-US" sz="1800" dirty="0">
                <a:latin typeface="Times New Roman" panose="02020603050405020304" pitchFamily="18" charset="0"/>
                <a:cs typeface="Times New Roman" panose="02020603050405020304" pitchFamily="18" charset="0"/>
              </a:rPr>
              <a:t>The strongest observed correlation was between Annual Revenue and Market Rating, indicating overall low multicollinearity within the dataset.</a:t>
            </a:r>
          </a:p>
          <a:p>
            <a:pPr algn="just">
              <a:lnSpc>
                <a:spcPct val="90000"/>
              </a:lnSpc>
            </a:pPr>
            <a:r>
              <a:rPr lang="en-US" sz="1800" dirty="0">
                <a:latin typeface="Times New Roman" panose="02020603050405020304" pitchFamily="18" charset="0"/>
                <a:cs typeface="Times New Roman" panose="02020603050405020304" pitchFamily="18" charset="0"/>
              </a:rPr>
              <a:t>Business metrics appear largely independent, highlighting the complexity of enterprise performance and the importance of multivariable decision-making.</a:t>
            </a:r>
          </a:p>
          <a:p>
            <a:pPr algn="just">
              <a:lnSpc>
                <a:spcPct val="90000"/>
              </a:lnSpc>
            </a:pPr>
            <a:r>
              <a:rPr lang="en-US" sz="1800" dirty="0">
                <a:latin typeface="Times New Roman" panose="02020603050405020304" pitchFamily="18" charset="0"/>
                <a:cs typeface="Times New Roman" panose="02020603050405020304" pitchFamily="18" charset="0"/>
              </a:rPr>
              <a:t>The boxplots reveal multiple outliers, including up to </a:t>
            </a:r>
            <a:r>
              <a:rPr lang="en-US" sz="1800" b="1" dirty="0">
                <a:latin typeface="Times New Roman" panose="02020603050405020304" pitchFamily="18" charset="0"/>
                <a:cs typeface="Times New Roman" panose="02020603050405020304" pitchFamily="18" charset="0"/>
              </a:rPr>
              <a:t>18 extreme revenue observations</a:t>
            </a:r>
            <a:r>
              <a:rPr lang="en-US" sz="1800" dirty="0">
                <a:latin typeface="Times New Roman" panose="02020603050405020304" pitchFamily="18" charset="0"/>
                <a:cs typeface="Times New Roman" panose="02020603050405020304" pitchFamily="18" charset="0"/>
              </a:rPr>
              <a:t>, indicating market dominance by a few firms.</a:t>
            </a:r>
          </a:p>
          <a:p>
            <a:pPr algn="just">
              <a:lnSpc>
                <a:spcPct val="90000"/>
              </a:lnSpc>
            </a:pPr>
            <a:r>
              <a:rPr lang="en-US" sz="1800" dirty="0">
                <a:latin typeface="Times New Roman" panose="02020603050405020304" pitchFamily="18" charset="0"/>
                <a:cs typeface="Times New Roman" panose="02020603050405020304" pitchFamily="18" charset="0"/>
              </a:rPr>
              <a:t>Category distribution is balanced, with each industry contributing approximately 20% of the dataset. Business performance differences are driven by operational metrics rather than representation alone.</a:t>
            </a:r>
          </a:p>
          <a:p>
            <a:pPr algn="just">
              <a:lnSpc>
                <a:spcPct val="90000"/>
              </a:lnSpc>
            </a:pPr>
            <a:r>
              <a:rPr lang="en-US" sz="1800" dirty="0">
                <a:latin typeface="Times New Roman" panose="02020603050405020304" pitchFamily="18" charset="0"/>
                <a:cs typeface="Times New Roman" panose="02020603050405020304" pitchFamily="18" charset="0"/>
              </a:rPr>
              <a:t>Time-series trend analysis shows steady upward </a:t>
            </a:r>
            <a:r>
              <a:rPr lang="en-US" sz="1800" b="1" dirty="0">
                <a:latin typeface="Times New Roman" panose="02020603050405020304" pitchFamily="18" charset="0"/>
                <a:cs typeface="Times New Roman" panose="02020603050405020304" pitchFamily="18" charset="0"/>
              </a:rPr>
              <a:t>growth, with revenue increasing approximately 15–20% over time</a:t>
            </a:r>
            <a:r>
              <a:rPr lang="en-US" sz="1800" dirty="0">
                <a:latin typeface="Times New Roman" panose="02020603050405020304" pitchFamily="18" charset="0"/>
                <a:cs typeface="Times New Roman" panose="02020603050405020304" pitchFamily="18" charset="0"/>
              </a:rPr>
              <a:t>.</a:t>
            </a:r>
          </a:p>
          <a:p>
            <a:pPr>
              <a:lnSpc>
                <a:spcPct val="90000"/>
              </a:lnSpc>
            </a:pPr>
            <a:endParaRPr lang="en-US" sz="1200" dirty="0"/>
          </a:p>
        </p:txBody>
      </p:sp>
    </p:spTree>
    <p:extLst>
      <p:ext uri="{BB962C8B-B14F-4D97-AF65-F5344CB8AC3E}">
        <p14:creationId xmlns:p14="http://schemas.microsoft.com/office/powerpoint/2010/main" val="3079740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147372" y="0"/>
            <a:ext cx="5996628" cy="870333"/>
          </a:xfrm>
        </p:spPr>
        <p:txBody>
          <a:bodyPr anchor="t">
            <a:normAutofit/>
          </a:bodyPr>
          <a:lstStyle/>
          <a:p>
            <a:r>
              <a:rPr lang="en-IN" sz="3500" b="1" dirty="0">
                <a:latin typeface="Times New Roman" panose="02020603050405020304" pitchFamily="18" charset="0"/>
                <a:cs typeface="Times New Roman" panose="02020603050405020304" pitchFamily="18" charset="0"/>
              </a:rPr>
              <a:t>Business Recommendations</a:t>
            </a:r>
          </a:p>
        </p:txBody>
      </p:sp>
      <p:pic>
        <p:nvPicPr>
          <p:cNvPr id="31" name="Picture 30">
            <a:extLst>
              <a:ext uri="{FF2B5EF4-FFF2-40B4-BE49-F238E27FC236}">
                <a16:creationId xmlns:a16="http://schemas.microsoft.com/office/drawing/2014/main" id="{387BC113-3B04-C03B-9144-B7BC89B9C477}"/>
              </a:ext>
            </a:extLst>
          </p:cNvPr>
          <p:cNvPicPr>
            <a:picLocks noChangeAspect="1"/>
          </p:cNvPicPr>
          <p:nvPr/>
        </p:nvPicPr>
        <p:blipFill>
          <a:blip r:embed="rId2"/>
          <a:srcRect l="26113" r="48072"/>
          <a:stretch>
            <a:fillRect/>
          </a:stretch>
        </p:blipFill>
        <p:spPr>
          <a:xfrm>
            <a:off x="19" y="10"/>
            <a:ext cx="3393175" cy="6857990"/>
          </a:xfrm>
          <a:prstGeom prst="rect">
            <a:avLst/>
          </a:prstGeom>
          <a:effectLst/>
        </p:spPr>
      </p:pic>
      <p:sp>
        <p:nvSpPr>
          <p:cNvPr id="4" name="Content Placeholder 3">
            <a:extLst>
              <a:ext uri="{FF2B5EF4-FFF2-40B4-BE49-F238E27FC236}">
                <a16:creationId xmlns:a16="http://schemas.microsoft.com/office/drawing/2014/main" id="{C65EE695-35AC-0DBB-64E5-37A8E72F80FA}"/>
              </a:ext>
            </a:extLst>
          </p:cNvPr>
          <p:cNvSpPr>
            <a:spLocks noGrp="1"/>
          </p:cNvSpPr>
          <p:nvPr>
            <p:ph idx="1"/>
          </p:nvPr>
        </p:nvSpPr>
        <p:spPr>
          <a:xfrm>
            <a:off x="3147371" y="642257"/>
            <a:ext cx="5994341" cy="6215743"/>
          </a:xfrm>
        </p:spPr>
        <p:txBody>
          <a:bodyPr>
            <a:normAutofit lnSpcReduction="10000"/>
          </a:bodyPr>
          <a:lstStyle/>
          <a:p>
            <a:pPr algn="just">
              <a:lnSpc>
                <a:spcPct val="90000"/>
              </a:lnSpc>
            </a:pPr>
            <a:r>
              <a:rPr lang="en-US" sz="1800" b="1" dirty="0">
                <a:solidFill>
                  <a:schemeClr val="accent2">
                    <a:lumMod val="75000"/>
                  </a:schemeClr>
                </a:solidFill>
                <a:latin typeface="Times New Roman" panose="02020603050405020304" pitchFamily="18" charset="0"/>
                <a:cs typeface="Times New Roman" panose="02020603050405020304" pitchFamily="18" charset="0"/>
              </a:rPr>
              <a:t>Focus on Customer-Centric Expansion: </a:t>
            </a:r>
            <a:r>
              <a:rPr lang="en-US" sz="1800" dirty="0">
                <a:latin typeface="Times New Roman" panose="02020603050405020304" pitchFamily="18" charset="0"/>
                <a:cs typeface="Times New Roman" panose="02020603050405020304" pitchFamily="18" charset="0"/>
              </a:rPr>
              <a:t>Customer acquisition remains important for long-term growth, although the analysis suggests that revenue performance depends on multiple operational and market factors.</a:t>
            </a:r>
          </a:p>
          <a:p>
            <a:pPr algn="just">
              <a:lnSpc>
                <a:spcPct val="90000"/>
              </a:lnSpc>
            </a:pPr>
            <a:r>
              <a:rPr lang="en-US" sz="1800" b="1" dirty="0">
                <a:solidFill>
                  <a:schemeClr val="accent2">
                    <a:lumMod val="75000"/>
                  </a:schemeClr>
                </a:solidFill>
                <a:latin typeface="Times New Roman" panose="02020603050405020304" pitchFamily="18" charset="0"/>
                <a:cs typeface="Times New Roman" panose="02020603050405020304" pitchFamily="18" charset="0"/>
              </a:rPr>
              <a:t>Scale Workforce Strategically: </a:t>
            </a:r>
            <a:r>
              <a:rPr lang="en-US" sz="1800" dirty="0">
                <a:latin typeface="Times New Roman" panose="02020603050405020304" pitchFamily="18" charset="0"/>
                <a:cs typeface="Times New Roman" panose="02020603050405020304" pitchFamily="18" charset="0"/>
              </a:rPr>
              <a:t>Although revenue correlates with employee count, diminishing returns can occur. Organizations should optimize productivity and invest in automation and AI instead of uncontrolled expansion.</a:t>
            </a:r>
          </a:p>
          <a:p>
            <a:pPr algn="just">
              <a:lnSpc>
                <a:spcPct val="90000"/>
              </a:lnSpc>
            </a:pPr>
            <a:r>
              <a:rPr lang="en-US" sz="1800" b="1" dirty="0">
                <a:solidFill>
                  <a:schemeClr val="accent2">
                    <a:lumMod val="75000"/>
                  </a:schemeClr>
                </a:solidFill>
                <a:latin typeface="Times New Roman" panose="02020603050405020304" pitchFamily="18" charset="0"/>
                <a:cs typeface="Times New Roman" panose="02020603050405020304" pitchFamily="18" charset="0"/>
              </a:rPr>
              <a:t>Strengthen Market Reputation</a:t>
            </a:r>
            <a:r>
              <a:rPr lang="en-US" sz="1800" dirty="0">
                <a:latin typeface="Times New Roman" panose="02020603050405020304" pitchFamily="18" charset="0"/>
                <a:cs typeface="Times New Roman" panose="02020603050405020304" pitchFamily="18" charset="0"/>
              </a:rPr>
              <a:t>: A strong market rating contributes to higher profit margins. Improving brand perception and product quality is essential for achieving stable profits.</a:t>
            </a:r>
          </a:p>
          <a:p>
            <a:pPr algn="just">
              <a:lnSpc>
                <a:spcPct val="90000"/>
              </a:lnSpc>
            </a:pPr>
            <a:r>
              <a:rPr lang="en-US" sz="1800" b="1" dirty="0">
                <a:solidFill>
                  <a:schemeClr val="accent2">
                    <a:lumMod val="75000"/>
                  </a:schemeClr>
                </a:solidFill>
                <a:latin typeface="Times New Roman" panose="02020603050405020304" pitchFamily="18" charset="0"/>
                <a:cs typeface="Times New Roman" panose="02020603050405020304" pitchFamily="18" charset="0"/>
              </a:rPr>
              <a:t>Leverage Industry Growth Opportunities</a:t>
            </a:r>
            <a:r>
              <a:rPr lang="en-US" sz="1800" dirty="0">
                <a:latin typeface="Times New Roman" panose="02020603050405020304" pitchFamily="18" charset="0"/>
                <a:cs typeface="Times New Roman" panose="02020603050405020304" pitchFamily="18" charset="0"/>
              </a:rPr>
              <a:t>: Organizations should focus on sectors demonstrating higher revenue and profitability characteristics while leveraging digital transformation to improve competitiveness.</a:t>
            </a:r>
          </a:p>
          <a:p>
            <a:pPr algn="just">
              <a:lnSpc>
                <a:spcPct val="90000"/>
              </a:lnSpc>
            </a:pPr>
            <a:r>
              <a:rPr lang="en-US" sz="1800" b="1" dirty="0">
                <a:solidFill>
                  <a:schemeClr val="accent2">
                    <a:lumMod val="75000"/>
                  </a:schemeClr>
                </a:solidFill>
                <a:latin typeface="Times New Roman" panose="02020603050405020304" pitchFamily="18" charset="0"/>
                <a:cs typeface="Times New Roman" panose="02020603050405020304" pitchFamily="18" charset="0"/>
              </a:rPr>
              <a:t>Employ Data-Driven Segmentation: </a:t>
            </a:r>
            <a:r>
              <a:rPr lang="en-US" sz="1800" dirty="0">
                <a:latin typeface="Times New Roman" panose="02020603050405020304" pitchFamily="18" charset="0"/>
                <a:cs typeface="Times New Roman" panose="02020603050405020304" pitchFamily="18" charset="0"/>
              </a:rPr>
              <a:t>Three business tiers have been identified. High-tier firms should expand globally, mid-tier firms should scale operations, and low-tier firms should work on efficiency</a:t>
            </a:r>
            <a:r>
              <a:rPr lang="en-US" sz="1800" b="1" dirty="0">
                <a:solidFill>
                  <a:schemeClr val="accent2">
                    <a:lumMod val="75000"/>
                  </a:schemeClr>
                </a:solidFill>
                <a:latin typeface="Times New Roman" panose="02020603050405020304" pitchFamily="18" charset="0"/>
                <a:cs typeface="Times New Roman" panose="02020603050405020304" pitchFamily="18" charset="0"/>
              </a:rPr>
              <a:t>.</a:t>
            </a:r>
          </a:p>
          <a:p>
            <a:pPr algn="just">
              <a:lnSpc>
                <a:spcPct val="90000"/>
              </a:lnSpc>
            </a:pPr>
            <a:r>
              <a:rPr lang="en-US" sz="1800" b="1" dirty="0">
                <a:solidFill>
                  <a:schemeClr val="accent2">
                    <a:lumMod val="75000"/>
                  </a:schemeClr>
                </a:solidFill>
                <a:latin typeface="Times New Roman" panose="02020603050405020304" pitchFamily="18" charset="0"/>
                <a:cs typeface="Times New Roman" panose="02020603050405020304" pitchFamily="18" charset="0"/>
              </a:rPr>
              <a:t>Manage Extreme Outliers as Strategic Assets: </a:t>
            </a:r>
            <a:r>
              <a:rPr lang="en-US" sz="1800" dirty="0">
                <a:latin typeface="Times New Roman" panose="02020603050405020304" pitchFamily="18" charset="0"/>
                <a:cs typeface="Times New Roman" panose="02020603050405020304" pitchFamily="18" charset="0"/>
              </a:rPr>
              <a:t>Outlier firms hold considerable market influence. Benchmarking against the top 1 to 2 percent can provide valuable operational insights.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65E75F-3C5D-EFCD-1737-21497C783FC9}"/>
              </a:ext>
            </a:extLst>
          </p:cNvPr>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Project Conclusion</a:t>
            </a:r>
            <a:endParaRPr lang="en-IN" sz="3500">
              <a:solidFill>
                <a:srgbClr val="FFFFFF"/>
              </a:solidFill>
            </a:endParaRPr>
          </a:p>
        </p:txBody>
      </p:sp>
      <p:sp>
        <p:nvSpPr>
          <p:cNvPr id="3" name="Content Placeholder 2">
            <a:extLst>
              <a:ext uri="{FF2B5EF4-FFF2-40B4-BE49-F238E27FC236}">
                <a16:creationId xmlns:a16="http://schemas.microsoft.com/office/drawing/2014/main" id="{50EBC082-9AAA-F98B-936F-46368F08CDA8}"/>
              </a:ext>
            </a:extLst>
          </p:cNvPr>
          <p:cNvSpPr>
            <a:spLocks noGrp="1"/>
          </p:cNvSpPr>
          <p:nvPr>
            <p:ph idx="1"/>
          </p:nvPr>
        </p:nvSpPr>
        <p:spPr>
          <a:xfrm>
            <a:off x="3028370" y="0"/>
            <a:ext cx="6113344" cy="6847861"/>
          </a:xfrm>
        </p:spPr>
        <p:txBody>
          <a:bodyPr anchor="ctr">
            <a:normAutofit fontScale="92500" lnSpcReduction="10000"/>
          </a:bodyPr>
          <a:lstStyle/>
          <a:p>
            <a:pPr algn="just">
              <a:lnSpc>
                <a:spcPct val="90000"/>
              </a:lnSpc>
            </a:pPr>
            <a:r>
              <a:rPr lang="en-US" sz="1600" dirty="0">
                <a:latin typeface="Times New Roman" panose="02020603050405020304" pitchFamily="18" charset="0"/>
                <a:cs typeface="Times New Roman" panose="02020603050405020304" pitchFamily="18" charset="0"/>
              </a:rPr>
              <a:t>This project has accomplished a comprehensive Exploratory Data Analysis (EDA) and Machine Learning study utilizing an industry dataset comprising </a:t>
            </a:r>
            <a:r>
              <a:rPr lang="en-US" sz="1600" b="1" dirty="0">
                <a:latin typeface="Times New Roman" panose="02020603050405020304" pitchFamily="18" charset="0"/>
                <a:cs typeface="Times New Roman" panose="02020603050405020304" pitchFamily="18" charset="0"/>
              </a:rPr>
              <a:t>15,000 company records</a:t>
            </a:r>
            <a:r>
              <a:rPr lang="en-US" sz="1600" dirty="0">
                <a:latin typeface="Times New Roman" panose="02020603050405020304" pitchFamily="18" charset="0"/>
                <a:cs typeface="Times New Roman" panose="02020603050405020304" pitchFamily="18" charset="0"/>
              </a:rPr>
              <a:t>. The analysis included data cleaning, assessments of missing values, duplicate detection, and various univariate, bivariate, and multivariate analyses, as well as forecasting, clustering, Principal Component Analysis (PCA), anomaly detection, and predictive modeling. </a:t>
            </a:r>
          </a:p>
          <a:p>
            <a:pPr algn="just">
              <a:lnSpc>
                <a:spcPct val="90000"/>
              </a:lnSpc>
            </a:pPr>
            <a:r>
              <a:rPr lang="en-US" sz="1600" dirty="0">
                <a:latin typeface="Times New Roman" panose="02020603050405020304" pitchFamily="18" charset="0"/>
                <a:cs typeface="Times New Roman" panose="02020603050405020304" pitchFamily="18" charset="0"/>
              </a:rPr>
              <a:t>The dataset revealed variability among companies regarding revenue, employee count, customer base, profit margin, and market rating. The average annual revenue was approximately </a:t>
            </a:r>
            <a:r>
              <a:rPr lang="en-US" sz="1600" b="1" dirty="0">
                <a:latin typeface="Times New Roman" panose="02020603050405020304" pitchFamily="18" charset="0"/>
                <a:cs typeface="Times New Roman" panose="02020603050405020304" pitchFamily="18" charset="0"/>
              </a:rPr>
              <a:t>$549.73 million</a:t>
            </a:r>
            <a:r>
              <a:rPr lang="en-US" sz="1600" dirty="0">
                <a:latin typeface="Times New Roman" panose="02020603050405020304" pitchFamily="18" charset="0"/>
                <a:cs typeface="Times New Roman" panose="02020603050405020304" pitchFamily="18" charset="0"/>
              </a:rPr>
              <a:t>, while the mean profit margin was approximately </a:t>
            </a:r>
            <a:r>
              <a:rPr lang="en-US" sz="1600" b="1" dirty="0">
                <a:latin typeface="Times New Roman" panose="02020603050405020304" pitchFamily="18" charset="0"/>
                <a:cs typeface="Times New Roman" panose="02020603050405020304" pitchFamily="18" charset="0"/>
              </a:rPr>
              <a:t>25.01</a:t>
            </a:r>
            <a:r>
              <a:rPr lang="en-US" sz="1600" dirty="0">
                <a:latin typeface="Times New Roman" panose="02020603050405020304" pitchFamily="18" charset="0"/>
                <a:cs typeface="Times New Roman" panose="02020603050405020304" pitchFamily="18" charset="0"/>
              </a:rPr>
              <a:t>, indicating varied financial performance.</a:t>
            </a:r>
          </a:p>
          <a:p>
            <a:pPr algn="just">
              <a:lnSpc>
                <a:spcPct val="90000"/>
              </a:lnSpc>
            </a:pPr>
            <a:r>
              <a:rPr lang="en-US" sz="1600" dirty="0">
                <a:latin typeface="Times New Roman" panose="02020603050405020304" pitchFamily="18" charset="0"/>
                <a:cs typeface="Times New Roman" panose="02020603050405020304" pitchFamily="18" charset="0"/>
              </a:rPr>
              <a:t>The EDA demonstrated that market ratings do not strongly depend on any singular variable. Instead, business performance is influenced by a combination of factors, including annual revenue, customer count, employee strength, profit margin, industry type, and regional presence.</a:t>
            </a:r>
          </a:p>
          <a:p>
            <a:pPr algn="just">
              <a:lnSpc>
                <a:spcPct val="90000"/>
              </a:lnSpc>
            </a:pPr>
            <a:r>
              <a:rPr lang="en-US" sz="1600" dirty="0">
                <a:latin typeface="Times New Roman" panose="02020603050405020304" pitchFamily="18" charset="0"/>
                <a:cs typeface="Times New Roman" panose="02020603050405020304" pitchFamily="18" charset="0"/>
              </a:rPr>
              <a:t>The forecasting analysis indicated that historical market rating values show weak temporal dependency, suggesting that past ratings alone are insufficient for accurate future predictions. A rolling average can help identify trends, but more sophisticated forecasting models are necessary for enhanced predictive capabilities.</a:t>
            </a:r>
          </a:p>
          <a:p>
            <a:pPr algn="just">
              <a:lnSpc>
                <a:spcPct val="90000"/>
              </a:lnSpc>
            </a:pPr>
            <a:r>
              <a:rPr lang="en-US" sz="1600" dirty="0">
                <a:latin typeface="Times New Roman" panose="02020603050405020304" pitchFamily="18" charset="0"/>
                <a:cs typeface="Times New Roman" panose="02020603050405020304" pitchFamily="18" charset="0"/>
              </a:rPr>
              <a:t>The clustering and PCA analyses identified hidden patterns among companies; however, low separation between clusters indicates that the available variables do not facilitate the formation of distinct groups. Incorporating additional factors such as marketing expenditure, customer satisfaction, digital presence, and operational costs could improve segmentation quality.</a:t>
            </a:r>
          </a:p>
          <a:p>
            <a:pPr algn="just">
              <a:lnSpc>
                <a:spcPct val="90000"/>
              </a:lnSpc>
            </a:pPr>
            <a:r>
              <a:rPr lang="en-US" sz="1600" dirty="0">
                <a:latin typeface="Times New Roman" panose="02020603050405020304" pitchFamily="18" charset="0"/>
                <a:cs typeface="Times New Roman" panose="02020603050405020304" pitchFamily="18" charset="0"/>
              </a:rPr>
              <a:t>Although the machine learning models provided a useful baseline for predicting market ratings, the observed weak performance signifies that these ratings are complex and may require more comprehensive business variables for improved predictive accuracy. In summary, this project offers a thorough analytical perspective on company performance and supports data-driven decision-making by identifying key business drivers, performance gaps, and areas for future improvement.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288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C6777B5-64F4-4200-B099-34168B69F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D058FB-C59B-6E6F-E5D8-573BFA740BD2}"/>
              </a:ext>
            </a:extLst>
          </p:cNvPr>
          <p:cNvPicPr>
            <a:picLocks noChangeAspect="1"/>
          </p:cNvPicPr>
          <p:nvPr/>
        </p:nvPicPr>
        <p:blipFill>
          <a:blip r:embed="rId2">
            <a:extLst>
              <a:ext uri="{837473B0-CC2E-450A-ABE3-18F120FF3D39}">
                <a1611:picAttrSrcUrl xmlns:a1611="http://schemas.microsoft.com/office/drawing/2016/11/main" r:id="rId3"/>
              </a:ext>
            </a:extLst>
          </a:blip>
          <a:srcRect b="125"/>
          <a:stretch>
            <a:fillRect/>
          </a:stretch>
        </p:blipFill>
        <p:spPr>
          <a:xfrm>
            <a:off x="20" y="10"/>
            <a:ext cx="9143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grpSp>
        <p:nvGrpSpPr>
          <p:cNvPr id="19" name="Group 18">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8" y="3296010"/>
            <a:ext cx="9143592" cy="2849976"/>
            <a:chOff x="476" y="-3923157"/>
            <a:chExt cx="10667524" cy="2493729"/>
          </a:xfrm>
        </p:grpSpPr>
        <p:sp>
          <p:nvSpPr>
            <p:cNvPr id="25" name="Freeform: Shape 24">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TextBox 5">
            <a:extLst>
              <a:ext uri="{FF2B5EF4-FFF2-40B4-BE49-F238E27FC236}">
                <a16:creationId xmlns:a16="http://schemas.microsoft.com/office/drawing/2014/main" id="{50F80BBC-700B-5CD4-1F8C-E7E7444FE0DC}"/>
              </a:ext>
            </a:extLst>
          </p:cNvPr>
          <p:cNvSpPr txBox="1"/>
          <p:nvPr/>
        </p:nvSpPr>
        <p:spPr>
          <a:xfrm>
            <a:off x="6836958" y="6657945"/>
            <a:ext cx="2307042" cy="200055"/>
          </a:xfrm>
          <a:prstGeom prst="rect">
            <a:avLst/>
          </a:prstGeom>
          <a:solidFill>
            <a:srgbClr val="000000"/>
          </a:solidFill>
        </p:spPr>
        <p:txBody>
          <a:bodyPr wrap="none" rtlCol="0">
            <a:spAutoFit/>
          </a:bodyPr>
          <a:lstStyle/>
          <a:p>
            <a:pPr algn="r">
              <a:spcAft>
                <a:spcPts val="600"/>
              </a:spcAft>
            </a:pPr>
            <a:r>
              <a:rPr lang="en-IN" sz="700">
                <a:solidFill>
                  <a:srgbClr val="FFFFFF"/>
                </a:solidFill>
                <a:hlinkClick r:id="rId3" tooltip="https://pix4free.org/photo/2921/thank-you.html">
                  <a:extLst>
                    <a:ext uri="{A12FA001-AC4F-418D-AE19-62706E023703}">
                      <ahyp:hlinkClr xmlns:ahyp="http://schemas.microsoft.com/office/drawing/2018/hyperlinkcolor" val="tx"/>
                    </a:ext>
                  </a:extLst>
                </a:hlinkClick>
              </a:rPr>
              <a:t>This Photo</a:t>
            </a:r>
            <a:r>
              <a:rPr lang="en-IN" sz="700">
                <a:solidFill>
                  <a:srgbClr val="FFFFFF"/>
                </a:solidFill>
              </a:rPr>
              <a:t> by Unknown Author is licensed under </a:t>
            </a:r>
            <a:r>
              <a:rPr lang="en-IN"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N" sz="700">
              <a:solidFill>
                <a:srgbClr val="FFFFFF"/>
              </a:solidFill>
            </a:endParaRPr>
          </a:p>
        </p:txBody>
      </p:sp>
    </p:spTree>
    <p:extLst>
      <p:ext uri="{BB962C8B-B14F-4D97-AF65-F5344CB8AC3E}">
        <p14:creationId xmlns:p14="http://schemas.microsoft.com/office/powerpoint/2010/main" val="3482566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804566E-C934-4BF4-A5BB-42511965DA46}">
  <we:reference id="4567b711-9f2d-454d-b0d0-74708a29b461" version="1.0.0.0" store="EXCatalog" storeType="EXCatalog"/>
  <we:alternateReferences>
    <we:reference id="WA200001313" version="1.0.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1822</TotalTime>
  <Words>2477</Words>
  <Application>Microsoft Office PowerPoint</Application>
  <PresentationFormat>On-screen Show (4:3)</PresentationFormat>
  <Paragraphs>91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Industry Analytics &amp; Forecasting -By Riya Goel</vt:lpstr>
      <vt:lpstr>About The Project</vt:lpstr>
      <vt:lpstr>Executive Summary</vt:lpstr>
      <vt:lpstr>Correlation Insights</vt:lpstr>
      <vt:lpstr>Clustering &amp; Anomaly Detection</vt:lpstr>
      <vt:lpstr>Results Comparison</vt:lpstr>
      <vt:lpstr>Forecasting Summary</vt:lpstr>
      <vt:lpstr>Categorical Insights</vt:lpstr>
      <vt:lpstr>Univariable Insights</vt:lpstr>
      <vt:lpstr>Bivariable Insights</vt:lpstr>
      <vt:lpstr>Multivariable Insights</vt:lpstr>
      <vt:lpstr>Final Insights</vt:lpstr>
      <vt:lpstr>Business Recommendations</vt:lpstr>
      <vt:lpstr>Project 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Riya Goel (MSc Business Analytics FT)</cp:lastModifiedBy>
  <cp:revision>35</cp:revision>
  <dcterms:created xsi:type="dcterms:W3CDTF">2013-01-27T09:14:16Z</dcterms:created>
  <dcterms:modified xsi:type="dcterms:W3CDTF">2026-06-01T07:44:06Z</dcterms:modified>
  <cp:category/>
</cp:coreProperties>
</file>